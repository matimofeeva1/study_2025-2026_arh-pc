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pandoc.org/" TargetMode="External"/><Relationship Id="rId3" Type="http://schemas.openxmlformats.org/officeDocument/2006/relationships/hyperlink" Target="https://github.com/jgm/pandoc/releases" TargetMode="External"/><Relationship Id="rId4" Type="http://schemas.openxmlformats.org/officeDocument/2006/relationships/hyperlink" Target="https://github.com/lierdakil/pandoc-crossref/releases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08710" y="484630"/>
            <a:ext cx="5527040" cy="915035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1600" b="1">
                <a:latin typeface="Times New Roman"/>
                <a:cs typeface="Times New Roman"/>
              </a:rPr>
              <a:t>РОССИЙСКИЙ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УНИВЕРСИТЕТ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ДРУЖБЫ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545465" marR="5080" indent="-6350">
              <a:lnSpc>
                <a:spcPct val="103400"/>
              </a:lnSpc>
              <a:spcBef>
                <a:spcPts val="805"/>
              </a:spcBef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-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физико-</a:t>
            </a:r>
            <a:r>
              <a:rPr dirty="0" sz="1300" spc="-10" b="1">
                <a:latin typeface="Times New Roman"/>
                <a:cs typeface="Times New Roman"/>
              </a:rPr>
              <a:t>математических</a:t>
            </a:r>
            <a:r>
              <a:rPr dirty="0" sz="1300" b="1">
                <a:latin typeface="Times New Roman"/>
                <a:cs typeface="Times New Roman"/>
              </a:rPr>
              <a:t> и естественных наук </a:t>
            </a:r>
            <a:r>
              <a:rPr dirty="0" sz="1300" spc="-10" b="1">
                <a:latin typeface="Times New Roman"/>
                <a:cs typeface="Times New Roman"/>
              </a:rPr>
              <a:t>Кафедра прикладной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теории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21580" y="2812560"/>
            <a:ext cx="3816985" cy="1201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6985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 algn="ctr" marL="57785">
              <a:lnSpc>
                <a:spcPct val="100000"/>
              </a:lnSpc>
              <a:spcBef>
                <a:spcPts val="1155"/>
              </a:spcBef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ЛАБОРАТОРНОЙ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РАБОТЕ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spc="-50" b="1">
                <a:latin typeface="Times New Roman"/>
                <a:cs typeface="Times New Roman"/>
              </a:rPr>
              <a:t>3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1448435" algn="l"/>
              </a:tabLst>
            </a:pP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sz="1600" spc="-45" i="1"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64343" y="6377203"/>
            <a:ext cx="3187700" cy="744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Тимофеева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Милана</a:t>
            </a:r>
            <a:r>
              <a:rPr dirty="0" u="sng" sz="13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Александровна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300">
              <a:latin typeface="Times New Roman"/>
              <a:cs typeface="Times New Roman"/>
            </a:endParaRPr>
          </a:p>
          <a:p>
            <a:pPr marL="1550670">
              <a:lnSpc>
                <a:spcPct val="100000"/>
              </a:lnSpc>
              <a:spcBef>
                <a:spcPts val="5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1300" spc="-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95979" y="8900881"/>
            <a:ext cx="777875" cy="647700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 algn="ctr" marL="7620">
              <a:lnSpc>
                <a:spcPct val="100000"/>
              </a:lnSpc>
              <a:spcBef>
                <a:spcPts val="890"/>
              </a:spcBef>
            </a:pPr>
            <a:r>
              <a:rPr dirty="0" sz="1300">
                <a:latin typeface="Times New Roman"/>
                <a:cs typeface="Times New Roman"/>
              </a:rPr>
              <a:t>2025 </a:t>
            </a:r>
            <a:r>
              <a:rPr dirty="0" sz="1300" spc="-2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115481" y="1951558"/>
            <a:ext cx="66675" cy="146050"/>
          </a:xfrm>
          <a:custGeom>
            <a:avLst/>
            <a:gdLst/>
            <a:ahLst/>
            <a:cxnLst/>
            <a:rect l="l" t="t" r="r" b="b"/>
            <a:pathLst>
              <a:path w="66675" h="146050">
                <a:moveTo>
                  <a:pt x="66662" y="0"/>
                </a:moveTo>
                <a:lnTo>
                  <a:pt x="0" y="0"/>
                </a:lnTo>
                <a:lnTo>
                  <a:pt x="0" y="146037"/>
                </a:lnTo>
                <a:lnTo>
                  <a:pt x="66662" y="146037"/>
                </a:lnTo>
                <a:lnTo>
                  <a:pt x="6666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06754" y="623811"/>
            <a:ext cx="6152515" cy="1484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352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latin typeface="Times New Roman"/>
                <a:cs typeface="Times New Roman"/>
              </a:rPr>
              <a:t>Лабораторная работа № 3. </a:t>
            </a:r>
            <a:r>
              <a:rPr dirty="0" sz="950" spc="-10" b="1">
                <a:latin typeface="Times New Roman"/>
                <a:cs typeface="Times New Roman"/>
              </a:rPr>
              <a:t>Markdown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Times New Roman"/>
              <a:cs typeface="Times New Roman"/>
            </a:endParaRPr>
          </a:p>
          <a:p>
            <a:pPr lvl="1" marL="548640" indent="-311785">
              <a:lnSpc>
                <a:spcPct val="100000"/>
              </a:lnSpc>
              <a:buAutoNum type="arabicPeriod"/>
              <a:tabLst>
                <a:tab pos="548640" algn="l"/>
              </a:tabLst>
            </a:pPr>
            <a:r>
              <a:rPr dirty="0" sz="850" b="1">
                <a:latin typeface="Times New Roman"/>
                <a:cs typeface="Times New Roman"/>
              </a:rPr>
              <a:t>Цель</a:t>
            </a:r>
            <a:r>
              <a:rPr dirty="0" sz="850" spc="-15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работы</a:t>
            </a: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000" spc="-10">
                <a:latin typeface="Times New Roman"/>
                <a:cs typeface="Times New Roman"/>
              </a:rPr>
              <a:t>Научиться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оформлять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отчёты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помощью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легковесного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языка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разметки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Markdown.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000">
              <a:latin typeface="Times New Roman"/>
              <a:cs typeface="Times New Roman"/>
            </a:endParaRPr>
          </a:p>
          <a:p>
            <a:pPr lvl="1" marL="615315" indent="-381635">
              <a:lnSpc>
                <a:spcPct val="100000"/>
              </a:lnSpc>
              <a:buAutoNum type="arabicPeriod" startAt="2"/>
              <a:tabLst>
                <a:tab pos="615315" algn="l"/>
              </a:tabLst>
            </a:pPr>
            <a:r>
              <a:rPr dirty="0" sz="850" spc="-10" b="1">
                <a:latin typeface="Calibri"/>
                <a:cs typeface="Calibri"/>
              </a:rPr>
              <a:t>Предварительные</a:t>
            </a:r>
            <a:r>
              <a:rPr dirty="0" sz="850" spc="80" b="1">
                <a:latin typeface="Calibri"/>
                <a:cs typeface="Calibri"/>
              </a:rPr>
              <a:t> </a:t>
            </a:r>
            <a:r>
              <a:rPr dirty="0" sz="850" spc="-10" b="1">
                <a:latin typeface="Calibri"/>
                <a:cs typeface="Calibri"/>
              </a:rPr>
              <a:t>сведения</a:t>
            </a:r>
            <a:endParaRPr sz="850">
              <a:latin typeface="Calibri"/>
              <a:cs typeface="Calibri"/>
            </a:endParaRPr>
          </a:p>
          <a:p>
            <a:pPr lvl="2" marL="715010" indent="-47625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715010" algn="l"/>
              </a:tabLst>
            </a:pPr>
            <a:r>
              <a:rPr dirty="0" sz="850" spc="-10" b="1">
                <a:latin typeface="Calibri"/>
                <a:cs typeface="Calibri"/>
              </a:rPr>
              <a:t>Базовые</a:t>
            </a:r>
            <a:r>
              <a:rPr dirty="0" sz="850" spc="-15" b="1">
                <a:latin typeface="Calibri"/>
                <a:cs typeface="Calibri"/>
              </a:rPr>
              <a:t> </a:t>
            </a:r>
            <a:r>
              <a:rPr dirty="0" sz="850" b="1">
                <a:latin typeface="Calibri"/>
                <a:cs typeface="Calibri"/>
              </a:rPr>
              <a:t>сведения</a:t>
            </a:r>
            <a:r>
              <a:rPr dirty="0" sz="850" spc="-10" b="1">
                <a:latin typeface="Calibri"/>
                <a:cs typeface="Calibri"/>
              </a:rPr>
              <a:t> </a:t>
            </a:r>
            <a:r>
              <a:rPr dirty="0" sz="850" b="1">
                <a:latin typeface="Calibri"/>
                <a:cs typeface="Calibri"/>
              </a:rPr>
              <a:t>о</a:t>
            </a:r>
            <a:r>
              <a:rPr dirty="0" sz="850" spc="-15" b="1">
                <a:latin typeface="Calibri"/>
                <a:cs typeface="Calibri"/>
              </a:rPr>
              <a:t> </a:t>
            </a:r>
            <a:r>
              <a:rPr dirty="0" sz="850" spc="-10" b="1">
                <a:latin typeface="Calibri"/>
                <a:cs typeface="Calibri"/>
              </a:rPr>
              <a:t>Markdown</a:t>
            </a:r>
            <a:endParaRPr sz="850">
              <a:latin typeface="Calibri"/>
              <a:cs typeface="Calibri"/>
            </a:endParaRPr>
          </a:p>
          <a:p>
            <a:pPr marL="2628265">
              <a:lnSpc>
                <a:spcPct val="100000"/>
              </a:lnSpc>
              <a:spcBef>
                <a:spcPts val="705"/>
              </a:spcBef>
              <a:tabLst>
                <a:tab pos="3316604" algn="l"/>
              </a:tabLst>
            </a:pPr>
            <a:r>
              <a:rPr dirty="0" sz="1000" spc="-10">
                <a:latin typeface="Times New Roman"/>
                <a:cs typeface="Times New Roman"/>
              </a:rPr>
              <a:t>Чтобы</a:t>
            </a:r>
            <a:r>
              <a:rPr dirty="0" sz="1000">
                <a:latin typeface="Times New Roman"/>
                <a:cs typeface="Times New Roman"/>
              </a:rPr>
              <a:t>	создать</a:t>
            </a:r>
            <a:r>
              <a:rPr dirty="0" sz="1000" spc="7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заголовок,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используйте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знак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#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),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например: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9857" y="2695456"/>
            <a:ext cx="53975" cy="36195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50" spc="-50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27608" y="3214917"/>
            <a:ext cx="3765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Чтобы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361948" y="3202416"/>
            <a:ext cx="127063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9560">
              <a:lnSpc>
                <a:spcPct val="1082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задать</a:t>
            </a:r>
            <a:r>
              <a:rPr dirty="0" sz="1000" spc="150">
                <a:latin typeface="Times New Roman"/>
                <a:cs typeface="Times New Roman"/>
              </a:rPr>
              <a:t>  </a:t>
            </a:r>
            <a:r>
              <a:rPr dirty="0" sz="1000" spc="-25">
                <a:latin typeface="Times New Roman"/>
                <a:cs typeface="Times New Roman"/>
              </a:rPr>
              <a:t>для </a:t>
            </a:r>
            <a:r>
              <a:rPr dirty="0" sz="1000">
                <a:latin typeface="Times New Roman"/>
                <a:cs typeface="Times New Roman"/>
              </a:rPr>
              <a:t>текста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полужирное </a:t>
            </a:r>
            <a:r>
              <a:rPr dirty="0" sz="1000">
                <a:latin typeface="Times New Roman"/>
                <a:cs typeface="Times New Roman"/>
              </a:rPr>
              <a:t>начертание,</a:t>
            </a:r>
            <a:r>
              <a:rPr dirty="0" sz="1000" spc="-5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заключите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56343" y="3709619"/>
            <a:ext cx="19945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1645" algn="l"/>
                <a:tab pos="911225" algn="l"/>
              </a:tabLst>
            </a:pPr>
            <a:r>
              <a:rPr dirty="0" sz="1000" spc="-25">
                <a:latin typeface="Times New Roman"/>
                <a:cs typeface="Times New Roman"/>
              </a:rPr>
              <a:t>его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50">
                <a:latin typeface="Times New Roman"/>
                <a:cs typeface="Times New Roman"/>
              </a:rPr>
              <a:t>в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двойные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звездочки: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23273" y="3910909"/>
            <a:ext cx="53975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08924" y="4195367"/>
            <a:ext cx="53467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0405" algn="l"/>
                <a:tab pos="1598930" algn="l"/>
              </a:tabLst>
            </a:pPr>
            <a:r>
              <a:rPr dirty="0" sz="1000" spc="-10">
                <a:latin typeface="Times New Roman"/>
                <a:cs typeface="Times New Roman"/>
              </a:rPr>
              <a:t>Чтобы</a:t>
            </a:r>
            <a:r>
              <a:rPr dirty="0" sz="1000">
                <a:latin typeface="Times New Roman"/>
                <a:cs typeface="Times New Roman"/>
              </a:rPr>
              <a:t>	задать</a:t>
            </a:r>
            <a:r>
              <a:rPr dirty="0" sz="1000" spc="150">
                <a:latin typeface="Times New Roman"/>
                <a:cs typeface="Times New Roman"/>
              </a:rPr>
              <a:t>  </a:t>
            </a:r>
            <a:r>
              <a:rPr dirty="0" sz="1000" spc="-25">
                <a:latin typeface="Times New Roman"/>
                <a:cs typeface="Times New Roman"/>
              </a:rPr>
              <a:t>для</a:t>
            </a:r>
            <a:r>
              <a:rPr dirty="0" sz="1000">
                <a:latin typeface="Times New Roman"/>
                <a:cs typeface="Times New Roman"/>
              </a:rPr>
              <a:t>	текста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курсивное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начертание,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заключите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его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одинарные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звездочки: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912371" y="4397398"/>
            <a:ext cx="53975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912371" y="4669355"/>
            <a:ext cx="1834514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4775">
              <a:lnSpc>
                <a:spcPct val="108200"/>
              </a:lnSpc>
              <a:spcBef>
                <a:spcPts val="100"/>
              </a:spcBef>
              <a:tabLst>
                <a:tab pos="751840" algn="l"/>
                <a:tab pos="1200785" algn="l"/>
                <a:tab pos="1649095" algn="l"/>
              </a:tabLst>
            </a:pPr>
            <a:r>
              <a:rPr dirty="0" sz="1000" spc="-10">
                <a:latin typeface="Times New Roman"/>
                <a:cs typeface="Times New Roman"/>
              </a:rPr>
              <a:t>Чтобы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задатьдлятекста </a:t>
            </a:r>
            <a:r>
              <a:rPr dirty="0" sz="1000">
                <a:latin typeface="Times New Roman"/>
                <a:cs typeface="Times New Roman"/>
              </a:rPr>
              <a:t>полужирное</a:t>
            </a:r>
            <a:r>
              <a:rPr dirty="0" sz="1000" spc="23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и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курсивное начертание,заключите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5">
                <a:latin typeface="Times New Roman"/>
                <a:cs typeface="Times New Roman"/>
              </a:rPr>
              <a:t>его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12506" y="5176558"/>
            <a:ext cx="11493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втройные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звездочки: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23276" y="5379117"/>
            <a:ext cx="53975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912371" y="5637739"/>
            <a:ext cx="1757680" cy="35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Блоки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цитирования создаются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с</a:t>
            </a:r>
            <a:r>
              <a:rPr dirty="0" sz="1000" spc="-10">
                <a:latin typeface="Times New Roman"/>
                <a:cs typeface="Times New Roman"/>
              </a:rPr>
              <a:t> помощью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символа</a:t>
            </a:r>
            <a:r>
              <a:rPr dirty="0" sz="100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&gt;: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3859859" y="6769783"/>
            <a:ext cx="53975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019194" y="7710289"/>
            <a:ext cx="1840864" cy="675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010" marR="5080" indent="-67945">
              <a:lnSpc>
                <a:spcPct val="1066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Неупорядоченный (маркированный)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список</a:t>
            </a:r>
            <a:r>
              <a:rPr dirty="0" sz="1000" spc="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можно</a:t>
            </a:r>
            <a:endParaRPr sz="1000">
              <a:latin typeface="Times New Roman"/>
              <a:cs typeface="Times New Roman"/>
            </a:endParaRPr>
          </a:p>
          <a:p>
            <a:pPr marL="201930" marR="5080" indent="379730">
              <a:lnSpc>
                <a:spcPct val="106600"/>
              </a:lnSpc>
              <a:tabLst>
                <a:tab pos="1771014" algn="l"/>
              </a:tabLst>
            </a:pPr>
            <a:r>
              <a:rPr dirty="0" sz="1000" spc="-10">
                <a:latin typeface="Times New Roman"/>
                <a:cs typeface="Times New Roman"/>
              </a:rPr>
              <a:t>отформатировать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50">
                <a:latin typeface="Times New Roman"/>
                <a:cs typeface="Times New Roman"/>
              </a:rPr>
              <a:t>с</a:t>
            </a:r>
            <a:r>
              <a:rPr dirty="0" sz="1000" spc="-10">
                <a:latin typeface="Times New Roman"/>
                <a:cs typeface="Times New Roman"/>
              </a:rPr>
              <a:t> помощью звездочек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или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тире: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912371" y="8409787"/>
            <a:ext cx="53975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23276" y="8501228"/>
            <a:ext cx="53975" cy="1708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06766" y="8807623"/>
            <a:ext cx="4791075" cy="32004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000">
                <a:latin typeface="Times New Roman"/>
                <a:cs typeface="Times New Roman"/>
              </a:rPr>
              <a:t>Чтобы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вложить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один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список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другой,добавьте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отступ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для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элементов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дочернего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списка:</a:t>
            </a:r>
            <a:endParaRPr sz="1000">
              <a:latin typeface="Times New Roman"/>
              <a:cs typeface="Times New Roman"/>
            </a:endParaRPr>
          </a:p>
          <a:p>
            <a:pPr algn="r" marR="259715">
              <a:lnSpc>
                <a:spcPct val="100000"/>
              </a:lnSpc>
              <a:spcBef>
                <a:spcPts val="150"/>
              </a:spcBef>
            </a:pPr>
            <a:r>
              <a:rPr dirty="0" sz="600" spc="-25">
                <a:latin typeface="Times New Roman"/>
                <a:cs typeface="Times New Roman"/>
              </a:rPr>
              <a:t>34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92175" y="2107806"/>
            <a:ext cx="4032885" cy="62865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49530" rIns="0" bIns="0" rtlCol="0" vert="horz">
            <a:spAutoFit/>
          </a:bodyPr>
          <a:lstStyle/>
          <a:p>
            <a:pPr marL="38100" marR="3191510">
              <a:lnSpc>
                <a:spcPts val="830"/>
              </a:lnSpc>
              <a:spcBef>
                <a:spcPts val="390"/>
              </a:spcBef>
            </a:pPr>
            <a:r>
              <a:rPr dirty="0" sz="700" b="1">
                <a:solidFill>
                  <a:srgbClr val="00007F"/>
                </a:solidFill>
                <a:latin typeface="Times New Roman"/>
                <a:cs typeface="Times New Roman"/>
              </a:rPr>
              <a:t>#</a:t>
            </a:r>
            <a:r>
              <a:rPr dirty="0" sz="700" spc="-20" b="1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00007F"/>
                </a:solidFill>
                <a:latin typeface="Times New Roman"/>
                <a:cs typeface="Times New Roman"/>
              </a:rPr>
              <a:t>This</a:t>
            </a:r>
            <a:r>
              <a:rPr dirty="0" sz="700" spc="-15" b="1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00007F"/>
                </a:solidFill>
                <a:latin typeface="Times New Roman"/>
                <a:cs typeface="Times New Roman"/>
              </a:rPr>
              <a:t>is</a:t>
            </a:r>
            <a:r>
              <a:rPr dirty="0" sz="700" spc="-15" b="1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00007F"/>
                </a:solidFill>
                <a:latin typeface="Times New Roman"/>
                <a:cs typeface="Times New Roman"/>
              </a:rPr>
              <a:t>heading</a:t>
            </a:r>
            <a:r>
              <a:rPr dirty="0" sz="700" spc="-20" b="1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dirty="0" sz="700" spc="-50" b="1">
                <a:solidFill>
                  <a:srgbClr val="00007F"/>
                </a:solidFill>
                <a:latin typeface="Times New Roman"/>
                <a:cs typeface="Times New Roman"/>
              </a:rPr>
              <a:t>1</a:t>
            </a:r>
            <a:r>
              <a:rPr dirty="0" sz="700" spc="500" b="1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F007F"/>
                </a:solidFill>
                <a:latin typeface="Times New Roman"/>
                <a:cs typeface="Times New Roman"/>
              </a:rPr>
              <a:t>##</a:t>
            </a:r>
            <a:r>
              <a:rPr dirty="0" sz="700" spc="-20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F007F"/>
                </a:solidFill>
                <a:latin typeface="Times New Roman"/>
                <a:cs typeface="Times New Roman"/>
              </a:rPr>
              <a:t>This</a:t>
            </a:r>
            <a:r>
              <a:rPr dirty="0" sz="700" spc="-15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F007F"/>
                </a:solidFill>
                <a:latin typeface="Times New Roman"/>
                <a:cs typeface="Times New Roman"/>
              </a:rPr>
              <a:t>is</a:t>
            </a:r>
            <a:r>
              <a:rPr dirty="0" sz="700" spc="-15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F007F"/>
                </a:solidFill>
                <a:latin typeface="Times New Roman"/>
                <a:cs typeface="Times New Roman"/>
              </a:rPr>
              <a:t>heading</a:t>
            </a:r>
            <a:r>
              <a:rPr dirty="0" sz="700" spc="-20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spc="-50" b="1">
                <a:solidFill>
                  <a:srgbClr val="7F007F"/>
                </a:solidFill>
                <a:latin typeface="Times New Roman"/>
                <a:cs typeface="Times New Roman"/>
              </a:rPr>
              <a:t>2</a:t>
            </a:r>
            <a:r>
              <a:rPr dirty="0" sz="700" spc="500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F007F"/>
                </a:solidFill>
                <a:latin typeface="Times New Roman"/>
                <a:cs typeface="Times New Roman"/>
              </a:rPr>
              <a:t>###</a:t>
            </a:r>
            <a:r>
              <a:rPr dirty="0" sz="700" spc="-20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F007F"/>
                </a:solidFill>
                <a:latin typeface="Times New Roman"/>
                <a:cs typeface="Times New Roman"/>
              </a:rPr>
              <a:t>This</a:t>
            </a:r>
            <a:r>
              <a:rPr dirty="0" sz="700" spc="-15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F007F"/>
                </a:solidFill>
                <a:latin typeface="Times New Roman"/>
                <a:cs typeface="Times New Roman"/>
              </a:rPr>
              <a:t>is</a:t>
            </a:r>
            <a:r>
              <a:rPr dirty="0" sz="700" spc="-15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F007F"/>
                </a:solidFill>
                <a:latin typeface="Times New Roman"/>
                <a:cs typeface="Times New Roman"/>
              </a:rPr>
              <a:t>heading</a:t>
            </a:r>
            <a:r>
              <a:rPr dirty="0" sz="700" spc="-20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spc="-50" b="1">
                <a:solidFill>
                  <a:srgbClr val="7F007F"/>
                </a:solidFill>
                <a:latin typeface="Times New Roman"/>
                <a:cs typeface="Times New Roman"/>
              </a:rPr>
              <a:t>3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70"/>
              </a:lnSpc>
            </a:pPr>
            <a:r>
              <a:rPr dirty="0" sz="700" b="1">
                <a:solidFill>
                  <a:srgbClr val="7F007F"/>
                </a:solidFill>
                <a:latin typeface="Times New Roman"/>
                <a:cs typeface="Times New Roman"/>
              </a:rPr>
              <a:t>####</a:t>
            </a:r>
            <a:r>
              <a:rPr dirty="0" sz="700" spc="-20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F007F"/>
                </a:solidFill>
                <a:latin typeface="Times New Roman"/>
                <a:cs typeface="Times New Roman"/>
              </a:rPr>
              <a:t>This</a:t>
            </a:r>
            <a:r>
              <a:rPr dirty="0" sz="700" spc="-15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F007F"/>
                </a:solidFill>
                <a:latin typeface="Times New Roman"/>
                <a:cs typeface="Times New Roman"/>
              </a:rPr>
              <a:t>is</a:t>
            </a:r>
            <a:r>
              <a:rPr dirty="0" sz="700" spc="-15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7F007F"/>
                </a:solidFill>
                <a:latin typeface="Times New Roman"/>
                <a:cs typeface="Times New Roman"/>
              </a:rPr>
              <a:t>heading</a:t>
            </a:r>
            <a:r>
              <a:rPr dirty="0" sz="700" spc="-20" b="1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dirty="0" sz="700" spc="-50" b="1">
                <a:solidFill>
                  <a:srgbClr val="7F007F"/>
                </a:solidFill>
                <a:latin typeface="Times New Roman"/>
                <a:cs typeface="Times New Roman"/>
              </a:rPr>
              <a:t>4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892175" y="3380232"/>
            <a:ext cx="4032885" cy="28702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444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0"/>
              </a:spcBef>
            </a:pPr>
            <a:r>
              <a:rPr dirty="0" sz="700">
                <a:latin typeface="Times New Roman"/>
                <a:cs typeface="Times New Roman"/>
              </a:rPr>
              <a:t>This</a:t>
            </a:r>
            <a:r>
              <a:rPr dirty="0" sz="700" spc="-3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text</a:t>
            </a:r>
            <a:r>
              <a:rPr dirty="0" sz="700" spc="-2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is</a:t>
            </a:r>
            <a:r>
              <a:rPr dirty="0" sz="700" spc="-25">
                <a:latin typeface="Times New Roman"/>
                <a:cs typeface="Times New Roman"/>
              </a:rPr>
              <a:t> </a:t>
            </a:r>
            <a:r>
              <a:rPr dirty="0" sz="700" spc="-10" b="1">
                <a:latin typeface="Times New Roman"/>
                <a:cs typeface="Times New Roman"/>
              </a:rPr>
              <a:t>**bold**</a:t>
            </a:r>
            <a:r>
              <a:rPr dirty="0" sz="700" spc="-10">
                <a:latin typeface="Times New Roman"/>
                <a:cs typeface="Times New Roman"/>
              </a:rPr>
              <a:t>.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92175" y="4354017"/>
            <a:ext cx="4032885" cy="32448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9906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80"/>
              </a:spcBef>
            </a:pPr>
            <a:r>
              <a:rPr dirty="0" sz="700">
                <a:latin typeface="Times New Roman"/>
                <a:cs typeface="Times New Roman"/>
              </a:rPr>
              <a:t>This</a:t>
            </a:r>
            <a:r>
              <a:rPr dirty="0" sz="700" spc="-3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text</a:t>
            </a:r>
            <a:r>
              <a:rPr dirty="0" sz="700" spc="-2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is</a:t>
            </a:r>
            <a:r>
              <a:rPr dirty="0" sz="700" spc="-2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*italic*.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92175" y="4843043"/>
            <a:ext cx="4032885" cy="32575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1003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90"/>
              </a:spcBef>
            </a:pPr>
            <a:r>
              <a:rPr dirty="0" sz="700">
                <a:latin typeface="Times New Roman"/>
                <a:cs typeface="Times New Roman"/>
              </a:rPr>
              <a:t>This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is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text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is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both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***bold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and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italic***.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92175" y="5814288"/>
            <a:ext cx="4032885" cy="97091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57785" rIns="0" bIns="0" rtlCol="0" vert="horz">
            <a:spAutoFit/>
          </a:bodyPr>
          <a:lstStyle/>
          <a:p>
            <a:pPr algn="r" marL="152400" marR="1571625" indent="-114935">
              <a:lnSpc>
                <a:spcPts val="760"/>
              </a:lnSpc>
              <a:spcBef>
                <a:spcPts val="455"/>
              </a:spcBef>
            </a:pP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&gt;</a:t>
            </a:r>
            <a:r>
              <a:rPr dirty="0" sz="700" spc="-15" b="1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drought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had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lasted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now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for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ten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million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years,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and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reign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 spc="-25">
                <a:latin typeface="Times New Roman"/>
                <a:cs typeface="Times New Roman"/>
              </a:rPr>
              <a:t>of</a:t>
            </a:r>
            <a:r>
              <a:rPr dirty="0" sz="700" spc="50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terrible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lizards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had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long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since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ended.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Here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on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Equator,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 spc="-25">
                <a:latin typeface="Times New Roman"/>
                <a:cs typeface="Times New Roman"/>
              </a:rPr>
              <a:t>in</a:t>
            </a:r>
            <a:endParaRPr sz="700">
              <a:latin typeface="Times New Roman"/>
              <a:cs typeface="Times New Roman"/>
            </a:endParaRPr>
          </a:p>
          <a:p>
            <a:pPr marL="83185">
              <a:lnSpc>
                <a:spcPts val="320"/>
              </a:lnSpc>
            </a:pPr>
            <a:r>
              <a:rPr dirty="0" sz="500" spc="130">
                <a:latin typeface="Lucida Sans Unicode"/>
                <a:cs typeface="Lucida Sans Unicode"/>
              </a:rPr>
              <a:t>*</a:t>
            </a:r>
            <a:endParaRPr sz="500">
              <a:latin typeface="Lucida Sans Unicode"/>
              <a:cs typeface="Lucida Sans Unicode"/>
            </a:endParaRPr>
          </a:p>
          <a:p>
            <a:pPr algn="r" marR="1537970">
              <a:lnSpc>
                <a:spcPts val="705"/>
              </a:lnSpc>
              <a:spcBef>
                <a:spcPts val="40"/>
              </a:spcBef>
            </a:pP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-10">
                <a:latin typeface="Times New Roman"/>
                <a:cs typeface="Times New Roman"/>
              </a:rPr>
              <a:t> continent </a:t>
            </a:r>
            <a:r>
              <a:rPr dirty="0" sz="700">
                <a:latin typeface="Times New Roman"/>
                <a:cs typeface="Times New Roman"/>
              </a:rPr>
              <a:t>which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would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one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day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be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known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as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Africa,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-10">
                <a:latin typeface="Times New Roman"/>
                <a:cs typeface="Times New Roman"/>
              </a:rPr>
              <a:t> battle</a:t>
            </a:r>
            <a:endParaRPr sz="700">
              <a:latin typeface="Times New Roman"/>
              <a:cs typeface="Times New Roman"/>
            </a:endParaRPr>
          </a:p>
          <a:p>
            <a:pPr marL="83185">
              <a:lnSpc>
                <a:spcPts val="465"/>
              </a:lnSpc>
            </a:pPr>
            <a:r>
              <a:rPr dirty="0" sz="500" spc="130">
                <a:latin typeface="Lucida Sans Unicode"/>
                <a:cs typeface="Lucida Sans Unicode"/>
              </a:rPr>
              <a:t>*</a:t>
            </a:r>
            <a:endParaRPr sz="500">
              <a:latin typeface="Lucida Sans Unicode"/>
              <a:cs typeface="Lucida Sans Unicode"/>
            </a:endParaRPr>
          </a:p>
          <a:p>
            <a:pPr algn="r" marR="1543050">
              <a:lnSpc>
                <a:spcPts val="705"/>
              </a:lnSpc>
              <a:spcBef>
                <a:spcPts val="40"/>
              </a:spcBef>
            </a:pPr>
            <a:r>
              <a:rPr dirty="0" sz="700">
                <a:latin typeface="Times New Roman"/>
                <a:cs typeface="Times New Roman"/>
              </a:rPr>
              <a:t>for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existence </a:t>
            </a:r>
            <a:r>
              <a:rPr dirty="0" sz="700">
                <a:latin typeface="Times New Roman"/>
                <a:cs typeface="Times New Roman"/>
              </a:rPr>
              <a:t>had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reached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new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climax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of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ferocity,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and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the</a:t>
            </a:r>
            <a:r>
              <a:rPr dirty="0" sz="700" spc="-10">
                <a:latin typeface="Times New Roman"/>
                <a:cs typeface="Times New Roman"/>
              </a:rPr>
              <a:t> victor</a:t>
            </a:r>
            <a:endParaRPr sz="700">
              <a:latin typeface="Times New Roman"/>
              <a:cs typeface="Times New Roman"/>
            </a:endParaRPr>
          </a:p>
          <a:p>
            <a:pPr marL="83185">
              <a:lnSpc>
                <a:spcPts val="465"/>
              </a:lnSpc>
            </a:pPr>
            <a:r>
              <a:rPr dirty="0" sz="500" spc="130">
                <a:latin typeface="Lucida Sans Unicode"/>
                <a:cs typeface="Lucida Sans Unicode"/>
              </a:rPr>
              <a:t>*</a:t>
            </a:r>
            <a:endParaRPr sz="500">
              <a:latin typeface="Lucida Sans Unicode"/>
              <a:cs typeface="Lucida Sans Unicode"/>
            </a:endParaRPr>
          </a:p>
          <a:p>
            <a:pPr marL="83820" marR="139700">
              <a:lnSpc>
                <a:spcPts val="819"/>
              </a:lnSpc>
              <a:spcBef>
                <a:spcPts val="220"/>
              </a:spcBef>
            </a:pPr>
            <a:r>
              <a:rPr dirty="0" baseline="11111" sz="750" spc="270">
                <a:latin typeface="Lucida Sans Unicode"/>
                <a:cs typeface="Lucida Sans Unicode"/>
              </a:rPr>
              <a:t>*</a:t>
            </a:r>
            <a:r>
              <a:rPr dirty="0" baseline="11111" sz="750" spc="-44">
                <a:latin typeface="Lucida Sans Unicode"/>
                <a:cs typeface="Lucida Sans Unicode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was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not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yet</a:t>
            </a:r>
            <a:r>
              <a:rPr dirty="0" baseline="7936" sz="1050" spc="22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in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sight.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In</a:t>
            </a:r>
            <a:r>
              <a:rPr dirty="0" baseline="7936" sz="1050" spc="22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this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barren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and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desiccated</a:t>
            </a:r>
            <a:r>
              <a:rPr dirty="0" baseline="7936" sz="1050" spc="22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land,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only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the</a:t>
            </a:r>
            <a:r>
              <a:rPr dirty="0" baseline="7936" sz="1050" spc="30">
                <a:latin typeface="Times New Roman"/>
                <a:cs typeface="Times New Roman"/>
              </a:rPr>
              <a:t> </a:t>
            </a:r>
            <a:r>
              <a:rPr dirty="0" sz="450" spc="-60">
                <a:latin typeface="Lucida Sans Unicode"/>
                <a:cs typeface="Lucida Sans Unicode"/>
              </a:rPr>
              <a:t>↪</a:t>
            </a:r>
            <a:r>
              <a:rPr dirty="0" sz="450" spc="15">
                <a:latin typeface="Lucida Sans Unicode"/>
                <a:cs typeface="Lucida Sans Unicode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small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or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the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swift</a:t>
            </a:r>
            <a:r>
              <a:rPr dirty="0" baseline="7936" sz="1050" spc="22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or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the</a:t>
            </a:r>
            <a:r>
              <a:rPr dirty="0" baseline="7936" sz="1050" spc="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fierce</a:t>
            </a:r>
            <a:r>
              <a:rPr dirty="0" baseline="7936" sz="1050" spc="22">
                <a:latin typeface="Times New Roman"/>
                <a:cs typeface="Times New Roman"/>
              </a:rPr>
              <a:t> </a:t>
            </a:r>
            <a:r>
              <a:rPr dirty="0" baseline="7936" sz="1050" spc="-15">
                <a:latin typeface="Times New Roman"/>
                <a:cs typeface="Times New Roman"/>
              </a:rPr>
              <a:t>could</a:t>
            </a:r>
            <a:r>
              <a:rPr dirty="0" baseline="7936" sz="1050" spc="750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flourish,</a:t>
            </a:r>
            <a:r>
              <a:rPr dirty="0" baseline="7936" sz="1050" spc="-37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or</a:t>
            </a:r>
            <a:r>
              <a:rPr dirty="0" baseline="7936" sz="1050" spc="-15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even</a:t>
            </a:r>
            <a:r>
              <a:rPr dirty="0" baseline="7936" sz="1050" spc="-22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hope</a:t>
            </a:r>
            <a:r>
              <a:rPr dirty="0" baseline="7936" sz="1050" spc="-22">
                <a:latin typeface="Times New Roman"/>
                <a:cs typeface="Times New Roman"/>
              </a:rPr>
              <a:t> </a:t>
            </a:r>
            <a:r>
              <a:rPr dirty="0" baseline="7936" sz="1050">
                <a:latin typeface="Times New Roman"/>
                <a:cs typeface="Times New Roman"/>
              </a:rPr>
              <a:t>to</a:t>
            </a:r>
            <a:r>
              <a:rPr dirty="0" baseline="7936" sz="1050" spc="-15">
                <a:latin typeface="Times New Roman"/>
                <a:cs typeface="Times New Roman"/>
              </a:rPr>
              <a:t> </a:t>
            </a:r>
            <a:r>
              <a:rPr dirty="0" sz="450" spc="-60">
                <a:latin typeface="Lucida Sans Unicode"/>
                <a:cs typeface="Lucida Sans Unicode"/>
              </a:rPr>
              <a:t>↪</a:t>
            </a:r>
            <a:r>
              <a:rPr dirty="0" sz="450" spc="-20">
                <a:latin typeface="Lucida Sans Unicode"/>
                <a:cs typeface="Lucida Sans Unicode"/>
              </a:rPr>
              <a:t> </a:t>
            </a:r>
            <a:r>
              <a:rPr dirty="0" baseline="7936" sz="1050" spc="-15">
                <a:latin typeface="Times New Roman"/>
                <a:cs typeface="Times New Roman"/>
              </a:rPr>
              <a:t>survive.</a:t>
            </a:r>
            <a:endParaRPr baseline="7936" sz="1050">
              <a:latin typeface="Times New Roman"/>
              <a:cs typeface="Times New Roman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892175" y="7921777"/>
            <a:ext cx="4032885" cy="528955"/>
            <a:chOff x="892175" y="7921777"/>
            <a:chExt cx="4032885" cy="528955"/>
          </a:xfrm>
        </p:grpSpPr>
        <p:sp>
          <p:nvSpPr>
            <p:cNvPr id="26" name="object 26" descr=""/>
            <p:cNvSpPr/>
            <p:nvPr/>
          </p:nvSpPr>
          <p:spPr>
            <a:xfrm>
              <a:off x="892175" y="7921777"/>
              <a:ext cx="4032885" cy="528955"/>
            </a:xfrm>
            <a:custGeom>
              <a:avLst/>
              <a:gdLst/>
              <a:ahLst/>
              <a:cxnLst/>
              <a:rect l="l" t="t" r="r" b="b"/>
              <a:pathLst>
                <a:path w="4032885" h="528954">
                  <a:moveTo>
                    <a:pt x="4032885" y="0"/>
                  </a:moveTo>
                  <a:lnTo>
                    <a:pt x="0" y="0"/>
                  </a:lnTo>
                  <a:lnTo>
                    <a:pt x="0" y="528955"/>
                  </a:lnTo>
                  <a:lnTo>
                    <a:pt x="4032885" y="528955"/>
                  </a:lnTo>
                  <a:lnTo>
                    <a:pt x="4032885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30275" y="8004327"/>
              <a:ext cx="109855" cy="311785"/>
            </a:xfrm>
            <a:custGeom>
              <a:avLst/>
              <a:gdLst/>
              <a:ahLst/>
              <a:cxnLst/>
              <a:rect l="l" t="t" r="r" b="b"/>
              <a:pathLst>
                <a:path w="109855" h="311784">
                  <a:moveTo>
                    <a:pt x="109855" y="0"/>
                  </a:moveTo>
                  <a:lnTo>
                    <a:pt x="0" y="0"/>
                  </a:lnTo>
                  <a:lnTo>
                    <a:pt x="0" y="103873"/>
                  </a:lnTo>
                  <a:lnTo>
                    <a:pt x="0" y="207746"/>
                  </a:lnTo>
                  <a:lnTo>
                    <a:pt x="0" y="311632"/>
                  </a:lnTo>
                  <a:lnTo>
                    <a:pt x="109855" y="311632"/>
                  </a:lnTo>
                  <a:lnTo>
                    <a:pt x="109855" y="207746"/>
                  </a:lnTo>
                  <a:lnTo>
                    <a:pt x="109855" y="103873"/>
                  </a:lnTo>
                  <a:lnTo>
                    <a:pt x="109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92175" y="7897965"/>
            <a:ext cx="4032885" cy="55308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49225" indent="-111125">
              <a:lnSpc>
                <a:spcPts val="830"/>
              </a:lnSpc>
              <a:spcBef>
                <a:spcPts val="800"/>
              </a:spcBef>
              <a:buClr>
                <a:srgbClr val="007F00"/>
              </a:buClr>
              <a:buFont typeface="Calibri"/>
              <a:buChar char="-"/>
              <a:tabLst>
                <a:tab pos="149225" algn="l"/>
              </a:tabLst>
            </a:pP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 spc="-60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  <a:p>
            <a:pPr marL="149225" indent="-111125">
              <a:lnSpc>
                <a:spcPts val="819"/>
              </a:lnSpc>
              <a:buClr>
                <a:srgbClr val="007F00"/>
              </a:buClr>
              <a:buFont typeface="Calibri"/>
              <a:buChar char="-"/>
              <a:tabLst>
                <a:tab pos="149225" algn="l"/>
              </a:tabLst>
            </a:pP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 spc="-60"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  <a:p>
            <a:pPr marL="149225" indent="-111125">
              <a:lnSpc>
                <a:spcPts val="830"/>
              </a:lnSpc>
              <a:buClr>
                <a:srgbClr val="007F00"/>
              </a:buClr>
              <a:buFont typeface="Calibri"/>
              <a:buChar char="-"/>
              <a:tabLst>
                <a:tab pos="149225" algn="l"/>
              </a:tabLst>
            </a:pP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 spc="-60">
                <a:latin typeface="Times New Roman"/>
                <a:cs typeface="Times New Roman"/>
              </a:rPr>
              <a:t>3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892175" y="7897965"/>
            <a:ext cx="4032885" cy="47625"/>
          </a:xfrm>
          <a:custGeom>
            <a:avLst/>
            <a:gdLst/>
            <a:ahLst/>
            <a:cxnLst/>
            <a:rect l="l" t="t" r="r" b="b"/>
            <a:pathLst>
              <a:path w="4032885" h="47625">
                <a:moveTo>
                  <a:pt x="0" y="47624"/>
                </a:moveTo>
                <a:lnTo>
                  <a:pt x="4032885" y="47624"/>
                </a:lnTo>
                <a:lnTo>
                  <a:pt x="4032885" y="0"/>
                </a:lnTo>
                <a:lnTo>
                  <a:pt x="0" y="0"/>
                </a:lnTo>
                <a:lnTo>
                  <a:pt x="0" y="4762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859847" y="1194947"/>
            <a:ext cx="53975" cy="36195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50" spc="-50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153215" y="1718316"/>
            <a:ext cx="170688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02870" marR="5080" indent="-90805">
              <a:lnSpc>
                <a:spcPct val="1066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Упорядоченный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список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можно отформатировать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 </a:t>
            </a:r>
            <a:r>
              <a:rPr dirty="0" sz="1000" spc="-10">
                <a:latin typeface="Times New Roman"/>
                <a:cs typeface="Times New Roman"/>
              </a:rPr>
              <a:t>помощью соответствующих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цифр: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59845" y="2352553"/>
            <a:ext cx="53975" cy="29019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2492" y="2790565"/>
            <a:ext cx="47910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Чтобы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вложить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один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список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другой,добавьте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отступ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для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элементов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дочернего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списка: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59845" y="3580009"/>
            <a:ext cx="53975" cy="21399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23262" y="3769583"/>
            <a:ext cx="53975" cy="1708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450" spc="-50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441126" y="4136479"/>
            <a:ext cx="375285" cy="146050"/>
          </a:xfrm>
          <a:custGeom>
            <a:avLst/>
            <a:gdLst/>
            <a:ahLst/>
            <a:cxnLst/>
            <a:rect l="l" t="t" r="r" b="b"/>
            <a:pathLst>
              <a:path w="375285" h="146050">
                <a:moveTo>
                  <a:pt x="375246" y="0"/>
                </a:moveTo>
                <a:lnTo>
                  <a:pt x="0" y="0"/>
                </a:lnTo>
                <a:lnTo>
                  <a:pt x="0" y="146037"/>
                </a:lnTo>
                <a:lnTo>
                  <a:pt x="375246" y="146037"/>
                </a:lnTo>
                <a:lnTo>
                  <a:pt x="375246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068778" y="4115346"/>
            <a:ext cx="57912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Синтаксис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Markdownдля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встроенной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ссылки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состоитиз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части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[link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text]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,представляющей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текст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гиперссылки,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23695" y="4355465"/>
            <a:ext cx="558165" cy="16192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920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700" spc="-10">
                <a:latin typeface="Times New Roman"/>
                <a:cs typeface="Times New Roman"/>
              </a:rPr>
              <a:t>(file-name.md)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79475" y="4334332"/>
            <a:ext cx="42252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1394" algn="l"/>
              </a:tabLst>
            </a:pPr>
            <a:r>
              <a:rPr dirty="0" sz="1000">
                <a:latin typeface="Times New Roman"/>
                <a:cs typeface="Times New Roman"/>
              </a:rPr>
              <a:t>и</a:t>
            </a:r>
            <a:r>
              <a:rPr dirty="0" sz="1000" spc="-10">
                <a:latin typeface="Times New Roman"/>
                <a:cs typeface="Times New Roman"/>
              </a:rPr>
              <a:t> части</a:t>
            </a:r>
            <a:r>
              <a:rPr dirty="0" sz="1000">
                <a:latin typeface="Times New Roman"/>
                <a:cs typeface="Times New Roman"/>
              </a:rPr>
              <a:t>	–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20">
                <a:latin typeface="Times New Roman"/>
                <a:cs typeface="Times New Roman"/>
              </a:rPr>
              <a:t>URL-</a:t>
            </a:r>
            <a:r>
              <a:rPr dirty="0" sz="1000">
                <a:latin typeface="Times New Roman"/>
                <a:cs typeface="Times New Roman"/>
              </a:rPr>
              <a:t>адреса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или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имени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файла,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на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который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дается</a:t>
            </a:r>
            <a:r>
              <a:rPr dirty="0" sz="1000" spc="-2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ссылка: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912359" y="4548978"/>
            <a:ext cx="53975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10285" y="4832367"/>
            <a:ext cx="5775960" cy="35560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  <a:tabLst>
                <a:tab pos="1506855" algn="l"/>
                <a:tab pos="1956435" algn="l"/>
                <a:tab pos="2854325" algn="l"/>
                <a:tab pos="3753485" algn="l"/>
                <a:tab pos="4203065" algn="l"/>
                <a:tab pos="4652645" algn="l"/>
              </a:tabLst>
            </a:pPr>
            <a:r>
              <a:rPr dirty="0" sz="1000">
                <a:latin typeface="Times New Roman"/>
                <a:cs typeface="Times New Roman"/>
              </a:rPr>
              <a:t>Markdown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поддерживает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5">
                <a:latin typeface="Times New Roman"/>
                <a:cs typeface="Times New Roman"/>
              </a:rPr>
              <a:t>как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встраивание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фрагментов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0">
                <a:latin typeface="Times New Roman"/>
                <a:cs typeface="Times New Roman"/>
              </a:rPr>
              <a:t>кода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50">
                <a:latin typeface="Times New Roman"/>
                <a:cs typeface="Times New Roman"/>
              </a:rPr>
              <a:t>в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10">
                <a:latin typeface="Times New Roman"/>
                <a:cs typeface="Times New Roman"/>
              </a:rPr>
              <a:t>предложение,так</a:t>
            </a:r>
            <a:endParaRPr sz="10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100"/>
              </a:spcBef>
              <a:tabLst>
                <a:tab pos="607695" algn="l"/>
              </a:tabLst>
            </a:pPr>
            <a:r>
              <a:rPr dirty="0" sz="1000" spc="-50">
                <a:latin typeface="Times New Roman"/>
                <a:cs typeface="Times New Roman"/>
              </a:rPr>
              <a:t>и</a:t>
            </a:r>
            <a:r>
              <a:rPr dirty="0" sz="1000">
                <a:latin typeface="Times New Roman"/>
                <a:cs typeface="Times New Roman"/>
              </a:rPr>
              <a:t>	их</a:t>
            </a:r>
            <a:r>
              <a:rPr dirty="0" sz="1000" spc="-10">
                <a:latin typeface="Times New Roman"/>
                <a:cs typeface="Times New Roman"/>
              </a:rPr>
              <a:t> размещениемеждупредложениямиввидеотдельныхогражденныхблоков.Огражденные блоки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950459" y="5162167"/>
            <a:ext cx="1864360" cy="972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4795" marR="285115" indent="-252095">
              <a:lnSpc>
                <a:spcPct val="1082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кода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—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это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простой</a:t>
            </a:r>
            <a:r>
              <a:rPr dirty="0" sz="1000" spc="26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способ выделить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синтаксис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для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Times New Roman"/>
                <a:cs typeface="Times New Roman"/>
              </a:rPr>
              <a:t>фрагментов </a:t>
            </a:r>
            <a:r>
              <a:rPr dirty="0" sz="1000">
                <a:latin typeface="Times New Roman"/>
                <a:cs typeface="Times New Roman"/>
              </a:rPr>
              <a:t>кода.</a:t>
            </a:r>
            <a:r>
              <a:rPr dirty="0" sz="1000" spc="-10">
                <a:latin typeface="Times New Roman"/>
                <a:cs typeface="Times New Roman"/>
              </a:rPr>
              <a:t> Общий</a:t>
            </a:r>
            <a:endParaRPr sz="1000">
              <a:latin typeface="Times New Roman"/>
              <a:cs typeface="Times New Roman"/>
            </a:endParaRPr>
          </a:p>
          <a:p>
            <a:pPr marL="12700" marR="5080" indent="252095">
              <a:lnSpc>
                <a:spcPct val="108200"/>
              </a:lnSpc>
            </a:pPr>
            <a:r>
              <a:rPr dirty="0" sz="1000">
                <a:latin typeface="Times New Roman"/>
                <a:cs typeface="Times New Roman"/>
              </a:rPr>
              <a:t>формат</a:t>
            </a:r>
            <a:r>
              <a:rPr dirty="0" sz="1000" spc="7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огражденных</a:t>
            </a:r>
            <a:r>
              <a:rPr dirty="0" sz="1000" spc="-3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блоков кода:</a:t>
            </a:r>
            <a:endParaRPr sz="1000">
              <a:latin typeface="Times New Roman"/>
              <a:cs typeface="Times New Roman"/>
            </a:endParaRPr>
          </a:p>
          <a:p>
            <a:pPr marL="27940">
              <a:lnSpc>
                <a:spcPct val="100000"/>
              </a:lnSpc>
              <a:spcBef>
                <a:spcPts val="425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13613" y="6244453"/>
            <a:ext cx="15589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Верхние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нижние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индексы: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951731" y="6283188"/>
            <a:ext cx="82550" cy="137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40"/>
              </a:lnSpc>
              <a:spcBef>
                <a:spcPts val="10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  <a:p>
            <a:pPr marL="40640">
              <a:lnSpc>
                <a:spcPts val="440"/>
              </a:lnSpc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860674" y="6395177"/>
            <a:ext cx="152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Cambria"/>
                <a:cs typeface="Cambria"/>
              </a:rPr>
              <a:t>𝐻</a:t>
            </a:r>
            <a:r>
              <a:rPr dirty="0" sz="600" spc="-25">
                <a:latin typeface="Times New Roman"/>
                <a:cs typeface="Times New Roman"/>
              </a:rPr>
              <a:t>2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12497" y="6566715"/>
            <a:ext cx="9626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записывается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как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50375" y="6884517"/>
            <a:ext cx="5949950" cy="25844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6540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515"/>
              </a:spcBef>
            </a:pPr>
            <a:r>
              <a:rPr dirty="0" sz="700" spc="-10">
                <a:latin typeface="Times New Roman"/>
                <a:cs typeface="Times New Roman"/>
              </a:rPr>
              <a:t>H~2~O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965700" y="7152005"/>
            <a:ext cx="53975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2856229" y="7222042"/>
            <a:ext cx="165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latin typeface="Times New Roman"/>
                <a:cs typeface="Times New Roman"/>
              </a:rPr>
              <a:t>2</a:t>
            </a:r>
            <a:r>
              <a:rPr dirty="0" sz="650" spc="-25">
                <a:latin typeface="Times New Roman"/>
                <a:cs typeface="Times New Roman"/>
              </a:rPr>
              <a:t>10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12493" y="7673552"/>
            <a:ext cx="9626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записывается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как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3878896" y="8314737"/>
            <a:ext cx="53975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6366090" y="8571890"/>
            <a:ext cx="5270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формулы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887093" y="8559918"/>
            <a:ext cx="5481955" cy="4705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34010" indent="4149725">
              <a:lnSpc>
                <a:spcPct val="1079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Внутритекстовые делаются </a:t>
            </a:r>
            <a:r>
              <a:rPr dirty="0" sz="1000">
                <a:latin typeface="Times New Roman"/>
                <a:cs typeface="Times New Roman"/>
              </a:rPr>
              <a:t>аналогично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формулам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LaTeX.Например,формула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sin</a:t>
            </a:r>
            <a:r>
              <a:rPr dirty="0" baseline="29914" sz="975">
                <a:latin typeface="Times New Roman"/>
                <a:cs typeface="Times New Roman"/>
              </a:rPr>
              <a:t>2</a:t>
            </a:r>
            <a:r>
              <a:rPr dirty="0" sz="900">
                <a:latin typeface="Times New Roman"/>
                <a:cs typeface="Times New Roman"/>
              </a:rPr>
              <a:t>(</a:t>
            </a:r>
            <a:r>
              <a:rPr dirty="0" sz="900">
                <a:latin typeface="Cambria"/>
                <a:cs typeface="Cambria"/>
              </a:rPr>
              <a:t>𝑥</a:t>
            </a:r>
            <a:r>
              <a:rPr dirty="0" sz="900">
                <a:latin typeface="Times New Roman"/>
                <a:cs typeface="Times New Roman"/>
              </a:rPr>
              <a:t>)+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cos</a:t>
            </a:r>
            <a:r>
              <a:rPr dirty="0" baseline="29914" sz="975" spc="-15">
                <a:latin typeface="Times New Roman"/>
                <a:cs typeface="Times New Roman"/>
              </a:rPr>
              <a:t>2</a:t>
            </a:r>
            <a:r>
              <a:rPr dirty="0" sz="900" spc="-10">
                <a:latin typeface="Times New Roman"/>
                <a:cs typeface="Times New Roman"/>
              </a:rPr>
              <a:t>(</a:t>
            </a:r>
            <a:r>
              <a:rPr dirty="0" sz="900" spc="-10">
                <a:latin typeface="Cambria"/>
                <a:cs typeface="Cambria"/>
              </a:rPr>
              <a:t>𝑥</a:t>
            </a:r>
            <a:r>
              <a:rPr dirty="0" sz="900" spc="-10">
                <a:latin typeface="Times New Roman"/>
                <a:cs typeface="Times New Roman"/>
              </a:rPr>
              <a:t>)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=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1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запишется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как</a:t>
            </a:r>
            <a:endParaRPr sz="1000">
              <a:latin typeface="Times New Roman"/>
              <a:cs typeface="Times New Roman"/>
            </a:endParaRPr>
          </a:p>
          <a:p>
            <a:pPr algn="r" marR="30480">
              <a:lnSpc>
                <a:spcPct val="100000"/>
              </a:lnSpc>
              <a:spcBef>
                <a:spcPts val="190"/>
              </a:spcBef>
            </a:pPr>
            <a:r>
              <a:rPr dirty="0" sz="600" i="1">
                <a:latin typeface="Times New Roman"/>
                <a:cs typeface="Times New Roman"/>
              </a:rPr>
              <a:t>Кулябов Д.С.</a:t>
            </a:r>
            <a:r>
              <a:rPr dirty="0" sz="600" spc="5" i="1">
                <a:latin typeface="Times New Roman"/>
                <a:cs typeface="Times New Roman"/>
              </a:rPr>
              <a:t> </a:t>
            </a:r>
            <a:r>
              <a:rPr dirty="0" sz="600" i="1">
                <a:latin typeface="Times New Roman"/>
                <a:cs typeface="Times New Roman"/>
              </a:rPr>
              <a:t>и др.</a:t>
            </a:r>
            <a:r>
              <a:rPr dirty="0" sz="600" spc="5" i="1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Операционные</a:t>
            </a:r>
            <a:r>
              <a:rPr dirty="0" sz="600" spc="5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системы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859844" y="9396141"/>
            <a:ext cx="53975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892175" y="593763"/>
            <a:ext cx="4032885" cy="641985"/>
          </a:xfrm>
          <a:custGeom>
            <a:avLst/>
            <a:gdLst/>
            <a:ahLst/>
            <a:cxnLst/>
            <a:rect l="l" t="t" r="r" b="b"/>
            <a:pathLst>
              <a:path w="4032885" h="641985">
                <a:moveTo>
                  <a:pt x="4032885" y="0"/>
                </a:moveTo>
                <a:lnTo>
                  <a:pt x="0" y="0"/>
                </a:lnTo>
                <a:lnTo>
                  <a:pt x="0" y="641985"/>
                </a:lnTo>
                <a:lnTo>
                  <a:pt x="4032885" y="641985"/>
                </a:lnTo>
                <a:lnTo>
                  <a:pt x="403288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8" name="object 28" descr=""/>
          <p:cNvGraphicFramePr>
            <a:graphicFrameLocks noGrp="1"/>
          </p:cNvGraphicFramePr>
          <p:nvPr/>
        </p:nvGraphicFramePr>
        <p:xfrm>
          <a:off x="984885" y="676313"/>
          <a:ext cx="184150" cy="414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50"/>
              </a:tblGrid>
              <a:tr h="121285">
                <a:tc>
                  <a:txBody>
                    <a:bodyPr/>
                    <a:lstStyle/>
                    <a:p>
                      <a:pPr>
                        <a:lnSpc>
                          <a:spcPts val="805"/>
                        </a:lnSpc>
                      </a:pPr>
                      <a:r>
                        <a:rPr dirty="0" sz="700" spc="-50" b="1">
                          <a:solidFill>
                            <a:srgbClr val="007F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</a:tr>
              <a:tr h="103505">
                <a:tc>
                  <a:txBody>
                    <a:bodyPr/>
                    <a:lstStyle/>
                    <a:p>
                      <a:pPr>
                        <a:lnSpc>
                          <a:spcPts val="665"/>
                        </a:lnSpc>
                      </a:pPr>
                      <a:r>
                        <a:rPr dirty="0" sz="700" spc="-50" b="1">
                          <a:solidFill>
                            <a:srgbClr val="007F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</a:tr>
              <a:tr h="103505">
                <a:tc>
                  <a:txBody>
                    <a:bodyPr/>
                    <a:lstStyle/>
                    <a:p>
                      <a:pPr>
                        <a:lnSpc>
                          <a:spcPts val="665"/>
                        </a:lnSpc>
                      </a:pPr>
                      <a:r>
                        <a:rPr dirty="0" sz="700" spc="-50" b="1">
                          <a:solidFill>
                            <a:srgbClr val="007F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</a:tr>
              <a:tr h="85725">
                <a:tc>
                  <a:txBody>
                    <a:bodyPr/>
                    <a:lstStyle/>
                    <a:p>
                      <a:pPr>
                        <a:lnSpc>
                          <a:spcPts val="575"/>
                        </a:lnSpc>
                      </a:pPr>
                      <a:r>
                        <a:rPr dirty="0" sz="700" spc="-50" b="1">
                          <a:solidFill>
                            <a:srgbClr val="007F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object 29" descr=""/>
          <p:cNvSpPr txBox="1"/>
          <p:nvPr/>
        </p:nvSpPr>
        <p:spPr>
          <a:xfrm>
            <a:off x="1080135" y="659358"/>
            <a:ext cx="430530" cy="443865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algn="just" marL="12700" marR="5080">
              <a:lnSpc>
                <a:spcPts val="819"/>
              </a:lnSpc>
              <a:spcBef>
                <a:spcPts val="145"/>
              </a:spcBef>
            </a:pP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 spc="-60">
                <a:latin typeface="Times New Roman"/>
                <a:cs typeface="Times New Roman"/>
              </a:rPr>
              <a:t>1</a:t>
            </a:r>
            <a:r>
              <a:rPr dirty="0" sz="700" spc="50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 spc="-60">
                <a:latin typeface="Times New Roman"/>
                <a:cs typeface="Times New Roman"/>
              </a:rPr>
              <a:t>A</a:t>
            </a:r>
            <a:r>
              <a:rPr dirty="0" sz="700" spc="50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 spc="-60">
                <a:latin typeface="Times New Roman"/>
                <a:cs typeface="Times New Roman"/>
              </a:rPr>
              <a:t>B</a:t>
            </a:r>
            <a:r>
              <a:rPr dirty="0" sz="700" spc="50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List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item</a:t>
            </a:r>
            <a:r>
              <a:rPr dirty="0" sz="700" spc="-40">
                <a:latin typeface="Times New Roman"/>
                <a:cs typeface="Times New Roman"/>
              </a:rPr>
              <a:t> </a:t>
            </a:r>
            <a:r>
              <a:rPr dirty="0" sz="700" spc="-60">
                <a:latin typeface="Times New Roman"/>
                <a:cs typeface="Times New Roman"/>
              </a:rPr>
              <a:t>2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892175" y="569951"/>
            <a:ext cx="4032885" cy="47625"/>
          </a:xfrm>
          <a:custGeom>
            <a:avLst/>
            <a:gdLst/>
            <a:ahLst/>
            <a:cxnLst/>
            <a:rect l="l" t="t" r="r" b="b"/>
            <a:pathLst>
              <a:path w="4032885" h="47625">
                <a:moveTo>
                  <a:pt x="0" y="47624"/>
                </a:moveTo>
                <a:lnTo>
                  <a:pt x="4032885" y="47624"/>
                </a:lnTo>
                <a:lnTo>
                  <a:pt x="4032885" y="0"/>
                </a:lnTo>
                <a:lnTo>
                  <a:pt x="0" y="0"/>
                </a:lnTo>
                <a:lnTo>
                  <a:pt x="0" y="47624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892175" y="1879003"/>
            <a:ext cx="4032885" cy="51562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44450" rIns="0" bIns="0" rtlCol="0" vert="horz">
            <a:spAutoFit/>
          </a:bodyPr>
          <a:lstStyle/>
          <a:p>
            <a:pPr marL="38100">
              <a:lnSpc>
                <a:spcPts val="819"/>
              </a:lnSpc>
              <a:spcBef>
                <a:spcPts val="350"/>
              </a:spcBef>
            </a:pP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1. </a:t>
            </a:r>
            <a:r>
              <a:rPr dirty="0" sz="700" spc="-10">
                <a:latin typeface="Times New Roman"/>
                <a:cs typeface="Times New Roman"/>
              </a:rPr>
              <a:t>First</a:t>
            </a:r>
            <a:r>
              <a:rPr dirty="0" sz="70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instruction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805"/>
              </a:lnSpc>
            </a:pP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1.</a:t>
            </a:r>
            <a:r>
              <a:rPr dirty="0" sz="700" spc="-15" b="1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Second</a:t>
            </a:r>
            <a:r>
              <a:rPr dirty="0" sz="700" spc="-10">
                <a:latin typeface="Times New Roman"/>
                <a:cs typeface="Times New Roman"/>
              </a:rPr>
              <a:t> instruction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819"/>
              </a:lnSpc>
            </a:pP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1.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Third</a:t>
            </a:r>
            <a:r>
              <a:rPr dirty="0" sz="700" spc="-10">
                <a:latin typeface="Times New Roman"/>
                <a:cs typeface="Times New Roman"/>
              </a:rPr>
              <a:t> instruction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92175" y="2956827"/>
            <a:ext cx="4032885" cy="66421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99060" rIns="0" bIns="0" rtlCol="0" vert="horz">
            <a:spAutoFit/>
          </a:bodyPr>
          <a:lstStyle/>
          <a:p>
            <a:pPr marL="127000" indent="-88900">
              <a:lnSpc>
                <a:spcPts val="819"/>
              </a:lnSpc>
              <a:spcBef>
                <a:spcPts val="780"/>
              </a:spcBef>
              <a:buClr>
                <a:srgbClr val="007F00"/>
              </a:buClr>
              <a:buFont typeface="Times New Roman"/>
              <a:buAutoNum type="arabicPeriod"/>
              <a:tabLst>
                <a:tab pos="127000" algn="l"/>
              </a:tabLst>
            </a:pPr>
            <a:r>
              <a:rPr dirty="0" sz="700" spc="-10">
                <a:latin typeface="Times New Roman"/>
                <a:cs typeface="Times New Roman"/>
              </a:rPr>
              <a:t>First</a:t>
            </a:r>
            <a:r>
              <a:rPr dirty="0" sz="700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instruction</a:t>
            </a:r>
            <a:endParaRPr sz="700">
              <a:latin typeface="Times New Roman"/>
              <a:cs typeface="Times New Roman"/>
            </a:endParaRPr>
          </a:p>
          <a:p>
            <a:pPr algn="r" lvl="1" marL="88900" marR="3186430" indent="-88900">
              <a:lnSpc>
                <a:spcPts val="805"/>
              </a:lnSpc>
              <a:buClr>
                <a:srgbClr val="007F00"/>
              </a:buClr>
              <a:buFont typeface="Times New Roman"/>
              <a:buAutoNum type="arabicPeriod"/>
              <a:tabLst>
                <a:tab pos="88900" algn="l"/>
              </a:tabLst>
            </a:pPr>
            <a:r>
              <a:rPr dirty="0" sz="700" spc="-10">
                <a:latin typeface="Times New Roman"/>
                <a:cs typeface="Times New Roman"/>
              </a:rPr>
              <a:t>Sub-instruction</a:t>
            </a:r>
            <a:endParaRPr sz="700">
              <a:latin typeface="Times New Roman"/>
              <a:cs typeface="Times New Roman"/>
            </a:endParaRPr>
          </a:p>
          <a:p>
            <a:pPr algn="r" marL="88900" marR="3186430" indent="-88900">
              <a:lnSpc>
                <a:spcPts val="805"/>
              </a:lnSpc>
              <a:buClr>
                <a:srgbClr val="007F00"/>
              </a:buClr>
              <a:buFont typeface="Times New Roman"/>
              <a:buAutoNum type="arabicPeriod"/>
              <a:tabLst>
                <a:tab pos="88900" algn="l"/>
              </a:tabLst>
            </a:pPr>
            <a:r>
              <a:rPr dirty="0" sz="700" spc="-10">
                <a:latin typeface="Times New Roman"/>
                <a:cs typeface="Times New Roman"/>
              </a:rPr>
              <a:t>Sub-instruction</a:t>
            </a:r>
            <a:endParaRPr sz="700">
              <a:latin typeface="Times New Roman"/>
              <a:cs typeface="Times New Roman"/>
            </a:endParaRPr>
          </a:p>
          <a:p>
            <a:pPr algn="r" marR="3234055">
              <a:lnSpc>
                <a:spcPts val="819"/>
              </a:lnSpc>
            </a:pP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1.</a:t>
            </a:r>
            <a:r>
              <a:rPr dirty="0" sz="700" spc="-15" b="1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Second</a:t>
            </a:r>
            <a:r>
              <a:rPr dirty="0" sz="700" spc="-10">
                <a:latin typeface="Times New Roman"/>
                <a:cs typeface="Times New Roman"/>
              </a:rPr>
              <a:t> instruction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92175" y="4516793"/>
            <a:ext cx="4032885" cy="28765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450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dirty="0" sz="700">
                <a:latin typeface="Times New Roman"/>
                <a:cs typeface="Times New Roman"/>
              </a:rPr>
              <a:t>[</a:t>
            </a: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link</a:t>
            </a:r>
            <a:r>
              <a:rPr dirty="0" sz="700" spc="45" b="1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text</a:t>
            </a:r>
            <a:r>
              <a:rPr dirty="0" sz="700" spc="-10">
                <a:latin typeface="Times New Roman"/>
                <a:cs typeface="Times New Roman"/>
              </a:rPr>
              <a:t>](</a:t>
            </a:r>
            <a:r>
              <a:rPr dirty="0" sz="700" spc="-10">
                <a:solidFill>
                  <a:srgbClr val="687820"/>
                </a:solidFill>
                <a:latin typeface="Times New Roman"/>
                <a:cs typeface="Times New Roman"/>
              </a:rPr>
              <a:t>file-name.md</a:t>
            </a:r>
            <a:r>
              <a:rPr dirty="0" sz="700" spc="-10"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930275" y="5310530"/>
            <a:ext cx="4032885" cy="545465"/>
          </a:xfrm>
          <a:custGeom>
            <a:avLst/>
            <a:gdLst/>
            <a:ahLst/>
            <a:cxnLst/>
            <a:rect l="l" t="t" r="r" b="b"/>
            <a:pathLst>
              <a:path w="4032885" h="545464">
                <a:moveTo>
                  <a:pt x="4032885" y="0"/>
                </a:moveTo>
                <a:lnTo>
                  <a:pt x="0" y="0"/>
                </a:lnTo>
                <a:lnTo>
                  <a:pt x="0" y="545464"/>
                </a:lnTo>
                <a:lnTo>
                  <a:pt x="4032885" y="545464"/>
                </a:lnTo>
                <a:lnTo>
                  <a:pt x="4032885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968375" y="5336921"/>
            <a:ext cx="44450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Times New Roman"/>
                <a:cs typeface="Times New Roman"/>
              </a:rPr>
              <a:t>```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language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899283" y="5383593"/>
            <a:ext cx="928369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latin typeface="Times New Roman"/>
                <a:cs typeface="Times New Roman"/>
              </a:rPr>
              <a:t>your</a:t>
            </a:r>
            <a:r>
              <a:rPr dirty="0" sz="700" spc="-2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code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goes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in</a:t>
            </a:r>
            <a:r>
              <a:rPr dirty="0" sz="700" spc="-2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here</a:t>
            </a:r>
            <a:r>
              <a:rPr dirty="0" sz="700" spc="-20">
                <a:latin typeface="Times New Roman"/>
                <a:cs typeface="Times New Roman"/>
              </a:rPr>
              <a:t> </a:t>
            </a:r>
            <a:r>
              <a:rPr dirty="0" sz="700" spc="-25">
                <a:latin typeface="Times New Roman"/>
                <a:cs typeface="Times New Roman"/>
              </a:rPr>
              <a:t>```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930275" y="5830595"/>
            <a:ext cx="4032885" cy="50800"/>
          </a:xfrm>
          <a:custGeom>
            <a:avLst/>
            <a:gdLst/>
            <a:ahLst/>
            <a:cxnLst/>
            <a:rect l="l" t="t" r="r" b="b"/>
            <a:pathLst>
              <a:path w="4032885" h="50800">
                <a:moveTo>
                  <a:pt x="0" y="50800"/>
                </a:moveTo>
                <a:lnTo>
                  <a:pt x="4032885" y="50800"/>
                </a:lnTo>
                <a:lnTo>
                  <a:pt x="4032885" y="0"/>
                </a:lnTo>
                <a:lnTo>
                  <a:pt x="0" y="0"/>
                </a:lnTo>
                <a:lnTo>
                  <a:pt x="0" y="5080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930275" y="7889151"/>
            <a:ext cx="4032885" cy="44132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971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dirty="0" sz="700" spc="-10">
                <a:latin typeface="Times New Roman"/>
                <a:cs typeface="Times New Roman"/>
              </a:rPr>
              <a:t>2^10^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892175" y="9123426"/>
            <a:ext cx="4032885" cy="28765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450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dirty="0" sz="700">
                <a:latin typeface="Times New Roman"/>
                <a:cs typeface="Times New Roman"/>
              </a:rPr>
              <a:t>$\sin^2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(x)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+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\cos^2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(x)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=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 spc="-25">
                <a:latin typeface="Times New Roman"/>
                <a:cs typeface="Times New Roman"/>
              </a:rPr>
              <a:t>1$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6755" y="623392"/>
            <a:ext cx="12566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latin typeface="Times New Roman"/>
                <a:cs typeface="Times New Roman"/>
              </a:rPr>
              <a:t>Выключные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формулы: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50247" y="883966"/>
            <a:ext cx="848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latin typeface="Calibri"/>
                <a:cs typeface="Calibri"/>
              </a:rPr>
              <a:t>sin</a:t>
            </a:r>
            <a:r>
              <a:rPr dirty="0" sz="650" spc="-10">
                <a:latin typeface="Calibri"/>
                <a:cs typeface="Calibri"/>
              </a:rPr>
              <a:t>2</a:t>
            </a:r>
            <a:r>
              <a:rPr dirty="0" sz="900" spc="-10">
                <a:latin typeface="Calibri"/>
                <a:cs typeface="Calibri"/>
              </a:rPr>
              <a:t>(</a:t>
            </a:r>
            <a:r>
              <a:rPr dirty="0" sz="900" spc="-10">
                <a:latin typeface="Cambria"/>
                <a:cs typeface="Cambria"/>
              </a:rPr>
              <a:t>𝑥</a:t>
            </a:r>
            <a:r>
              <a:rPr dirty="0" sz="900" spc="-10">
                <a:latin typeface="Calibri"/>
                <a:cs typeface="Calibri"/>
              </a:rPr>
              <a:t>)+ </a:t>
            </a:r>
            <a:r>
              <a:rPr dirty="0" sz="750">
                <a:latin typeface="Calibri"/>
                <a:cs typeface="Calibri"/>
              </a:rPr>
              <a:t>cos</a:t>
            </a:r>
            <a:r>
              <a:rPr dirty="0" sz="650">
                <a:latin typeface="Calibri"/>
                <a:cs typeface="Calibri"/>
              </a:rPr>
              <a:t>2</a:t>
            </a:r>
            <a:r>
              <a:rPr dirty="0" sz="900">
                <a:latin typeface="Calibri"/>
                <a:cs typeface="Calibri"/>
              </a:rPr>
              <a:t>(</a:t>
            </a:r>
            <a:r>
              <a:rPr dirty="0" sz="900">
                <a:latin typeface="Cambria"/>
                <a:cs typeface="Cambria"/>
              </a:rPr>
              <a:t>𝑥</a:t>
            </a:r>
            <a:r>
              <a:rPr dirty="0" sz="900">
                <a:latin typeface="Calibri"/>
                <a:cs typeface="Calibri"/>
              </a:rPr>
              <a:t>)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=</a:t>
            </a:r>
            <a:r>
              <a:rPr dirty="0" sz="900" spc="-5">
                <a:latin typeface="Calibri"/>
                <a:cs typeface="Calibri"/>
              </a:rPr>
              <a:t> </a:t>
            </a:r>
            <a:r>
              <a:rPr dirty="0" sz="900" spc="-50"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912362" y="1075885"/>
            <a:ext cx="1983105" cy="102489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220"/>
              </a:spcBef>
            </a:pPr>
            <a:r>
              <a:rPr dirty="0" sz="1000" spc="-10">
                <a:latin typeface="Times New Roman"/>
                <a:cs typeface="Times New Roman"/>
              </a:rPr>
              <a:t>{#eq:eq:sin2+cos2}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со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ссылкой</a:t>
            </a:r>
            <a:r>
              <a:rPr dirty="0" sz="1000" spc="30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в</a:t>
            </a:r>
            <a:endParaRPr sz="1000">
              <a:latin typeface="Times New Roman"/>
              <a:cs typeface="Times New Roman"/>
            </a:endParaRPr>
          </a:p>
          <a:p>
            <a:pPr algn="r" marR="5715">
              <a:lnSpc>
                <a:spcPct val="100000"/>
              </a:lnSpc>
              <a:spcBef>
                <a:spcPts val="125"/>
              </a:spcBef>
            </a:pPr>
            <a:r>
              <a:rPr dirty="0" sz="1000" spc="-10">
                <a:latin typeface="Times New Roman"/>
                <a:cs typeface="Times New Roman"/>
              </a:rPr>
              <a:t>тексте</a:t>
            </a:r>
            <a:endParaRPr sz="1000">
              <a:latin typeface="Times New Roman"/>
              <a:cs typeface="Times New Roman"/>
            </a:endParaRPr>
          </a:p>
          <a:p>
            <a:pPr algn="r" marL="1489710" marR="5080" indent="635">
              <a:lnSpc>
                <a:spcPct val="108200"/>
              </a:lnSpc>
            </a:pPr>
            <a:r>
              <a:rPr dirty="0" sz="1000" spc="-10">
                <a:latin typeface="Times New Roman"/>
                <a:cs typeface="Times New Roman"/>
              </a:rPr>
              <a:t>«Смотри формулу</a:t>
            </a:r>
            <a:endParaRPr sz="10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Times New Roman"/>
                <a:cs typeface="Times New Roman"/>
              </a:rPr>
              <a:t>([-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spc="-10">
                <a:latin typeface="Times New Roman"/>
                <a:cs typeface="Times New Roman"/>
              </a:rPr>
              <a:t>@eq:eq:sin2+cos2]).»</a:t>
            </a:r>
            <a:r>
              <a:rPr dirty="0" sz="1000" spc="11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записывается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8847" y="2087315"/>
            <a:ext cx="20510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latin typeface="Times New Roman"/>
                <a:cs typeface="Times New Roman"/>
              </a:rPr>
              <a:t>как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59849" y="2255412"/>
            <a:ext cx="53975" cy="21399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23267" y="2444986"/>
            <a:ext cx="53975" cy="243204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450" spc="-50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450" spc="-50">
                <a:latin typeface="Times New Roman"/>
                <a:cs typeface="Times New Roman"/>
              </a:rPr>
              <a:t>5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2259469" y="3389681"/>
            <a:ext cx="279400" cy="146050"/>
          </a:xfrm>
          <a:custGeom>
            <a:avLst/>
            <a:gdLst/>
            <a:ahLst/>
            <a:cxnLst/>
            <a:rect l="l" t="t" r="r" b="b"/>
            <a:pathLst>
              <a:path w="279400" h="146050">
                <a:moveTo>
                  <a:pt x="278930" y="0"/>
                </a:moveTo>
                <a:lnTo>
                  <a:pt x="0" y="0"/>
                </a:lnTo>
                <a:lnTo>
                  <a:pt x="0" y="146037"/>
                </a:lnTo>
                <a:lnTo>
                  <a:pt x="278930" y="146037"/>
                </a:lnTo>
                <a:lnTo>
                  <a:pt x="278930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12502" y="2965083"/>
            <a:ext cx="5656580" cy="58166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495"/>
              </a:spcBef>
              <a:tabLst>
                <a:tab pos="553085" algn="l"/>
              </a:tabLst>
            </a:pPr>
            <a:r>
              <a:rPr dirty="0" sz="850" spc="-10" b="1">
                <a:latin typeface="Calibri"/>
                <a:cs typeface="Calibri"/>
              </a:rPr>
              <a:t>3.2.2.</a:t>
            </a:r>
            <a:r>
              <a:rPr dirty="0" sz="850" b="1">
                <a:latin typeface="Calibri"/>
                <a:cs typeface="Calibri"/>
              </a:rPr>
              <a:t>	</a:t>
            </a:r>
            <a:r>
              <a:rPr dirty="0" sz="850" spc="-10" b="1">
                <a:latin typeface="Calibri"/>
                <a:cs typeface="Calibri"/>
              </a:rPr>
              <a:t>Обработка</a:t>
            </a:r>
            <a:r>
              <a:rPr dirty="0" sz="850" b="1">
                <a:latin typeface="Calibri"/>
                <a:cs typeface="Calibri"/>
              </a:rPr>
              <a:t> </a:t>
            </a:r>
            <a:r>
              <a:rPr dirty="0" sz="850" spc="-10" b="1">
                <a:latin typeface="Calibri"/>
                <a:cs typeface="Calibri"/>
              </a:rPr>
              <a:t>файлов</a:t>
            </a:r>
            <a:r>
              <a:rPr dirty="0" sz="850" spc="5" b="1">
                <a:latin typeface="Calibri"/>
                <a:cs typeface="Calibri"/>
              </a:rPr>
              <a:t> </a:t>
            </a:r>
            <a:r>
              <a:rPr dirty="0" sz="850" b="1">
                <a:latin typeface="Calibri"/>
                <a:cs typeface="Calibri"/>
              </a:rPr>
              <a:t>в</a:t>
            </a:r>
            <a:r>
              <a:rPr dirty="0" sz="850" spc="5" b="1">
                <a:latin typeface="Calibri"/>
                <a:cs typeface="Calibri"/>
              </a:rPr>
              <a:t> </a:t>
            </a:r>
            <a:r>
              <a:rPr dirty="0" sz="850" spc="-10" b="1">
                <a:latin typeface="Calibri"/>
                <a:cs typeface="Calibri"/>
              </a:rPr>
              <a:t>формате</a:t>
            </a:r>
            <a:r>
              <a:rPr dirty="0" sz="850" spc="5" b="1">
                <a:latin typeface="Calibri"/>
                <a:cs typeface="Calibri"/>
              </a:rPr>
              <a:t> </a:t>
            </a:r>
            <a:r>
              <a:rPr dirty="0" sz="850" spc="-10" b="1">
                <a:latin typeface="Calibri"/>
                <a:cs typeface="Calibri"/>
              </a:rPr>
              <a:t>Markdown</a:t>
            </a:r>
            <a:endParaRPr sz="850">
              <a:latin typeface="Calibri"/>
              <a:cs typeface="Calibri"/>
            </a:endParaRPr>
          </a:p>
          <a:p>
            <a:pPr marL="12700" marR="5080" indent="97155">
              <a:lnSpc>
                <a:spcPct val="108200"/>
              </a:lnSpc>
              <a:spcBef>
                <a:spcPts val="365"/>
              </a:spcBef>
            </a:pPr>
            <a:r>
              <a:rPr dirty="0" sz="1000">
                <a:latin typeface="Times New Roman"/>
                <a:cs typeface="Times New Roman"/>
              </a:rPr>
              <a:t>Для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обработки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файлов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формате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Markdown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будем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использовать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Pandoc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u="sng" sz="7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https://pandoc.org/</a:t>
            </a:r>
            <a:r>
              <a:rPr dirty="0" u="sng" sz="10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2"/>
              </a:rPr>
              <a:t>.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Конкретно,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нам </a:t>
            </a:r>
            <a:r>
              <a:rPr dirty="0" sz="1000" spc="-10">
                <a:latin typeface="Times New Roman"/>
                <a:cs typeface="Times New Roman"/>
              </a:rPr>
              <a:t>понадобится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программа</a:t>
            </a:r>
            <a:r>
              <a:rPr dirty="0" sz="1000" spc="2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pandoc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1000" spc="-50">
                <a:latin typeface="Times New Roman"/>
                <a:cs typeface="Times New Roman"/>
              </a:rPr>
              <a:t>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27100" y="3557752"/>
            <a:ext cx="594995" cy="13017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9209" rIns="0" bIns="0" rtlCol="0" vert="horz">
            <a:spAutoFit/>
          </a:bodyPr>
          <a:lstStyle/>
          <a:p>
            <a:pPr>
              <a:lnSpc>
                <a:spcPts val="785"/>
              </a:lnSpc>
              <a:spcBef>
                <a:spcPts val="229"/>
              </a:spcBef>
            </a:pPr>
            <a:r>
              <a:rPr dirty="0" sz="700" spc="-10">
                <a:latin typeface="Times New Roman"/>
                <a:cs typeface="Times New Roman"/>
              </a:rPr>
              <a:t>pandoc-citeproc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08164" y="3536619"/>
            <a:ext cx="14585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>
                <a:latin typeface="Times New Roman"/>
                <a:cs typeface="Times New Roman"/>
                <a:hlinkClick r:id="rId3"/>
              </a:rPr>
              <a:t>https://github.com/jgm/pandoc/releases</a:t>
            </a:r>
            <a:r>
              <a:rPr dirty="0" sz="1000" spc="-10">
                <a:latin typeface="Times New Roman"/>
                <a:cs typeface="Times New Roman"/>
                <a:hlinkClick r:id="rId3"/>
              </a:rPr>
              <a:t>,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985249" y="3557752"/>
            <a:ext cx="580390" cy="13017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9209" rIns="0" bIns="0" rtlCol="0" vert="horz">
            <a:spAutoFit/>
          </a:bodyPr>
          <a:lstStyle/>
          <a:p>
            <a:pPr>
              <a:lnSpc>
                <a:spcPts val="785"/>
              </a:lnSpc>
              <a:spcBef>
                <a:spcPts val="229"/>
              </a:spcBef>
            </a:pPr>
            <a:r>
              <a:rPr dirty="0" sz="700" spc="-10">
                <a:latin typeface="Times New Roman"/>
                <a:cs typeface="Times New Roman"/>
              </a:rPr>
              <a:t>pandoc-crossref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571976" y="3574719"/>
            <a:ext cx="130683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7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https://github.com/lierdakil/pandoc-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14396" y="3748982"/>
            <a:ext cx="6445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7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crossref/releases</a:t>
            </a:r>
            <a:r>
              <a:rPr dirty="0" u="sng" sz="10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  <a:hlinkClick r:id="rId4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521891" y="3687305"/>
            <a:ext cx="1431925" cy="0"/>
          </a:xfrm>
          <a:custGeom>
            <a:avLst/>
            <a:gdLst/>
            <a:ahLst/>
            <a:cxnLst/>
            <a:rect l="l" t="t" r="r" b="b"/>
            <a:pathLst>
              <a:path w="1431925" h="0">
                <a:moveTo>
                  <a:pt x="0" y="0"/>
                </a:moveTo>
                <a:lnTo>
                  <a:pt x="1431607" y="0"/>
                </a:lnTo>
              </a:path>
            </a:pathLst>
          </a:custGeom>
          <a:ln w="70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3164535" y="3961346"/>
            <a:ext cx="143383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9985" algn="l"/>
              </a:tabLst>
            </a:pPr>
            <a:r>
              <a:rPr dirty="0" sz="1000" spc="-10">
                <a:latin typeface="Times New Roman"/>
                <a:cs typeface="Times New Roman"/>
              </a:rPr>
              <a:t>Преобразовать</a:t>
            </a:r>
            <a:r>
              <a:rPr dirty="0" sz="1000">
                <a:latin typeface="Times New Roman"/>
                <a:cs typeface="Times New Roman"/>
              </a:rPr>
              <a:t>	</a:t>
            </a:r>
            <a:r>
              <a:rPr dirty="0" sz="1000" spc="-20">
                <a:latin typeface="Times New Roman"/>
                <a:cs typeface="Times New Roman"/>
              </a:rPr>
              <a:t>файл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764735" y="3982479"/>
            <a:ext cx="523875" cy="14605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9209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29"/>
              </a:spcBef>
            </a:pPr>
            <a:r>
              <a:rPr dirty="0" sz="700" spc="-10">
                <a:latin typeface="Times New Roman"/>
                <a:cs typeface="Times New Roman"/>
              </a:rPr>
              <a:t>README.md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285423" y="3961346"/>
            <a:ext cx="15728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можно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следующим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образом: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859848" y="4401239"/>
            <a:ext cx="53975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688585" y="4685698"/>
            <a:ext cx="4298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или</a:t>
            </a:r>
            <a:r>
              <a:rPr dirty="0" sz="1000" spc="-30">
                <a:latin typeface="Times New Roman"/>
                <a:cs typeface="Times New Roman"/>
              </a:rPr>
              <a:t> </a:t>
            </a:r>
            <a:r>
              <a:rPr dirty="0" sz="1000" spc="-25">
                <a:latin typeface="Times New Roman"/>
                <a:cs typeface="Times New Roman"/>
              </a:rPr>
              <a:t>так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859848" y="5097200"/>
            <a:ext cx="53975" cy="9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927600" y="5361973"/>
            <a:ext cx="1837689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Times New Roman"/>
                <a:cs typeface="Times New Roman"/>
              </a:rPr>
              <a:t>Можно </a:t>
            </a:r>
            <a:r>
              <a:rPr dirty="0" sz="1000" spc="-10">
                <a:latin typeface="Times New Roman"/>
                <a:cs typeface="Times New Roman"/>
              </a:rPr>
              <a:t>использовать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следующий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743168" y="5551182"/>
            <a:ext cx="321310" cy="10223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795"/>
              </a:lnSpc>
            </a:pPr>
            <a:r>
              <a:rPr dirty="0" sz="700" spc="-10">
                <a:latin typeface="Times New Roman"/>
                <a:cs typeface="Times New Roman"/>
              </a:rPr>
              <a:t>Makefile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845561" y="7764023"/>
            <a:ext cx="82550" cy="139509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300"/>
              </a:spcBef>
            </a:pPr>
            <a:r>
              <a:rPr dirty="0" sz="450" spc="-50">
                <a:latin typeface="Times New Roman"/>
                <a:cs typeface="Times New Roman"/>
              </a:rPr>
              <a:t>1</a:t>
            </a:r>
            <a:endParaRPr sz="45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  <a:spcBef>
                <a:spcPts val="200"/>
              </a:spcBef>
            </a:pPr>
            <a:r>
              <a:rPr dirty="0" sz="450" spc="-50">
                <a:latin typeface="Times New Roman"/>
                <a:cs typeface="Times New Roman"/>
              </a:rPr>
              <a:t>2</a:t>
            </a:r>
            <a:endParaRPr sz="45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  <a:spcBef>
                <a:spcPts val="45"/>
              </a:spcBef>
            </a:pPr>
            <a:r>
              <a:rPr dirty="0" sz="450" spc="-50">
                <a:latin typeface="Times New Roman"/>
                <a:cs typeface="Times New Roman"/>
              </a:rPr>
              <a:t>3</a:t>
            </a:r>
            <a:endParaRPr sz="45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  <a:spcBef>
                <a:spcPts val="40"/>
              </a:spcBef>
            </a:pPr>
            <a:r>
              <a:rPr dirty="0" sz="450" spc="-50">
                <a:latin typeface="Times New Roman"/>
                <a:cs typeface="Times New Roman"/>
              </a:rPr>
              <a:t>4</a:t>
            </a:r>
            <a:endParaRPr sz="45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  <a:spcBef>
                <a:spcPts val="40"/>
              </a:spcBef>
            </a:pPr>
            <a:r>
              <a:rPr dirty="0" sz="450" spc="-50">
                <a:latin typeface="Times New Roman"/>
                <a:cs typeface="Times New Roman"/>
              </a:rPr>
              <a:t>5</a:t>
            </a:r>
            <a:endParaRPr sz="45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  <a:spcBef>
                <a:spcPts val="40"/>
              </a:spcBef>
            </a:pPr>
            <a:r>
              <a:rPr dirty="0" sz="450" spc="-50">
                <a:latin typeface="Times New Roman"/>
                <a:cs typeface="Times New Roman"/>
              </a:rPr>
              <a:t>6</a:t>
            </a:r>
            <a:endParaRPr sz="45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  <a:spcBef>
                <a:spcPts val="45"/>
              </a:spcBef>
            </a:pPr>
            <a:r>
              <a:rPr dirty="0" sz="450" spc="-50">
                <a:latin typeface="Times New Roman"/>
                <a:cs typeface="Times New Roman"/>
              </a:rPr>
              <a:t>7</a:t>
            </a:r>
            <a:endParaRPr sz="45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  <a:spcBef>
                <a:spcPts val="40"/>
              </a:spcBef>
            </a:pPr>
            <a:r>
              <a:rPr dirty="0" sz="450" spc="-50">
                <a:latin typeface="Times New Roman"/>
                <a:cs typeface="Times New Roman"/>
              </a:rPr>
              <a:t>8</a:t>
            </a:r>
            <a:endParaRPr sz="45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  <a:spcBef>
                <a:spcPts val="40"/>
              </a:spcBef>
            </a:pPr>
            <a:r>
              <a:rPr dirty="0" sz="450" spc="-50">
                <a:latin typeface="Times New Roman"/>
                <a:cs typeface="Times New Roman"/>
              </a:rPr>
              <a:t>9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50" spc="-25">
                <a:latin typeface="Times New Roman"/>
                <a:cs typeface="Times New Roman"/>
              </a:rPr>
              <a:t>10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450" spc="-25">
                <a:latin typeface="Times New Roman"/>
                <a:cs typeface="Times New Roman"/>
              </a:rPr>
              <a:t>11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50" spc="-25">
                <a:latin typeface="Times New Roman"/>
                <a:cs typeface="Times New Roman"/>
              </a:rPr>
              <a:t>12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50" spc="-25">
                <a:latin typeface="Times New Roman"/>
                <a:cs typeface="Times New Roman"/>
              </a:rPr>
              <a:t>13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50" spc="-25">
                <a:latin typeface="Times New Roman"/>
                <a:cs typeface="Times New Roman"/>
              </a:rPr>
              <a:t>14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450" spc="-25">
                <a:latin typeface="Times New Roman"/>
                <a:cs typeface="Times New Roman"/>
              </a:rPr>
              <a:t>15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50" spc="-25">
                <a:latin typeface="Times New Roman"/>
                <a:cs typeface="Times New Roman"/>
              </a:rPr>
              <a:t>16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450" spc="-25">
                <a:latin typeface="Times New Roman"/>
                <a:cs typeface="Times New Roman"/>
              </a:rPr>
              <a:t>17</a:t>
            </a:r>
            <a:endParaRPr sz="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450" spc="-25">
                <a:latin typeface="Times New Roman"/>
                <a:cs typeface="Times New Roman"/>
              </a:rPr>
              <a:t>18</a:t>
            </a:r>
            <a:endParaRPr sz="450">
              <a:latin typeface="Times New Roman"/>
              <a:cs typeface="Times New Roman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20115" y="9186528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Times New Roman"/>
                <a:cs typeface="Times New Roman"/>
              </a:rPr>
              <a:t>36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3761392" y="9186528"/>
            <a:ext cx="12344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Times New Roman"/>
                <a:cs typeface="Times New Roman"/>
              </a:rPr>
              <a:t>Лабораторная</a:t>
            </a:r>
            <a:r>
              <a:rPr dirty="0" sz="600" spc="5"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работа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№</a:t>
            </a:r>
            <a:r>
              <a:rPr dirty="0" sz="600" spc="10">
                <a:latin typeface="Times New Roman"/>
                <a:cs typeface="Times New Roman"/>
              </a:rPr>
              <a:t> </a:t>
            </a:r>
            <a:r>
              <a:rPr dirty="0" sz="600">
                <a:latin typeface="Times New Roman"/>
                <a:cs typeface="Times New Roman"/>
              </a:rPr>
              <a:t>3.</a:t>
            </a:r>
            <a:r>
              <a:rPr dirty="0" sz="600" spc="5">
                <a:latin typeface="Times New Roman"/>
                <a:cs typeface="Times New Roman"/>
              </a:rPr>
              <a:t> </a:t>
            </a:r>
            <a:r>
              <a:rPr dirty="0" sz="600" spc="-10">
                <a:latin typeface="Times New Roman"/>
                <a:cs typeface="Times New Roman"/>
              </a:rPr>
              <a:t>Markdown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92175" y="1271918"/>
            <a:ext cx="4032885" cy="7353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36830" rIns="0" bIns="0" rtlCol="0" vert="horz">
            <a:spAutoFit/>
          </a:bodyPr>
          <a:lstStyle/>
          <a:p>
            <a:pPr marL="38100">
              <a:lnSpc>
                <a:spcPts val="795"/>
              </a:lnSpc>
              <a:spcBef>
                <a:spcPts val="290"/>
              </a:spcBef>
            </a:pPr>
            <a:r>
              <a:rPr dirty="0" sz="700" spc="-25">
                <a:latin typeface="Times New Roman"/>
                <a:cs typeface="Times New Roman"/>
              </a:rPr>
              <a:t>$$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50"/>
              </a:lnSpc>
            </a:pPr>
            <a:r>
              <a:rPr dirty="0" sz="700">
                <a:latin typeface="Times New Roman"/>
                <a:cs typeface="Times New Roman"/>
              </a:rPr>
              <a:t>\sin^2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(x)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+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\cos^2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(x)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=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 spc="-50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795"/>
              </a:lnSpc>
            </a:pPr>
            <a:r>
              <a:rPr dirty="0" sz="700">
                <a:latin typeface="Times New Roman"/>
                <a:cs typeface="Times New Roman"/>
              </a:rPr>
              <a:t>$$ </a:t>
            </a:r>
            <a:r>
              <a:rPr dirty="0" sz="700" spc="-10">
                <a:latin typeface="Times New Roman"/>
                <a:cs typeface="Times New Roman"/>
              </a:rPr>
              <a:t>{#eq:eq:sin2+cos2}</a:t>
            </a: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</a:pPr>
            <a:r>
              <a:rPr dirty="0" sz="700">
                <a:latin typeface="Times New Roman"/>
                <a:cs typeface="Times New Roman"/>
              </a:rPr>
              <a:t>Смотри</a:t>
            </a:r>
            <a:r>
              <a:rPr dirty="0" sz="700" spc="-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формулу </a:t>
            </a:r>
            <a:r>
              <a:rPr dirty="0" sz="700" spc="-10">
                <a:latin typeface="Times New Roman"/>
                <a:cs typeface="Times New Roman"/>
              </a:rPr>
              <a:t>([-@eq:eq:sin2+cos2]).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892175" y="4128516"/>
            <a:ext cx="4032885" cy="28829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450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latin typeface="Times New Roman"/>
                <a:cs typeface="Times New Roman"/>
              </a:rPr>
              <a:t>pandoc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README.md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o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README.pdf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92175" y="4824463"/>
            <a:ext cx="4032885" cy="28765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450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dirty="0" sz="700" spc="-10">
                <a:latin typeface="Times New Roman"/>
                <a:cs typeface="Times New Roman"/>
              </a:rPr>
              <a:t>pandoc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README.md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o</a:t>
            </a:r>
            <a:r>
              <a:rPr dirty="0" sz="700" spc="5"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README.docx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892175" y="5584240"/>
            <a:ext cx="4032885" cy="22205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52705" rIns="0" bIns="0" rtlCol="0" vert="horz">
            <a:spAutoFit/>
          </a:bodyPr>
          <a:lstStyle/>
          <a:p>
            <a:pPr marL="38100" marR="2052955">
              <a:lnSpc>
                <a:spcPts val="800"/>
              </a:lnSpc>
              <a:spcBef>
                <a:spcPts val="415"/>
              </a:spcBef>
            </a:pPr>
            <a:r>
              <a:rPr dirty="0" sz="700">
                <a:solidFill>
                  <a:srgbClr val="19177D"/>
                </a:solidFill>
                <a:latin typeface="Times New Roman"/>
                <a:cs typeface="Times New Roman"/>
              </a:rPr>
              <a:t>FILES</a:t>
            </a:r>
            <a:r>
              <a:rPr dirty="0" sz="700" spc="-15">
                <a:solidFill>
                  <a:srgbClr val="19177D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666666"/>
                </a:solidFill>
                <a:latin typeface="Times New Roman"/>
                <a:cs typeface="Times New Roman"/>
              </a:rPr>
              <a:t>=</a:t>
            </a:r>
            <a:r>
              <a:rPr dirty="0" sz="700" spc="-1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latin typeface="Times New Roman"/>
                <a:cs typeface="Times New Roman"/>
              </a:rPr>
              <a:t>patsubst </a:t>
            </a:r>
            <a:r>
              <a:rPr dirty="0" sz="700">
                <a:latin typeface="Times New Roman"/>
                <a:cs typeface="Times New Roman"/>
              </a:rPr>
              <a:t>%.md,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%.docx,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$(</a:t>
            </a:r>
            <a:r>
              <a:rPr dirty="0" sz="700">
                <a:latin typeface="Times New Roman"/>
                <a:cs typeface="Times New Roman"/>
              </a:rPr>
              <a:t>wildcard</a:t>
            </a:r>
            <a:r>
              <a:rPr dirty="0" sz="700" spc="-10">
                <a:latin typeface="Times New Roman"/>
                <a:cs typeface="Times New Roman"/>
              </a:rPr>
              <a:t> *.md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))</a:t>
            </a:r>
            <a:r>
              <a:rPr dirty="0" sz="700" spc="500" b="1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19177D"/>
                </a:solidFill>
                <a:latin typeface="Times New Roman"/>
                <a:cs typeface="Times New Roman"/>
              </a:rPr>
              <a:t>FILES</a:t>
            </a:r>
            <a:r>
              <a:rPr dirty="0" sz="700" spc="-15">
                <a:solidFill>
                  <a:srgbClr val="19177D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666666"/>
                </a:solidFill>
                <a:latin typeface="Times New Roman"/>
                <a:cs typeface="Times New Roman"/>
              </a:rPr>
              <a:t>+=</a:t>
            </a:r>
            <a:r>
              <a:rPr dirty="0" sz="700" spc="-1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latin typeface="Times New Roman"/>
                <a:cs typeface="Times New Roman"/>
              </a:rPr>
              <a:t>patsubst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%.md,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%.pdf,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$(</a:t>
            </a:r>
            <a:r>
              <a:rPr dirty="0" sz="700">
                <a:latin typeface="Times New Roman"/>
                <a:cs typeface="Times New Roman"/>
              </a:rPr>
              <a:t>wildcard</a:t>
            </a:r>
            <a:r>
              <a:rPr dirty="0" sz="700" spc="-10">
                <a:latin typeface="Times New Roman"/>
                <a:cs typeface="Times New Roman"/>
              </a:rPr>
              <a:t> *.md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))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dirty="0" sz="700" spc="-10">
                <a:solidFill>
                  <a:srgbClr val="19177D"/>
                </a:solidFill>
                <a:latin typeface="Times New Roman"/>
                <a:cs typeface="Times New Roman"/>
              </a:rPr>
              <a:t>LATEX_FORMAT</a:t>
            </a:r>
            <a:r>
              <a:rPr dirty="0" sz="700" spc="70">
                <a:solidFill>
                  <a:srgbClr val="19177D"/>
                </a:solidFill>
                <a:latin typeface="Times New Roman"/>
                <a:cs typeface="Times New Roman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Times New Roman"/>
                <a:cs typeface="Times New Roman"/>
              </a:rPr>
              <a:t>=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80"/>
              </a:spcBef>
            </a:pPr>
            <a:r>
              <a:rPr dirty="0" sz="700">
                <a:solidFill>
                  <a:srgbClr val="19177D"/>
                </a:solidFill>
                <a:latin typeface="Times New Roman"/>
                <a:cs typeface="Times New Roman"/>
              </a:rPr>
              <a:t>FILTER</a:t>
            </a:r>
            <a:r>
              <a:rPr dirty="0" sz="700" spc="-5">
                <a:solidFill>
                  <a:srgbClr val="19177D"/>
                </a:solidFill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666666"/>
                </a:solidFill>
                <a:latin typeface="Times New Roman"/>
                <a:cs typeface="Times New Roman"/>
              </a:rPr>
              <a:t>= </a:t>
            </a:r>
            <a:r>
              <a:rPr dirty="0" sz="700" spc="-10">
                <a:latin typeface="Times New Roman"/>
                <a:cs typeface="Times New Roman"/>
              </a:rPr>
              <a:t>--</a:t>
            </a:r>
            <a:r>
              <a:rPr dirty="0" sz="700">
                <a:latin typeface="Times New Roman"/>
                <a:cs typeface="Times New Roman"/>
              </a:rPr>
              <a:t>filter </a:t>
            </a:r>
            <a:r>
              <a:rPr dirty="0" sz="700" spc="-10">
                <a:latin typeface="Times New Roman"/>
                <a:cs typeface="Times New Roman"/>
              </a:rPr>
              <a:t>pandoc-crossref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819"/>
              </a:lnSpc>
              <a:spcBef>
                <a:spcPts val="775"/>
              </a:spcBef>
            </a:pPr>
            <a:r>
              <a:rPr dirty="0" sz="700">
                <a:solidFill>
                  <a:srgbClr val="0000FF"/>
                </a:solidFill>
                <a:latin typeface="Times New Roman"/>
                <a:cs typeface="Times New Roman"/>
              </a:rPr>
              <a:t>%.docx</a:t>
            </a:r>
            <a:r>
              <a:rPr dirty="0" sz="700">
                <a:solidFill>
                  <a:srgbClr val="666666"/>
                </a:solidFill>
                <a:latin typeface="Times New Roman"/>
                <a:cs typeface="Times New Roman"/>
              </a:rPr>
              <a:t>:</a:t>
            </a:r>
            <a:r>
              <a:rPr dirty="0" sz="700" spc="-3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latin typeface="Times New Roman"/>
                <a:cs typeface="Times New Roman"/>
              </a:rPr>
              <a:t>%.md</a:t>
            </a:r>
            <a:endParaRPr sz="700">
              <a:latin typeface="Times New Roman"/>
              <a:cs typeface="Times New Roman"/>
            </a:endParaRPr>
          </a:p>
          <a:p>
            <a:pPr marL="255904">
              <a:lnSpc>
                <a:spcPts val="819"/>
              </a:lnSpc>
            </a:pPr>
            <a:r>
              <a:rPr dirty="0" sz="700" spc="-10">
                <a:latin typeface="Times New Roman"/>
                <a:cs typeface="Times New Roman"/>
              </a:rPr>
              <a:t>-pandoc </a:t>
            </a:r>
            <a:r>
              <a:rPr dirty="0" sz="700">
                <a:solidFill>
                  <a:srgbClr val="B92020"/>
                </a:solidFill>
                <a:latin typeface="Times New Roman"/>
                <a:cs typeface="Times New Roman"/>
              </a:rPr>
              <a:t>"</a:t>
            </a:r>
            <a:r>
              <a:rPr dirty="0" sz="700">
                <a:latin typeface="Times New Roman"/>
                <a:cs typeface="Times New Roman"/>
              </a:rPr>
              <a:t>$</a:t>
            </a:r>
            <a:r>
              <a:rPr dirty="0" sz="700">
                <a:solidFill>
                  <a:srgbClr val="B92020"/>
                </a:solidFill>
                <a:latin typeface="Times New Roman"/>
                <a:cs typeface="Times New Roman"/>
              </a:rPr>
              <a:t>&lt;"</a:t>
            </a:r>
            <a:r>
              <a:rPr dirty="0" sz="700" spc="-10">
                <a:solidFill>
                  <a:srgbClr val="B92020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$(</a:t>
            </a:r>
            <a:r>
              <a:rPr dirty="0" sz="700">
                <a:latin typeface="Times New Roman"/>
                <a:cs typeface="Times New Roman"/>
              </a:rPr>
              <a:t>FILTER</a:t>
            </a: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)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o</a:t>
            </a:r>
            <a:r>
              <a:rPr dirty="0" sz="700" spc="-10"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B92020"/>
                </a:solidFill>
                <a:latin typeface="Times New Roman"/>
                <a:cs typeface="Times New Roman"/>
              </a:rPr>
              <a:t>"</a:t>
            </a:r>
            <a:r>
              <a:rPr dirty="0" sz="700" spc="-20">
                <a:solidFill>
                  <a:srgbClr val="19177D"/>
                </a:solidFill>
                <a:latin typeface="Times New Roman"/>
                <a:cs typeface="Times New Roman"/>
              </a:rPr>
              <a:t>$@</a:t>
            </a:r>
            <a:r>
              <a:rPr dirty="0" sz="700" spc="-20">
                <a:solidFill>
                  <a:srgbClr val="B92020"/>
                </a:solidFill>
                <a:latin typeface="Times New Roman"/>
                <a:cs typeface="Times New Roman"/>
              </a:rPr>
              <a:t>"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819"/>
              </a:lnSpc>
              <a:spcBef>
                <a:spcPts val="785"/>
              </a:spcBef>
            </a:pPr>
            <a:r>
              <a:rPr dirty="0" sz="700">
                <a:solidFill>
                  <a:srgbClr val="0000FF"/>
                </a:solidFill>
                <a:latin typeface="Times New Roman"/>
                <a:cs typeface="Times New Roman"/>
              </a:rPr>
              <a:t>%.pdf</a:t>
            </a:r>
            <a:r>
              <a:rPr dirty="0" sz="700">
                <a:solidFill>
                  <a:srgbClr val="666666"/>
                </a:solidFill>
                <a:latin typeface="Times New Roman"/>
                <a:cs typeface="Times New Roman"/>
              </a:rPr>
              <a:t>:</a:t>
            </a:r>
            <a:r>
              <a:rPr dirty="0" sz="700" spc="-2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700" spc="-20">
                <a:latin typeface="Times New Roman"/>
                <a:cs typeface="Times New Roman"/>
              </a:rPr>
              <a:t>%.md</a:t>
            </a:r>
            <a:endParaRPr sz="700">
              <a:latin typeface="Times New Roman"/>
              <a:cs typeface="Times New Roman"/>
            </a:endParaRPr>
          </a:p>
          <a:p>
            <a:pPr marL="255904">
              <a:lnSpc>
                <a:spcPts val="819"/>
              </a:lnSpc>
            </a:pPr>
            <a:r>
              <a:rPr dirty="0" sz="700" spc="-10">
                <a:latin typeface="Times New Roman"/>
                <a:cs typeface="Times New Roman"/>
              </a:rPr>
              <a:t>-pandoc</a:t>
            </a:r>
            <a:r>
              <a:rPr dirty="0" sz="700" spc="10">
                <a:latin typeface="Times New Roman"/>
                <a:cs typeface="Times New Roman"/>
              </a:rPr>
              <a:t> </a:t>
            </a:r>
            <a:r>
              <a:rPr dirty="0" sz="700">
                <a:solidFill>
                  <a:srgbClr val="B92020"/>
                </a:solidFill>
                <a:latin typeface="Times New Roman"/>
                <a:cs typeface="Times New Roman"/>
              </a:rPr>
              <a:t>"</a:t>
            </a:r>
            <a:r>
              <a:rPr dirty="0" sz="700">
                <a:latin typeface="Times New Roman"/>
                <a:cs typeface="Times New Roman"/>
              </a:rPr>
              <a:t>$</a:t>
            </a:r>
            <a:r>
              <a:rPr dirty="0" sz="700">
                <a:solidFill>
                  <a:srgbClr val="B92020"/>
                </a:solidFill>
                <a:latin typeface="Times New Roman"/>
                <a:cs typeface="Times New Roman"/>
              </a:rPr>
              <a:t>&lt;"</a:t>
            </a:r>
            <a:r>
              <a:rPr dirty="0" sz="700" spc="10">
                <a:solidFill>
                  <a:srgbClr val="B92020"/>
                </a:solidFill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latin typeface="Times New Roman"/>
                <a:cs typeface="Times New Roman"/>
              </a:rPr>
              <a:t>LATEX_FORMAT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)</a:t>
            </a:r>
            <a:r>
              <a:rPr dirty="0" sz="700" spc="10" b="1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$(</a:t>
            </a:r>
            <a:r>
              <a:rPr dirty="0" sz="700">
                <a:latin typeface="Times New Roman"/>
                <a:cs typeface="Times New Roman"/>
              </a:rPr>
              <a:t>FILTER</a:t>
            </a: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)</a:t>
            </a:r>
            <a:r>
              <a:rPr dirty="0" sz="700" spc="10" b="1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dirty="0" sz="700" spc="-1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o</a:t>
            </a:r>
            <a:r>
              <a:rPr dirty="0" sz="700" spc="10">
                <a:latin typeface="Times New Roman"/>
                <a:cs typeface="Times New Roman"/>
              </a:rPr>
              <a:t> </a:t>
            </a:r>
            <a:r>
              <a:rPr dirty="0" sz="700" spc="-20">
                <a:solidFill>
                  <a:srgbClr val="B92020"/>
                </a:solidFill>
                <a:latin typeface="Times New Roman"/>
                <a:cs typeface="Times New Roman"/>
              </a:rPr>
              <a:t>"</a:t>
            </a:r>
            <a:r>
              <a:rPr dirty="0" sz="700" spc="-20">
                <a:solidFill>
                  <a:srgbClr val="19177D"/>
                </a:solidFill>
                <a:latin typeface="Times New Roman"/>
                <a:cs typeface="Times New Roman"/>
              </a:rPr>
              <a:t>$@</a:t>
            </a:r>
            <a:r>
              <a:rPr dirty="0" sz="700" spc="-20">
                <a:solidFill>
                  <a:srgbClr val="B92020"/>
                </a:solidFill>
                <a:latin typeface="Times New Roman"/>
                <a:cs typeface="Times New Roman"/>
              </a:rPr>
              <a:t>"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819"/>
              </a:lnSpc>
              <a:spcBef>
                <a:spcPts val="785"/>
              </a:spcBef>
            </a:pPr>
            <a:r>
              <a:rPr dirty="0" sz="700">
                <a:solidFill>
                  <a:srgbClr val="0000FF"/>
                </a:solidFill>
                <a:latin typeface="Times New Roman"/>
                <a:cs typeface="Times New Roman"/>
              </a:rPr>
              <a:t>all</a:t>
            </a:r>
            <a:r>
              <a:rPr dirty="0" sz="700">
                <a:solidFill>
                  <a:srgbClr val="666666"/>
                </a:solidFill>
                <a:latin typeface="Times New Roman"/>
                <a:cs typeface="Times New Roman"/>
              </a:rPr>
              <a:t>:</a:t>
            </a:r>
            <a:r>
              <a:rPr dirty="0" sz="700" spc="-3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solidFill>
                  <a:srgbClr val="19177D"/>
                </a:solidFill>
                <a:latin typeface="Times New Roman"/>
                <a:cs typeface="Times New Roman"/>
              </a:rPr>
              <a:t>FILES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255904">
              <a:lnSpc>
                <a:spcPts val="819"/>
              </a:lnSpc>
            </a:pPr>
            <a:r>
              <a:rPr dirty="0" sz="700">
                <a:latin typeface="Times New Roman"/>
                <a:cs typeface="Times New Roman"/>
              </a:rPr>
              <a:t>@echo</a:t>
            </a:r>
            <a:r>
              <a:rPr dirty="0" sz="700" spc="-25">
                <a:latin typeface="Times New Roman"/>
                <a:cs typeface="Times New Roman"/>
              </a:rPr>
              <a:t> 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$(</a:t>
            </a:r>
            <a:r>
              <a:rPr dirty="0" sz="700" spc="-10">
                <a:latin typeface="Times New Roman"/>
                <a:cs typeface="Times New Roman"/>
              </a:rPr>
              <a:t>FILES</a:t>
            </a:r>
            <a:r>
              <a:rPr dirty="0" sz="700" spc="-10" b="1">
                <a:solidFill>
                  <a:srgbClr val="007F00"/>
                </a:solidFill>
                <a:latin typeface="Times New Roman"/>
                <a:cs typeface="Times New Roman"/>
              </a:rPr>
              <a:t>)</a:t>
            </a:r>
            <a:endParaRPr sz="700">
              <a:latin typeface="Times New Roman"/>
              <a:cs typeface="Times New Roman"/>
            </a:endParaRPr>
          </a:p>
          <a:p>
            <a:pPr marL="38100">
              <a:lnSpc>
                <a:spcPts val="819"/>
              </a:lnSpc>
              <a:spcBef>
                <a:spcPts val="730"/>
              </a:spcBef>
            </a:pPr>
            <a:r>
              <a:rPr dirty="0" sz="700" spc="-10">
                <a:solidFill>
                  <a:srgbClr val="0000FF"/>
                </a:solidFill>
                <a:latin typeface="Times New Roman"/>
                <a:cs typeface="Times New Roman"/>
              </a:rPr>
              <a:t>clean</a:t>
            </a:r>
            <a:r>
              <a:rPr dirty="0" sz="700" spc="-10">
                <a:solidFill>
                  <a:srgbClr val="666666"/>
                </a:solidFill>
                <a:latin typeface="Times New Roman"/>
                <a:cs typeface="Times New Roman"/>
              </a:rPr>
              <a:t>:</a:t>
            </a:r>
            <a:endParaRPr sz="700">
              <a:latin typeface="Times New Roman"/>
              <a:cs typeface="Times New Roman"/>
            </a:endParaRPr>
          </a:p>
          <a:p>
            <a:pPr marL="255904">
              <a:lnSpc>
                <a:spcPts val="819"/>
              </a:lnSpc>
            </a:pPr>
            <a:r>
              <a:rPr dirty="0" sz="700" spc="-10">
                <a:latin typeface="Times New Roman"/>
                <a:cs typeface="Times New Roman"/>
              </a:rPr>
              <a:t>-</a:t>
            </a:r>
            <a:r>
              <a:rPr dirty="0" sz="700">
                <a:latin typeface="Times New Roman"/>
                <a:cs typeface="Times New Roman"/>
              </a:rPr>
              <a:t>rm</a:t>
            </a:r>
            <a:r>
              <a:rPr dirty="0" sz="700" spc="-30">
                <a:latin typeface="Times New Roman"/>
                <a:cs typeface="Times New Roman"/>
              </a:rPr>
              <a:t> </a:t>
            </a: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$(</a:t>
            </a:r>
            <a:r>
              <a:rPr dirty="0" sz="700">
                <a:latin typeface="Times New Roman"/>
                <a:cs typeface="Times New Roman"/>
              </a:rPr>
              <a:t>FILES</a:t>
            </a:r>
            <a:r>
              <a:rPr dirty="0" sz="700" b="1">
                <a:solidFill>
                  <a:srgbClr val="007F00"/>
                </a:solidFill>
                <a:latin typeface="Times New Roman"/>
                <a:cs typeface="Times New Roman"/>
              </a:rPr>
              <a:t>)</a:t>
            </a:r>
            <a:r>
              <a:rPr dirty="0" sz="700" spc="-25" b="1">
                <a:solidFill>
                  <a:srgbClr val="007F00"/>
                </a:solidFill>
                <a:latin typeface="Times New Roman"/>
                <a:cs typeface="Times New Roman"/>
              </a:rPr>
              <a:t> </a:t>
            </a:r>
            <a:r>
              <a:rPr dirty="0" sz="700" spc="-25">
                <a:latin typeface="Times New Roman"/>
                <a:cs typeface="Times New Roman"/>
              </a:rPr>
              <a:t>*~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8336" y="623392"/>
            <a:ext cx="6013450" cy="8902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1">
                <a:latin typeface="Calibri"/>
                <a:cs typeface="Calibri"/>
              </a:rPr>
              <a:t>3.3.</a:t>
            </a:r>
            <a:r>
              <a:rPr dirty="0" sz="850" spc="-10" b="1">
                <a:latin typeface="Calibri"/>
                <a:cs typeface="Calibri"/>
              </a:rPr>
              <a:t> Задание</a:t>
            </a:r>
            <a:r>
              <a:rPr dirty="0" sz="850" spc="-5" b="1">
                <a:latin typeface="Calibri"/>
                <a:cs typeface="Calibri"/>
              </a:rPr>
              <a:t> </a:t>
            </a:r>
            <a:r>
              <a:rPr dirty="0" sz="750" b="1">
                <a:latin typeface="Calibri"/>
                <a:cs typeface="Calibri"/>
              </a:rPr>
              <a:t>–</a:t>
            </a:r>
            <a:r>
              <a:rPr dirty="0" sz="750" spc="30" b="1">
                <a:latin typeface="Calibri"/>
                <a:cs typeface="Calibri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Сделайте </a:t>
            </a:r>
            <a:r>
              <a:rPr dirty="0" sz="1000">
                <a:latin typeface="Times New Roman"/>
                <a:cs typeface="Times New Roman"/>
              </a:rPr>
              <a:t>отчёт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по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предыдущей лабораторной </a:t>
            </a:r>
            <a:r>
              <a:rPr dirty="0" sz="1000">
                <a:latin typeface="Times New Roman"/>
                <a:cs typeface="Times New Roman"/>
              </a:rPr>
              <a:t>работе</a:t>
            </a:r>
            <a:r>
              <a:rPr dirty="0" sz="1000" spc="-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-10">
                <a:latin typeface="Times New Roman"/>
                <a:cs typeface="Times New Roman"/>
              </a:rPr>
              <a:t> формате</a:t>
            </a:r>
            <a:endParaRPr sz="1000">
              <a:latin typeface="Times New Roman"/>
              <a:cs typeface="Times New Roman"/>
            </a:endParaRPr>
          </a:p>
          <a:p>
            <a:pPr marL="196215">
              <a:lnSpc>
                <a:spcPct val="100000"/>
              </a:lnSpc>
              <a:spcBef>
                <a:spcPts val="955"/>
              </a:spcBef>
            </a:pPr>
            <a:r>
              <a:rPr dirty="0" sz="1000" spc="-10">
                <a:latin typeface="Times New Roman"/>
                <a:cs typeface="Times New Roman"/>
              </a:rPr>
              <a:t>Markdown.</a:t>
            </a:r>
            <a:endParaRPr sz="1000">
              <a:latin typeface="Times New Roman"/>
              <a:cs typeface="Times New Roman"/>
            </a:endParaRPr>
          </a:p>
          <a:p>
            <a:pPr marL="304165" marR="5080" indent="-117475">
              <a:lnSpc>
                <a:spcPct val="108200"/>
              </a:lnSpc>
              <a:spcBef>
                <a:spcPts val="855"/>
              </a:spcBef>
            </a:pPr>
            <a:r>
              <a:rPr dirty="0" sz="750" b="1">
                <a:latin typeface="Calibri"/>
                <a:cs typeface="Calibri"/>
              </a:rPr>
              <a:t>–</a:t>
            </a:r>
            <a:r>
              <a:rPr dirty="0" sz="750" spc="15" b="1">
                <a:latin typeface="Calibri"/>
                <a:cs typeface="Calibri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качестве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отчёта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просьба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предоставить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отчёты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в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3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форматах:</a:t>
            </a:r>
            <a:r>
              <a:rPr dirty="0" sz="1000" spc="5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pdf</a:t>
            </a:r>
            <a:r>
              <a:rPr dirty="0" sz="1000">
                <a:latin typeface="Times New Roman"/>
                <a:cs typeface="Times New Roman"/>
              </a:rPr>
              <a:t>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docx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и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700">
                <a:latin typeface="Times New Roman"/>
                <a:cs typeface="Times New Roman"/>
              </a:rPr>
              <a:t>md</a:t>
            </a:r>
            <a:r>
              <a:rPr dirty="0" sz="7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(в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архиве,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поскольку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он</a:t>
            </a:r>
            <a:r>
              <a:rPr dirty="0" sz="1000" spc="-20">
                <a:latin typeface="Times New Roman"/>
                <a:cs typeface="Times New Roman"/>
              </a:rPr>
              <a:t> </a:t>
            </a:r>
            <a:r>
              <a:rPr dirty="0" sz="1000" spc="-10">
                <a:latin typeface="Times New Roman"/>
                <a:cs typeface="Times New Roman"/>
              </a:rPr>
              <a:t>должен содержать</a:t>
            </a:r>
            <a:r>
              <a:rPr dirty="0" sz="1000" spc="-15">
                <a:latin typeface="Times New Roman"/>
                <a:cs typeface="Times New Roman"/>
              </a:rPr>
              <a:t> </a:t>
            </a:r>
            <a:r>
              <a:rPr dirty="0" sz="1000">
                <a:latin typeface="Times New Roman"/>
                <a:cs typeface="Times New Roman"/>
              </a:rPr>
              <a:t>скриншоты,</a:t>
            </a:r>
            <a:r>
              <a:rPr dirty="0" sz="1000" spc="-10">
                <a:latin typeface="Times New Roman"/>
                <a:cs typeface="Times New Roman"/>
              </a:rPr>
              <a:t> Makefile </a:t>
            </a:r>
            <a:r>
              <a:rPr dirty="0" sz="1000">
                <a:latin typeface="Times New Roman"/>
                <a:cs typeface="Times New Roman"/>
              </a:rPr>
              <a:t>и</a:t>
            </a:r>
            <a:r>
              <a:rPr dirty="0" sz="1000" spc="-10">
                <a:latin typeface="Times New Roman"/>
                <a:cs typeface="Times New Roman"/>
              </a:rPr>
              <a:t> т.д.)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2026-03-07T18:42:06Z</dcterms:created>
  <dcterms:modified xsi:type="dcterms:W3CDTF">2026-03-07T18:42:06Z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2026-03-07T00:00:00Z</vt:filetime>
  </property>
  <property fmtid="{D5CDD505-2E9C-101B-9397-08002B2CF9AE}" pid="5" name="Producer">
    <vt:lpwstr>3-Heights(TM) PDF Security Shell 4.8.25.2 (http://www.pdf-tools.com)</vt:lpwstr>
  </property>
</Properties>
</file>
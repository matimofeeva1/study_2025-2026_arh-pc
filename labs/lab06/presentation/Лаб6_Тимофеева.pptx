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2428" y="2232279"/>
            <a:ext cx="4334192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4857" y="4032504"/>
            <a:ext cx="3569335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952" y="1656207"/>
            <a:ext cx="2218086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6010" y="1656207"/>
            <a:ext cx="2218086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4004" y="514539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952" y="288036"/>
            <a:ext cx="4589145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952" y="1656207"/>
            <a:ext cx="4589145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3677" y="6696837"/>
            <a:ext cx="1631696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952" y="6696837"/>
            <a:ext cx="117278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71316" y="6696837"/>
            <a:ext cx="117278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3077" y="458848"/>
            <a:ext cx="3514090" cy="7404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13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1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algn="ctr" marL="304800" marR="240029" indent="27940">
              <a:lnSpc>
                <a:spcPts val="2170"/>
              </a:lnSpc>
              <a:spcBef>
                <a:spcPts val="100"/>
              </a:spcBef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4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8660" y="2552975"/>
            <a:ext cx="2579370" cy="8845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9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9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90" b="1">
                <a:latin typeface="Times New Roman"/>
                <a:cs typeface="Times New Roman"/>
              </a:rPr>
              <a:t> </a:t>
            </a:r>
            <a:r>
              <a:rPr dirty="0" sz="1050" spc="-50" b="1">
                <a:latin typeface="Times New Roman"/>
                <a:cs typeface="Times New Roman"/>
              </a:rPr>
              <a:t>6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985519" algn="l"/>
              </a:tabLst>
            </a:pP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050" spc="9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68275" y="5159017"/>
            <a:ext cx="21405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85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95122" y="5665269"/>
            <a:ext cx="105600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92083" y="6381887"/>
            <a:ext cx="528320" cy="2971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R="10795">
              <a:lnSpc>
                <a:spcPct val="100000"/>
              </a:lnSpc>
              <a:spcBef>
                <a:spcPts val="65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35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89276"/>
            <a:ext cx="1098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Georgia"/>
                <a:cs typeface="Georgia"/>
              </a:rPr>
              <a:t>38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26707" y="4841681"/>
            <a:ext cx="260985" cy="412750"/>
            <a:chOff x="726707" y="4841681"/>
            <a:chExt cx="260985" cy="412750"/>
          </a:xfrm>
        </p:grpSpPr>
        <p:sp>
          <p:nvSpPr>
            <p:cNvPr id="4" name="object 4" descr=""/>
            <p:cNvSpPr/>
            <p:nvPr/>
          </p:nvSpPr>
          <p:spPr>
            <a:xfrm>
              <a:off x="729237" y="4844211"/>
              <a:ext cx="255904" cy="124460"/>
            </a:xfrm>
            <a:custGeom>
              <a:avLst/>
              <a:gdLst/>
              <a:ahLst/>
              <a:cxnLst/>
              <a:rect l="l" t="t" r="r" b="b"/>
              <a:pathLst>
                <a:path w="255905" h="124460">
                  <a:moveTo>
                    <a:pt x="248845" y="0"/>
                  </a:moveTo>
                  <a:lnTo>
                    <a:pt x="6591" y="0"/>
                  </a:lnTo>
                  <a:lnTo>
                    <a:pt x="0" y="6591"/>
                  </a:lnTo>
                  <a:lnTo>
                    <a:pt x="0" y="117335"/>
                  </a:lnTo>
                  <a:lnTo>
                    <a:pt x="6591" y="123926"/>
                  </a:lnTo>
                  <a:lnTo>
                    <a:pt x="248845" y="123926"/>
                  </a:lnTo>
                  <a:lnTo>
                    <a:pt x="255436" y="117335"/>
                  </a:lnTo>
                  <a:lnTo>
                    <a:pt x="255436" y="6591"/>
                  </a:lnTo>
                  <a:lnTo>
                    <a:pt x="2488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29237" y="4844211"/>
              <a:ext cx="255904" cy="124460"/>
            </a:xfrm>
            <a:custGeom>
              <a:avLst/>
              <a:gdLst/>
              <a:ahLst/>
              <a:cxnLst/>
              <a:rect l="l" t="t" r="r" b="b"/>
              <a:pathLst>
                <a:path w="255905" h="124460">
                  <a:moveTo>
                    <a:pt x="240713" y="0"/>
                  </a:moveTo>
                  <a:lnTo>
                    <a:pt x="14723" y="0"/>
                  </a:lnTo>
                  <a:lnTo>
                    <a:pt x="6591" y="0"/>
                  </a:lnTo>
                  <a:lnTo>
                    <a:pt x="0" y="6591"/>
                  </a:lnTo>
                  <a:lnTo>
                    <a:pt x="0" y="14719"/>
                  </a:lnTo>
                  <a:lnTo>
                    <a:pt x="0" y="109207"/>
                  </a:lnTo>
                  <a:lnTo>
                    <a:pt x="0" y="117335"/>
                  </a:lnTo>
                  <a:lnTo>
                    <a:pt x="6591" y="123926"/>
                  </a:lnTo>
                  <a:lnTo>
                    <a:pt x="14723" y="123926"/>
                  </a:lnTo>
                  <a:lnTo>
                    <a:pt x="240713" y="123926"/>
                  </a:lnTo>
                  <a:lnTo>
                    <a:pt x="248845" y="123926"/>
                  </a:lnTo>
                  <a:lnTo>
                    <a:pt x="255436" y="117335"/>
                  </a:lnTo>
                  <a:lnTo>
                    <a:pt x="255436" y="109207"/>
                  </a:lnTo>
                  <a:lnTo>
                    <a:pt x="255436" y="14719"/>
                  </a:lnTo>
                  <a:lnTo>
                    <a:pt x="255436" y="6591"/>
                  </a:lnTo>
                  <a:lnTo>
                    <a:pt x="248845" y="0"/>
                  </a:lnTo>
                  <a:lnTo>
                    <a:pt x="240713" y="0"/>
                  </a:lnTo>
                  <a:close/>
                </a:path>
              </a:pathLst>
            </a:custGeom>
            <a:ln w="5059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6707" y="4983312"/>
              <a:ext cx="240455" cy="27062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729237" y="4844211"/>
            <a:ext cx="255904" cy="1244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0"/>
              </a:spcBef>
            </a:pPr>
            <a:r>
              <a:rPr dirty="0" sz="650" spc="-10">
                <a:latin typeface="Calibri"/>
                <a:cs typeface="Calibri"/>
              </a:rPr>
              <a:t>Space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5311" y="748931"/>
            <a:ext cx="4090670" cy="352869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7780" marR="338455">
              <a:lnSpc>
                <a:spcPts val="1000"/>
              </a:lnSpc>
              <a:spcBef>
                <a:spcPts val="250"/>
              </a:spcBef>
            </a:pPr>
            <a:r>
              <a:rPr dirty="0" sz="950" spc="-10" b="1">
                <a:latin typeface="Georgia"/>
                <a:cs typeface="Georgia"/>
              </a:rPr>
              <a:t>Лабораторная</a:t>
            </a:r>
            <a:r>
              <a:rPr dirty="0" sz="950" spc="-55" b="1">
                <a:latin typeface="Georgia"/>
                <a:cs typeface="Georgia"/>
              </a:rPr>
              <a:t> </a:t>
            </a:r>
            <a:r>
              <a:rPr dirty="0" sz="950" spc="-10" b="1">
                <a:latin typeface="Georgia"/>
                <a:cs typeface="Georgia"/>
              </a:rPr>
              <a:t>работа</a:t>
            </a:r>
            <a:r>
              <a:rPr dirty="0" sz="950" spc="-45" b="1">
                <a:latin typeface="Georgia"/>
                <a:cs typeface="Georgia"/>
              </a:rPr>
              <a:t> </a:t>
            </a:r>
            <a:r>
              <a:rPr dirty="0" sz="950" b="1">
                <a:latin typeface="Georgia"/>
                <a:cs typeface="Georgia"/>
              </a:rPr>
              <a:t>№</a:t>
            </a:r>
            <a:r>
              <a:rPr dirty="0" sz="950" spc="-50" b="1">
                <a:latin typeface="Georgia"/>
                <a:cs typeface="Georgia"/>
              </a:rPr>
              <a:t> </a:t>
            </a:r>
            <a:r>
              <a:rPr dirty="0" sz="950" b="1">
                <a:latin typeface="Georgia"/>
                <a:cs typeface="Georgia"/>
              </a:rPr>
              <a:t>4.</a:t>
            </a:r>
            <a:r>
              <a:rPr dirty="0" sz="950" spc="310" b="1">
                <a:latin typeface="Georgia"/>
                <a:cs typeface="Georgia"/>
              </a:rPr>
              <a:t> </a:t>
            </a:r>
            <a:r>
              <a:rPr dirty="0" sz="950" b="1">
                <a:latin typeface="Georgia"/>
                <a:cs typeface="Georgia"/>
              </a:rPr>
              <a:t>Основы</a:t>
            </a:r>
            <a:r>
              <a:rPr dirty="0" sz="950" spc="-50" b="1">
                <a:latin typeface="Georgia"/>
                <a:cs typeface="Georgia"/>
              </a:rPr>
              <a:t> </a:t>
            </a:r>
            <a:r>
              <a:rPr dirty="0" sz="950" spc="-10" b="1">
                <a:latin typeface="Georgia"/>
                <a:cs typeface="Georgia"/>
              </a:rPr>
              <a:t>интерфейса взаимодействия</a:t>
            </a:r>
            <a:r>
              <a:rPr dirty="0" sz="950" spc="-20" b="1">
                <a:latin typeface="Georgia"/>
                <a:cs typeface="Georgia"/>
              </a:rPr>
              <a:t> </a:t>
            </a:r>
            <a:r>
              <a:rPr dirty="0" sz="950" b="1">
                <a:latin typeface="Georgia"/>
                <a:cs typeface="Georgia"/>
              </a:rPr>
              <a:t>пользователя</a:t>
            </a:r>
            <a:r>
              <a:rPr dirty="0" sz="950" spc="-20" b="1">
                <a:latin typeface="Georgia"/>
                <a:cs typeface="Georgia"/>
              </a:rPr>
              <a:t> </a:t>
            </a:r>
            <a:r>
              <a:rPr dirty="0" sz="950" b="1">
                <a:latin typeface="Georgia"/>
                <a:cs typeface="Georgia"/>
              </a:rPr>
              <a:t>с</a:t>
            </a:r>
            <a:r>
              <a:rPr dirty="0" sz="950" spc="-20" b="1">
                <a:latin typeface="Georgia"/>
                <a:cs typeface="Georgia"/>
              </a:rPr>
              <a:t> </a:t>
            </a:r>
            <a:r>
              <a:rPr dirty="0" sz="950" b="1">
                <a:latin typeface="Georgia"/>
                <a:cs typeface="Georgia"/>
              </a:rPr>
              <a:t>системой</a:t>
            </a:r>
            <a:r>
              <a:rPr dirty="0" sz="950" spc="-20" b="1">
                <a:latin typeface="Georgia"/>
                <a:cs typeface="Georgia"/>
              </a:rPr>
              <a:t> </a:t>
            </a:r>
            <a:r>
              <a:rPr dirty="0" sz="950" b="1">
                <a:latin typeface="Georgia"/>
                <a:cs typeface="Georgia"/>
              </a:rPr>
              <a:t>Unix</a:t>
            </a:r>
            <a:r>
              <a:rPr dirty="0" sz="950" spc="-20" b="1">
                <a:latin typeface="Georgia"/>
                <a:cs typeface="Georgia"/>
              </a:rPr>
              <a:t> </a:t>
            </a:r>
            <a:r>
              <a:rPr dirty="0" sz="950" b="1">
                <a:latin typeface="Georgia"/>
                <a:cs typeface="Georgia"/>
              </a:rPr>
              <a:t>на</a:t>
            </a:r>
            <a:r>
              <a:rPr dirty="0" sz="950" spc="-20" b="1">
                <a:latin typeface="Georgia"/>
                <a:cs typeface="Georgia"/>
              </a:rPr>
              <a:t> </a:t>
            </a:r>
            <a:r>
              <a:rPr dirty="0" sz="950" spc="-10" b="1">
                <a:latin typeface="Georgia"/>
                <a:cs typeface="Georgia"/>
              </a:rPr>
              <a:t>уровне командной строки</a:t>
            </a:r>
            <a:endParaRPr sz="950">
              <a:latin typeface="Georgia"/>
              <a:cs typeface="Georgia"/>
            </a:endParaRPr>
          </a:p>
          <a:p>
            <a:pPr lvl="1" marL="306070" indent="-28829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306070" algn="l"/>
              </a:tabLst>
            </a:pPr>
            <a:r>
              <a:rPr dirty="0" sz="850" spc="-10" b="1">
                <a:latin typeface="Georgia"/>
                <a:cs typeface="Georgia"/>
              </a:rPr>
              <a:t>Цель</a:t>
            </a:r>
            <a:r>
              <a:rPr dirty="0" sz="850" spc="-20" b="1">
                <a:latin typeface="Georgia"/>
                <a:cs typeface="Georgia"/>
              </a:rPr>
              <a:t> </a:t>
            </a:r>
            <a:r>
              <a:rPr dirty="0" sz="850" spc="-10" b="1">
                <a:latin typeface="Georgia"/>
                <a:cs typeface="Georgia"/>
              </a:rPr>
              <a:t>работы</a:t>
            </a:r>
            <a:endParaRPr sz="850">
              <a:latin typeface="Georgia"/>
              <a:cs typeface="Georgia"/>
            </a:endParaRPr>
          </a:p>
          <a:p>
            <a:pPr algn="just" marL="17780" marR="6350" indent="97790">
              <a:lnSpc>
                <a:spcPts val="819"/>
              </a:lnSpc>
              <a:spcBef>
                <a:spcPts val="880"/>
              </a:spcBef>
            </a:pPr>
            <a:r>
              <a:rPr dirty="0" sz="750">
                <a:latin typeface="Georgia"/>
                <a:cs typeface="Georgia"/>
              </a:rPr>
              <a:t>Приобретение</a:t>
            </a:r>
            <a:r>
              <a:rPr dirty="0" sz="750" spc="4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практических</a:t>
            </a:r>
            <a:r>
              <a:rPr dirty="0" sz="750" spc="4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навыков</a:t>
            </a:r>
            <a:r>
              <a:rPr dirty="0" sz="750" spc="459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взаимодействия</a:t>
            </a:r>
            <a:r>
              <a:rPr dirty="0" sz="750" spc="4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пользователя</a:t>
            </a:r>
            <a:r>
              <a:rPr dirty="0" sz="750" spc="4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459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системой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посредством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командной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строки.</a:t>
            </a:r>
            <a:endParaRPr sz="7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750">
              <a:latin typeface="Georgia"/>
              <a:cs typeface="Georgia"/>
            </a:endParaRPr>
          </a:p>
          <a:p>
            <a:pPr lvl="1" marL="304800" indent="-287020">
              <a:lnSpc>
                <a:spcPct val="100000"/>
              </a:lnSpc>
              <a:buAutoNum type="arabicPeriod" startAt="2"/>
              <a:tabLst>
                <a:tab pos="304800" algn="l"/>
              </a:tabLst>
            </a:pPr>
            <a:r>
              <a:rPr dirty="0" sz="850" b="1">
                <a:latin typeface="Georgia"/>
                <a:cs typeface="Georgia"/>
              </a:rPr>
              <a:t>Указания</a:t>
            </a:r>
            <a:r>
              <a:rPr dirty="0" sz="850" spc="-15" b="1">
                <a:latin typeface="Georgia"/>
                <a:cs typeface="Georgia"/>
              </a:rPr>
              <a:t> </a:t>
            </a:r>
            <a:r>
              <a:rPr dirty="0" sz="850" b="1">
                <a:latin typeface="Georgia"/>
                <a:cs typeface="Georgia"/>
              </a:rPr>
              <a:t>к</a:t>
            </a:r>
            <a:r>
              <a:rPr dirty="0" sz="850" spc="-15" b="1">
                <a:latin typeface="Georgia"/>
                <a:cs typeface="Georgia"/>
              </a:rPr>
              <a:t> </a:t>
            </a:r>
            <a:r>
              <a:rPr dirty="0" sz="850" spc="-10" b="1">
                <a:latin typeface="Georgia"/>
                <a:cs typeface="Georgia"/>
              </a:rPr>
              <a:t>работе</a:t>
            </a:r>
            <a:endParaRPr sz="850">
              <a:latin typeface="Georgia"/>
              <a:cs typeface="Georgia"/>
            </a:endParaRPr>
          </a:p>
          <a:p>
            <a:pPr algn="just" marL="17780" marR="5715" indent="97790">
              <a:lnSpc>
                <a:spcPts val="819"/>
              </a:lnSpc>
              <a:spcBef>
                <a:spcPts val="880"/>
              </a:spcBef>
            </a:pP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операционной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системе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типа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Linux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взаимодействие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пользователя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системой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обычно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осуществляется</a:t>
            </a:r>
            <a:r>
              <a:rPr dirty="0" sz="750" spc="1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1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помощью</a:t>
            </a:r>
            <a:r>
              <a:rPr dirty="0" sz="750" spc="1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командной</a:t>
            </a:r>
            <a:r>
              <a:rPr dirty="0" sz="750" spc="1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строки</a:t>
            </a:r>
            <a:r>
              <a:rPr dirty="0" sz="750" spc="1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посредством</a:t>
            </a:r>
            <a:r>
              <a:rPr dirty="0" sz="750" spc="1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построчного</a:t>
            </a:r>
            <a:r>
              <a:rPr dirty="0" sz="750" spc="1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ввода</a:t>
            </a:r>
            <a:r>
              <a:rPr dirty="0" sz="750" spc="1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команд.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этом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обычно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используется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командные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интерпретаторы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языка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shell: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/bin/sh</a:t>
            </a:r>
            <a:r>
              <a:rPr dirty="0" sz="750" spc="-10">
                <a:latin typeface="Georgia"/>
                <a:cs typeface="Georgia"/>
              </a:rPr>
              <a:t>;</a:t>
            </a:r>
            <a:endParaRPr sz="750">
              <a:latin typeface="Georgia"/>
              <a:cs typeface="Georgia"/>
            </a:endParaRPr>
          </a:p>
          <a:p>
            <a:pPr marL="12700">
              <a:lnSpc>
                <a:spcPts val="880"/>
              </a:lnSpc>
            </a:pPr>
            <a:r>
              <a:rPr dirty="0" sz="700" spc="-10">
                <a:latin typeface="Courier New"/>
                <a:cs typeface="Courier New"/>
              </a:rPr>
              <a:t>/bin/csh</a:t>
            </a:r>
            <a:r>
              <a:rPr dirty="0" sz="750" spc="-10">
                <a:latin typeface="Georgia"/>
                <a:cs typeface="Georgia"/>
              </a:rPr>
              <a:t>;</a:t>
            </a:r>
            <a:r>
              <a:rPr dirty="0" sz="750" spc="100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/bin/ksh</a:t>
            </a:r>
            <a:r>
              <a:rPr dirty="0" sz="750" spc="-10">
                <a:latin typeface="Georgia"/>
                <a:cs typeface="Georgia"/>
              </a:rPr>
              <a:t>.</a:t>
            </a:r>
            <a:endParaRPr sz="7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700">
              <a:latin typeface="Georgia"/>
              <a:cs typeface="Georgia"/>
            </a:endParaRPr>
          </a:p>
          <a:p>
            <a:pPr algn="just" marL="17780" marR="5080">
              <a:lnSpc>
                <a:spcPts val="819"/>
              </a:lnSpc>
            </a:pPr>
            <a:r>
              <a:rPr dirty="0" sz="750" b="1">
                <a:latin typeface="Georgia"/>
                <a:cs typeface="Georgia"/>
              </a:rPr>
              <a:t>Формат</a:t>
            </a:r>
            <a:r>
              <a:rPr dirty="0" sz="750" spc="204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команды.</a:t>
            </a:r>
            <a:r>
              <a:rPr dirty="0" sz="750" spc="190" b="1">
                <a:latin typeface="Georgia"/>
                <a:cs typeface="Georgia"/>
              </a:rPr>
              <a:t>  </a:t>
            </a:r>
            <a:r>
              <a:rPr dirty="0" sz="750">
                <a:latin typeface="Georgia"/>
                <a:cs typeface="Georgia"/>
              </a:rPr>
              <a:t>Командой</a:t>
            </a:r>
            <a:r>
              <a:rPr dirty="0" sz="750" spc="2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204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операционной</a:t>
            </a:r>
            <a:r>
              <a:rPr dirty="0" sz="750" spc="2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системе</a:t>
            </a:r>
            <a:r>
              <a:rPr dirty="0" sz="750" spc="204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называется</a:t>
            </a:r>
            <a:r>
              <a:rPr dirty="0" sz="750" spc="2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записанный</a:t>
            </a:r>
            <a:r>
              <a:rPr dirty="0" sz="750" spc="210">
                <a:latin typeface="Georgia"/>
                <a:cs typeface="Georgia"/>
              </a:rPr>
              <a:t> </a:t>
            </a:r>
            <a:r>
              <a:rPr dirty="0" sz="750" spc="-25">
                <a:latin typeface="Georgia"/>
                <a:cs typeface="Georgia"/>
              </a:rPr>
              <a:t>по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специальным</a:t>
            </a:r>
            <a:r>
              <a:rPr dirty="0" sz="750" spc="4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правилам</a:t>
            </a:r>
            <a:r>
              <a:rPr dirty="0" sz="750" spc="3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текст</a:t>
            </a:r>
            <a:r>
              <a:rPr dirty="0" sz="750" spc="3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(возможно</a:t>
            </a:r>
            <a:r>
              <a:rPr dirty="0" sz="750" spc="4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409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аргументами),</a:t>
            </a:r>
            <a:r>
              <a:rPr dirty="0" sz="750" spc="39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представляющий</a:t>
            </a:r>
            <a:r>
              <a:rPr dirty="0" sz="750" spc="409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собой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указание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выполнение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какой-либо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функций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(или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действий)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операционной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системе.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Обычно</a:t>
            </a:r>
            <a:r>
              <a:rPr dirty="0" sz="750" spc="1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первым</a:t>
            </a:r>
            <a:r>
              <a:rPr dirty="0" sz="750" spc="1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словом</a:t>
            </a:r>
            <a:r>
              <a:rPr dirty="0" sz="750" spc="1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идёт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имя</a:t>
            </a:r>
            <a:r>
              <a:rPr dirty="0" sz="750" spc="1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команды,</a:t>
            </a:r>
            <a:r>
              <a:rPr dirty="0" sz="750" spc="1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остальной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текст</a:t>
            </a:r>
            <a:r>
              <a:rPr dirty="0" sz="750" spc="1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—</a:t>
            </a:r>
            <a:r>
              <a:rPr dirty="0" sz="750" spc="1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аргументы</a:t>
            </a:r>
            <a:r>
              <a:rPr dirty="0" sz="750" spc="1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или</a:t>
            </a:r>
            <a:r>
              <a:rPr dirty="0" sz="750" spc="1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опции,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конкретизирующие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действие.</a:t>
            </a:r>
            <a:endParaRPr sz="750">
              <a:latin typeface="Georgia"/>
              <a:cs typeface="Georgia"/>
            </a:endParaRPr>
          </a:p>
          <a:p>
            <a:pPr algn="just" marL="116205">
              <a:lnSpc>
                <a:spcPts val="869"/>
              </a:lnSpc>
            </a:pPr>
            <a:r>
              <a:rPr dirty="0" sz="750">
                <a:latin typeface="Georgia"/>
                <a:cs typeface="Georgia"/>
              </a:rPr>
              <a:t>Общий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формат команд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представить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следующим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образом:</a:t>
            </a:r>
            <a:endParaRPr sz="750">
              <a:latin typeface="Georgia"/>
              <a:cs typeface="Georgia"/>
            </a:endParaRPr>
          </a:p>
          <a:p>
            <a:pPr marL="17780">
              <a:lnSpc>
                <a:spcPts val="840"/>
              </a:lnSpc>
            </a:pPr>
            <a:r>
              <a:rPr dirty="0" sz="700" spc="-10">
                <a:latin typeface="Courier New"/>
                <a:cs typeface="Courier New"/>
              </a:rPr>
              <a:t>&lt;имя_команды&gt;&lt;разделитель&gt;&lt;аргументы&gt;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700">
              <a:latin typeface="Courier New"/>
              <a:cs typeface="Courier New"/>
            </a:endParaRPr>
          </a:p>
          <a:p>
            <a:pPr algn="just" marL="18415" marR="5715">
              <a:lnSpc>
                <a:spcPct val="93300"/>
              </a:lnSpc>
            </a:pPr>
            <a:r>
              <a:rPr dirty="0" sz="750" b="1">
                <a:latin typeface="Georgia"/>
                <a:cs typeface="Georgia"/>
              </a:rPr>
              <a:t>Команда</a:t>
            </a:r>
            <a:r>
              <a:rPr dirty="0" sz="750" spc="20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man.</a:t>
            </a:r>
            <a:r>
              <a:rPr dirty="0" sz="750" spc="30" b="1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Команда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используется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просмотра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(оперативная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помощь)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20">
                <a:latin typeface="Georgia"/>
                <a:cs typeface="Georgia"/>
              </a:rPr>
              <a:t>диа-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логовом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режиме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руководства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(manual)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основным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командам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операционной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системы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типа</a:t>
            </a:r>
            <a:r>
              <a:rPr dirty="0" sz="750" spc="-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Linux.</a:t>
            </a:r>
            <a:endParaRPr sz="750">
              <a:latin typeface="Georgia"/>
              <a:cs typeface="Georgia"/>
            </a:endParaRPr>
          </a:p>
          <a:p>
            <a:pPr algn="just" marL="116839">
              <a:lnSpc>
                <a:spcPts val="890"/>
              </a:lnSpc>
              <a:spcBef>
                <a:spcPts val="5"/>
              </a:spcBef>
            </a:pPr>
            <a:r>
              <a:rPr dirty="0" sz="750">
                <a:latin typeface="Georgia"/>
                <a:cs typeface="Georgia"/>
              </a:rPr>
              <a:t>Формат </a:t>
            </a:r>
            <a:r>
              <a:rPr dirty="0" sz="750" spc="-10">
                <a:latin typeface="Georgia"/>
                <a:cs typeface="Georgia"/>
              </a:rPr>
              <a:t>команды:</a:t>
            </a:r>
            <a:endParaRPr sz="750">
              <a:latin typeface="Georgia"/>
              <a:cs typeface="Georgia"/>
            </a:endParaRPr>
          </a:p>
          <a:p>
            <a:pPr marL="18415">
              <a:lnSpc>
                <a:spcPts val="830"/>
              </a:lnSpc>
            </a:pP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&lt;команда&gt;</a:t>
            </a:r>
            <a:endParaRPr sz="700">
              <a:latin typeface="Courier New"/>
              <a:cs typeface="Courier New"/>
            </a:endParaRPr>
          </a:p>
          <a:p>
            <a:pPr algn="just" marL="116839">
              <a:lnSpc>
                <a:spcPct val="100000"/>
              </a:lnSpc>
              <a:spcBef>
                <a:spcPts val="20"/>
              </a:spcBef>
            </a:pPr>
            <a:r>
              <a:rPr dirty="0" sz="750">
                <a:latin typeface="Georgia"/>
                <a:cs typeface="Georgia"/>
              </a:rPr>
              <a:t>Пример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(вывод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информации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команде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man</a:t>
            </a:r>
            <a:r>
              <a:rPr dirty="0" sz="750" spc="-10">
                <a:latin typeface="Georgia"/>
                <a:cs typeface="Georgia"/>
              </a:rPr>
              <a:t>):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063" y="4398204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1042" y="4595079"/>
            <a:ext cx="4034790" cy="249554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 indent="97790">
              <a:lnSpc>
                <a:spcPts val="860"/>
              </a:lnSpc>
              <a:spcBef>
                <a:spcPts val="160"/>
              </a:spcBef>
            </a:pP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управления просмотром результата выполнения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man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-10">
                <a:latin typeface="Georgia"/>
                <a:cs typeface="Georgia"/>
              </a:rPr>
              <a:t> использовать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следующие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клавиши: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5011" y="4831251"/>
            <a:ext cx="9271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 b="1">
                <a:latin typeface="Georgia"/>
                <a:cs typeface="Georgia"/>
              </a:rPr>
              <a:t>–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93791" y="4831251"/>
            <a:ext cx="25234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Georgia"/>
                <a:cs typeface="Georgia"/>
              </a:rPr>
              <a:t>—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перемещение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документу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одну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страницу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вперёд;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7546" y="4942228"/>
            <a:ext cx="4120515" cy="156337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94310" indent="-143510">
              <a:lnSpc>
                <a:spcPct val="100000"/>
              </a:lnSpc>
              <a:spcBef>
                <a:spcPts val="260"/>
              </a:spcBef>
              <a:buSzPct val="115384"/>
              <a:buFont typeface="Georgia"/>
              <a:buChar char="–"/>
              <a:tabLst>
                <a:tab pos="194310" algn="l"/>
              </a:tabLst>
            </a:pPr>
            <a:r>
              <a:rPr dirty="0" baseline="4273" sz="975">
                <a:latin typeface="Calibri"/>
                <a:cs typeface="Calibri"/>
              </a:rPr>
              <a:t>Enter</a:t>
            </a:r>
            <a:r>
              <a:rPr dirty="0" baseline="4273" sz="975" spc="427">
                <a:latin typeface="Calibri"/>
                <a:cs typeface="Calibri"/>
              </a:rPr>
              <a:t> </a:t>
            </a:r>
            <a:r>
              <a:rPr dirty="0" sz="750">
                <a:latin typeface="Georgia"/>
                <a:cs typeface="Georgia"/>
              </a:rPr>
              <a:t>—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перемещение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 </a:t>
            </a:r>
            <a:r>
              <a:rPr dirty="0" sz="750" spc="-10">
                <a:latin typeface="Georgia"/>
                <a:cs typeface="Georgia"/>
              </a:rPr>
              <a:t>документу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одну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строку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вперёд;</a:t>
            </a:r>
            <a:endParaRPr sz="750">
              <a:latin typeface="Georgia"/>
              <a:cs typeface="Georgia"/>
            </a:endParaRPr>
          </a:p>
          <a:p>
            <a:pPr marL="220979" indent="-170180">
              <a:lnSpc>
                <a:spcPct val="100000"/>
              </a:lnSpc>
              <a:spcBef>
                <a:spcPts val="165"/>
              </a:spcBef>
              <a:buSzPct val="115384"/>
              <a:buFont typeface="Georgia"/>
              <a:buChar char="–"/>
              <a:tabLst>
                <a:tab pos="220979" algn="l"/>
              </a:tabLst>
            </a:pPr>
            <a:r>
              <a:rPr dirty="0" baseline="8547" sz="975">
                <a:latin typeface="Calibri"/>
                <a:cs typeface="Calibri"/>
              </a:rPr>
              <a:t>q</a:t>
            </a:r>
            <a:r>
              <a:rPr dirty="0" baseline="8547" sz="975" spc="509">
                <a:latin typeface="Calibri"/>
                <a:cs typeface="Calibri"/>
              </a:rPr>
              <a:t> </a:t>
            </a:r>
            <a:r>
              <a:rPr dirty="0" sz="750">
                <a:latin typeface="Georgia"/>
                <a:cs typeface="Georgia"/>
              </a:rPr>
              <a:t>—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выход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из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режима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просмотра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описания.</a:t>
            </a:r>
            <a:endParaRPr sz="7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750">
              <a:latin typeface="Georgia"/>
              <a:cs typeface="Georgia"/>
            </a:endParaRPr>
          </a:p>
          <a:p>
            <a:pPr algn="just" marL="35560" marR="17780">
              <a:lnSpc>
                <a:spcPts val="860"/>
              </a:lnSpc>
            </a:pPr>
            <a:r>
              <a:rPr dirty="0" sz="750" b="1">
                <a:latin typeface="Georgia"/>
                <a:cs typeface="Georgia"/>
              </a:rPr>
              <a:t>Команда</a:t>
            </a:r>
            <a:r>
              <a:rPr dirty="0" sz="750" spc="320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cd.</a:t>
            </a:r>
            <a:r>
              <a:rPr dirty="0" sz="750" spc="204" b="1">
                <a:latin typeface="Georgia"/>
                <a:cs typeface="Georgia"/>
              </a:rPr>
              <a:t>  </a:t>
            </a:r>
            <a:r>
              <a:rPr dirty="0" sz="750">
                <a:latin typeface="Georgia"/>
                <a:cs typeface="Georgia"/>
              </a:rPr>
              <a:t>Команда</a:t>
            </a:r>
            <a:r>
              <a:rPr dirty="0" sz="750" spc="325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00" spc="265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используется</a:t>
            </a:r>
            <a:r>
              <a:rPr dirty="0" sz="750" spc="3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3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перемещения</a:t>
            </a:r>
            <a:r>
              <a:rPr dirty="0" sz="750" spc="3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</a:t>
            </a:r>
            <a:r>
              <a:rPr dirty="0" sz="750" spc="3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файловой</a:t>
            </a:r>
            <a:r>
              <a:rPr dirty="0" sz="750" spc="3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системе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операционной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системы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типа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Linux.</a:t>
            </a:r>
            <a:endParaRPr sz="750">
              <a:latin typeface="Georgia"/>
              <a:cs typeface="Georgia"/>
            </a:endParaRPr>
          </a:p>
          <a:p>
            <a:pPr algn="just" marL="35560" marR="17780">
              <a:lnSpc>
                <a:spcPct val="92000"/>
              </a:lnSpc>
              <a:spcBef>
                <a:spcPts val="550"/>
              </a:spcBef>
            </a:pPr>
            <a:r>
              <a:rPr dirty="0" sz="750" b="1">
                <a:latin typeface="Georgia"/>
                <a:cs typeface="Georgia"/>
              </a:rPr>
              <a:t>Замечание</a:t>
            </a:r>
            <a:r>
              <a:rPr dirty="0" sz="750" spc="140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1.</a:t>
            </a:r>
            <a:r>
              <a:rPr dirty="0" sz="750" spc="330" b="1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Файловая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система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ОС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типа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Linux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—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иерархическая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система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каталогов,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подкаталогов</a:t>
            </a:r>
            <a:r>
              <a:rPr dirty="0" sz="750" spc="27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2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файлов,</a:t>
            </a:r>
            <a:r>
              <a:rPr dirty="0" sz="750" spc="2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которые</a:t>
            </a:r>
            <a:r>
              <a:rPr dirty="0" sz="750" spc="2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обычно</a:t>
            </a:r>
            <a:r>
              <a:rPr dirty="0" sz="750" spc="2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организованы</a:t>
            </a:r>
            <a:r>
              <a:rPr dirty="0" sz="750" spc="2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2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сгруппированы</a:t>
            </a:r>
            <a:r>
              <a:rPr dirty="0" sz="750" spc="2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</a:t>
            </a:r>
            <a:r>
              <a:rPr dirty="0" sz="750" spc="28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функ-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циональному</a:t>
            </a:r>
            <a:r>
              <a:rPr dirty="0" sz="750" spc="204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признаку.</a:t>
            </a:r>
            <a:r>
              <a:rPr dirty="0" sz="750" spc="17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Самый</a:t>
            </a:r>
            <a:r>
              <a:rPr dirty="0" sz="750" spc="204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верхний</a:t>
            </a:r>
            <a:r>
              <a:rPr dirty="0" sz="750" spc="2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</a:t>
            </a:r>
            <a:r>
              <a:rPr dirty="0" sz="750" spc="1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204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иерархии</a:t>
            </a:r>
            <a:r>
              <a:rPr dirty="0" sz="750" spc="2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называется</a:t>
            </a:r>
            <a:r>
              <a:rPr dirty="0" sz="750" spc="204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корневым</a:t>
            </a:r>
            <a:r>
              <a:rPr dirty="0" sz="750" spc="250">
                <a:latin typeface="Georgia"/>
                <a:cs typeface="Georgia"/>
              </a:rPr>
              <a:t> </a:t>
            </a:r>
            <a:r>
              <a:rPr dirty="0" sz="750" spc="-50">
                <a:latin typeface="Georgia"/>
                <a:cs typeface="Georgia"/>
              </a:rPr>
              <a:t>и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обозначается</a:t>
            </a:r>
            <a:r>
              <a:rPr dirty="0" sz="750" spc="2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символом</a:t>
            </a:r>
            <a:r>
              <a:rPr dirty="0" sz="750" spc="305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/</a:t>
            </a:r>
            <a:r>
              <a:rPr dirty="0" sz="750">
                <a:latin typeface="Georgia"/>
                <a:cs typeface="Georgia"/>
              </a:rPr>
              <a:t>.</a:t>
            </a:r>
            <a:r>
              <a:rPr dirty="0" sz="750" spc="2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Корневой</a:t>
            </a:r>
            <a:r>
              <a:rPr dirty="0" sz="750" spc="2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</a:t>
            </a:r>
            <a:r>
              <a:rPr dirty="0" sz="750" spc="2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содержит</a:t>
            </a:r>
            <a:r>
              <a:rPr dirty="0" sz="750" spc="3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системные</a:t>
            </a:r>
            <a:r>
              <a:rPr dirty="0" sz="750" spc="2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файлы</a:t>
            </a:r>
            <a:r>
              <a:rPr dirty="0" sz="750" spc="2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29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другие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каталоги.</a:t>
            </a:r>
            <a:endParaRPr sz="750">
              <a:latin typeface="Georgia"/>
              <a:cs typeface="Georgia"/>
            </a:endParaRPr>
          </a:p>
          <a:p>
            <a:pPr algn="ctr" marR="3051810">
              <a:lnSpc>
                <a:spcPts val="900"/>
              </a:lnSpc>
              <a:spcBef>
                <a:spcPts val="690"/>
              </a:spcBef>
            </a:pPr>
            <a:r>
              <a:rPr dirty="0" sz="750">
                <a:latin typeface="Georgia"/>
                <a:cs typeface="Georgia"/>
              </a:rPr>
              <a:t>Формат </a:t>
            </a:r>
            <a:r>
              <a:rPr dirty="0" sz="750" spc="-10">
                <a:latin typeface="Georgia"/>
                <a:cs typeface="Georgia"/>
              </a:rPr>
              <a:t>команды:</a:t>
            </a:r>
            <a:endParaRPr sz="750">
              <a:latin typeface="Georgia"/>
              <a:cs typeface="Georgia"/>
            </a:endParaRPr>
          </a:p>
          <a:p>
            <a:pPr algn="ctr" marR="2990215">
              <a:lnSpc>
                <a:spcPts val="840"/>
              </a:lnSpc>
            </a:pPr>
            <a:r>
              <a:rPr dirty="0" sz="700">
                <a:latin typeface="Courier New"/>
                <a:cs typeface="Courier New"/>
              </a:rPr>
              <a:t>cd </a:t>
            </a:r>
            <a:r>
              <a:rPr dirty="0" sz="700" spc="-10">
                <a:latin typeface="Courier New"/>
                <a:cs typeface="Courier New"/>
              </a:rPr>
              <a:t>[путь_к_каталогу]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4004" y="434690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latin typeface="Courier New"/>
                <a:cs typeface="Courier New"/>
              </a:rPr>
              <a:t>manman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89276"/>
            <a:ext cx="13804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 i="1">
                <a:latin typeface="Georgia"/>
                <a:cs typeface="Georgia"/>
              </a:rPr>
              <a:t>КулябовД.С.идр.</a:t>
            </a:r>
            <a:r>
              <a:rPr dirty="0" sz="600" spc="-25">
                <a:latin typeface="Georgia"/>
                <a:cs typeface="Georgia"/>
              </a:rPr>
              <a:t>Операционныесистемы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5" y="389276"/>
            <a:ext cx="110489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Georgia"/>
                <a:cs typeface="Georgia"/>
              </a:rPr>
              <a:t>39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1021" y="638848"/>
            <a:ext cx="3977004" cy="37020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 indent="97790">
              <a:lnSpc>
                <a:spcPts val="860"/>
              </a:lnSpc>
              <a:spcBef>
                <a:spcPts val="160"/>
              </a:spcBef>
            </a:pPr>
            <a:r>
              <a:rPr dirty="0" sz="750">
                <a:latin typeface="Georgia"/>
                <a:cs typeface="Georgia"/>
              </a:rPr>
              <a:t>Для перехода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 </a:t>
            </a:r>
            <a:r>
              <a:rPr dirty="0" sz="750" spc="-10">
                <a:latin typeface="Georgia"/>
                <a:cs typeface="Georgia"/>
              </a:rPr>
              <a:t>домашний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пользователя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следует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использовать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команду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cd</a:t>
            </a:r>
            <a:r>
              <a:rPr dirty="0" sz="700" spc="-165">
                <a:latin typeface="Courier New"/>
                <a:cs typeface="Courier New"/>
              </a:rPr>
              <a:t> </a:t>
            </a:r>
            <a:r>
              <a:rPr dirty="0" sz="750" spc="-25">
                <a:latin typeface="Georgia"/>
                <a:cs typeface="Georgia"/>
              </a:rPr>
              <a:t>без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параметров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или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00" spc="-25">
                <a:latin typeface="Courier New"/>
                <a:cs typeface="Courier New"/>
              </a:rPr>
              <a:t> ~</a:t>
            </a:r>
            <a:r>
              <a:rPr dirty="0" sz="750" spc="-25">
                <a:latin typeface="Georgia"/>
                <a:cs typeface="Georgia"/>
              </a:rPr>
              <a:t>.</a:t>
            </a:r>
            <a:endParaRPr sz="750">
              <a:latin typeface="Georgia"/>
              <a:cs typeface="Georgia"/>
            </a:endParaRPr>
          </a:p>
          <a:p>
            <a:pPr marL="11112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Georgia"/>
                <a:cs typeface="Georgia"/>
              </a:rPr>
              <a:t>Например,</a:t>
            </a:r>
            <a:r>
              <a:rPr dirty="0" sz="750" spc="-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команда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0046" y="1125451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021" y="1324231"/>
            <a:ext cx="3955415" cy="249554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860"/>
              </a:lnSpc>
              <a:spcBef>
                <a:spcPts val="160"/>
              </a:spcBef>
            </a:pPr>
            <a:r>
              <a:rPr dirty="0" sz="750" spc="-10">
                <a:latin typeface="Georgia"/>
                <a:cs typeface="Georgia"/>
              </a:rPr>
              <a:t>позволяет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перейти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/afs/dk.sci.pfu.edu.ru/home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 spc="-10">
                <a:latin typeface="Georgia"/>
                <a:cs typeface="Georgia"/>
              </a:rPr>
              <a:t>(если такой</a:t>
            </a:r>
            <a:r>
              <a:rPr dirty="0" sz="750">
                <a:latin typeface="Georgia"/>
                <a:cs typeface="Georgia"/>
              </a:rPr>
              <a:t> существует),</a:t>
            </a:r>
            <a:r>
              <a:rPr dirty="0" sz="750" spc="254">
                <a:latin typeface="Georgia"/>
                <a:cs typeface="Georgia"/>
              </a:rPr>
              <a:t> </a:t>
            </a:r>
            <a:r>
              <a:rPr dirty="0" sz="750" spc="-50">
                <a:latin typeface="Georgia"/>
                <a:cs typeface="Georgia"/>
              </a:rPr>
              <a:t>а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того,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чтобы </a:t>
            </a:r>
            <a:r>
              <a:rPr dirty="0" sz="750" spc="-10">
                <a:latin typeface="Georgia"/>
                <a:cs typeface="Georgia"/>
              </a:rPr>
              <a:t>подняться</a:t>
            </a:r>
            <a:r>
              <a:rPr dirty="0" sz="750">
                <a:latin typeface="Georgia"/>
                <a:cs typeface="Georgia"/>
              </a:rPr>
              <a:t> выше на одну </a:t>
            </a:r>
            <a:r>
              <a:rPr dirty="0" sz="750" spc="-10">
                <a:latin typeface="Georgia"/>
                <a:cs typeface="Georgia"/>
              </a:rPr>
              <a:t>директорию,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следует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использовать: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046" y="1690963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9446" y="1890684"/>
            <a:ext cx="35667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Georgia"/>
                <a:cs typeface="Georgia"/>
              </a:rPr>
              <a:t>Подробнее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об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опциях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cd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смотри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справке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помощью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man</a:t>
            </a:r>
            <a:r>
              <a:rPr dirty="0" sz="750" spc="-20">
                <a:latin typeface="Georgia"/>
                <a:cs typeface="Georgia"/>
              </a:rPr>
              <a:t>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039" y="2153065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1014" y="2500953"/>
            <a:ext cx="3975735" cy="36449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810"/>
              </a:lnSpc>
              <a:spcBef>
                <a:spcPts val="200"/>
              </a:spcBef>
            </a:pPr>
            <a:r>
              <a:rPr dirty="0" sz="750" spc="-10" b="1">
                <a:latin typeface="Georgia"/>
                <a:cs typeface="Georgia"/>
              </a:rPr>
              <a:t>Команда </a:t>
            </a:r>
            <a:r>
              <a:rPr dirty="0" sz="750" b="1">
                <a:latin typeface="Georgia"/>
                <a:cs typeface="Georgia"/>
              </a:rPr>
              <a:t>pwd.</a:t>
            </a:r>
            <a:r>
              <a:rPr dirty="0" sz="750" spc="370" b="1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определения </a:t>
            </a:r>
            <a:r>
              <a:rPr dirty="0" sz="750">
                <a:latin typeface="Georgia"/>
                <a:cs typeface="Georgia"/>
              </a:rPr>
              <a:t>абсолютного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пути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</a:t>
            </a:r>
            <a:r>
              <a:rPr dirty="0" sz="750" spc="-10">
                <a:latin typeface="Georgia"/>
                <a:cs typeface="Georgia"/>
              </a:rPr>
              <a:t> текущему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каталогу</a:t>
            </a:r>
            <a:r>
              <a:rPr dirty="0" sz="750" spc="-10">
                <a:latin typeface="Georgia"/>
                <a:cs typeface="Georgia"/>
              </a:rPr>
              <a:t> используется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команда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pwd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 spc="-10">
                <a:latin typeface="Georgia"/>
                <a:cs typeface="Georgia"/>
              </a:rPr>
              <a:t>(print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working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directory).</a:t>
            </a:r>
            <a:endParaRPr sz="750">
              <a:latin typeface="Georgia"/>
              <a:cs typeface="Georgia"/>
            </a:endParaRPr>
          </a:p>
          <a:p>
            <a:pPr marL="111125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Georgia"/>
                <a:cs typeface="Georgia"/>
              </a:rPr>
              <a:t>Пример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(абсолютное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имя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текущего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каталога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пользователя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dharma):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0039" y="2981743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1014" y="3181465"/>
            <a:ext cx="4768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Georgia"/>
                <a:cs typeface="Georgia"/>
              </a:rPr>
              <a:t>результат: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0039" y="3438032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00039" y="3546552"/>
            <a:ext cx="5397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1014" y="3894440"/>
            <a:ext cx="4066540" cy="67691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just" marL="12700" marR="5080">
              <a:lnSpc>
                <a:spcPts val="819"/>
              </a:lnSpc>
              <a:spcBef>
                <a:spcPts val="190"/>
              </a:spcBef>
            </a:pPr>
            <a:r>
              <a:rPr dirty="0" sz="750" b="1">
                <a:latin typeface="Georgia"/>
                <a:cs typeface="Georgia"/>
              </a:rPr>
              <a:t>Сокращения</a:t>
            </a:r>
            <a:r>
              <a:rPr dirty="0" sz="750" spc="95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имён</a:t>
            </a:r>
            <a:r>
              <a:rPr dirty="0" sz="750" spc="95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файлов.</a:t>
            </a:r>
            <a:r>
              <a:rPr dirty="0" sz="750" spc="459" b="1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1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работе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командами,</a:t>
            </a:r>
            <a:r>
              <a:rPr dirty="0" sz="750" spc="7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качестве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аргументов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которых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выступает</a:t>
            </a:r>
            <a:r>
              <a:rPr dirty="0" sz="750" spc="1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путь</a:t>
            </a:r>
            <a:r>
              <a:rPr dirty="0" sz="750" spc="1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</a:t>
            </a:r>
            <a:r>
              <a:rPr dirty="0" sz="750" spc="165">
                <a:latin typeface="Georgia"/>
                <a:cs typeface="Georgia"/>
              </a:rPr>
              <a:t> </a:t>
            </a:r>
            <a:r>
              <a:rPr dirty="0" sz="750" spc="-20">
                <a:latin typeface="Georgia"/>
                <a:cs typeface="Georgia"/>
              </a:rPr>
              <a:t>какому-</a:t>
            </a:r>
            <a:r>
              <a:rPr dirty="0" sz="750">
                <a:latin typeface="Georgia"/>
                <a:cs typeface="Georgia"/>
              </a:rPr>
              <a:t>либо</a:t>
            </a:r>
            <a:r>
              <a:rPr dirty="0" sz="750" spc="1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каталогу</a:t>
            </a:r>
            <a:r>
              <a:rPr dirty="0" sz="750" spc="1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или</a:t>
            </a:r>
            <a:r>
              <a:rPr dirty="0" sz="750" spc="1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файлу,</a:t>
            </a:r>
            <a:r>
              <a:rPr dirty="0" sz="750" spc="1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1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использовать</a:t>
            </a:r>
            <a:r>
              <a:rPr dirty="0" sz="750" spc="16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сокращённую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запись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пути. </a:t>
            </a:r>
            <a:r>
              <a:rPr dirty="0" sz="750" spc="-10">
                <a:latin typeface="Georgia"/>
                <a:cs typeface="Georgia"/>
              </a:rPr>
              <a:t>Символы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сокращения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приведены</a:t>
            </a:r>
            <a:r>
              <a:rPr dirty="0" sz="750">
                <a:latin typeface="Georgia"/>
                <a:cs typeface="Georgia"/>
              </a:rPr>
              <a:t> в табл.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20">
                <a:latin typeface="Georgia"/>
                <a:cs typeface="Georgia"/>
                <a:hlinkClick r:id="rId2" action="ppaction://hlinksldjump"/>
              </a:rPr>
              <a:t>4.1.</a:t>
            </a:r>
            <a:endParaRPr sz="7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750">
              <a:latin typeface="Georgia"/>
              <a:cs typeface="Georgia"/>
            </a:endParaRPr>
          </a:p>
          <a:p>
            <a:pPr marL="3531235">
              <a:lnSpc>
                <a:spcPct val="100000"/>
              </a:lnSpc>
            </a:pPr>
            <a:r>
              <a:rPr dirty="0" sz="650" b="1">
                <a:latin typeface="Georgia"/>
                <a:cs typeface="Georgia"/>
              </a:rPr>
              <a:t>Таблица</a:t>
            </a:r>
            <a:r>
              <a:rPr dirty="0" sz="650" spc="-20" b="1">
                <a:latin typeface="Georgia"/>
                <a:cs typeface="Georgia"/>
              </a:rPr>
              <a:t> </a:t>
            </a:r>
            <a:r>
              <a:rPr dirty="0" sz="650" spc="-25" b="1">
                <a:latin typeface="Georgia"/>
                <a:cs typeface="Georgia"/>
              </a:rPr>
              <a:t>4.1</a:t>
            </a:r>
            <a:endParaRPr sz="650">
              <a:latin typeface="Georgia"/>
              <a:cs typeface="Georgia"/>
            </a:endParaRPr>
          </a:p>
          <a:p>
            <a:pPr marL="1221105">
              <a:lnSpc>
                <a:spcPct val="100000"/>
              </a:lnSpc>
              <a:spcBef>
                <a:spcPts val="70"/>
              </a:spcBef>
            </a:pPr>
            <a:r>
              <a:rPr dirty="0" sz="650" b="1">
                <a:latin typeface="Georgia"/>
                <a:cs typeface="Georgia"/>
              </a:rPr>
              <a:t>Символы</a:t>
            </a:r>
            <a:r>
              <a:rPr dirty="0" sz="650" spc="55" b="1">
                <a:latin typeface="Georgia"/>
                <a:cs typeface="Georgia"/>
              </a:rPr>
              <a:t> </a:t>
            </a:r>
            <a:r>
              <a:rPr dirty="0" sz="650" spc="-10" b="1">
                <a:latin typeface="Georgia"/>
                <a:cs typeface="Georgia"/>
              </a:rPr>
              <a:t>сокращения</a:t>
            </a:r>
            <a:r>
              <a:rPr dirty="0" sz="650" spc="65" b="1">
                <a:latin typeface="Georgia"/>
                <a:cs typeface="Georgia"/>
              </a:rPr>
              <a:t> </a:t>
            </a:r>
            <a:r>
              <a:rPr dirty="0" sz="650" b="1">
                <a:latin typeface="Georgia"/>
                <a:cs typeface="Georgia"/>
              </a:rPr>
              <a:t>имён</a:t>
            </a:r>
            <a:r>
              <a:rPr dirty="0" sz="650" spc="55" b="1">
                <a:latin typeface="Georgia"/>
                <a:cs typeface="Georgia"/>
              </a:rPr>
              <a:t> </a:t>
            </a:r>
            <a:r>
              <a:rPr dirty="0" sz="650" spc="-10" b="1">
                <a:latin typeface="Georgia"/>
                <a:cs typeface="Georgia"/>
              </a:rPr>
              <a:t>файлов</a:t>
            </a:r>
            <a:endParaRPr sz="650">
              <a:latin typeface="Georgia"/>
              <a:cs typeface="Georgia"/>
            </a:endParaRPr>
          </a:p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765935" y="4687722"/>
          <a:ext cx="1764664" cy="57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1172845"/>
              </a:tblGrid>
              <a:tr h="143510"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10">
                          <a:latin typeface="Georgia"/>
                          <a:cs typeface="Georgia"/>
                        </a:rPr>
                        <a:t>Символ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10">
                          <a:latin typeface="Georgia"/>
                          <a:cs typeface="Georgia"/>
                        </a:rPr>
                        <a:t>Значение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700" spc="-50">
                          <a:latin typeface="Courier New"/>
                          <a:cs typeface="Courier New"/>
                        </a:rPr>
                        <a:t>~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10">
                          <a:latin typeface="Georgia"/>
                          <a:cs typeface="Georgia"/>
                        </a:rPr>
                        <a:t>Домашний</a:t>
                      </a:r>
                      <a:r>
                        <a:rPr dirty="0" sz="750" spc="-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750" spc="-10">
                          <a:latin typeface="Georgia"/>
                          <a:cs typeface="Georgia"/>
                        </a:rPr>
                        <a:t>каталог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50">
                          <a:latin typeface="Georgia"/>
                          <a:cs typeface="Georgia"/>
                        </a:rPr>
                        <a:t>.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10">
                          <a:latin typeface="Georgia"/>
                          <a:cs typeface="Georgia"/>
                        </a:rPr>
                        <a:t>Текущий</a:t>
                      </a:r>
                      <a:r>
                        <a:rPr dirty="0" sz="750" spc="-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750" spc="-10">
                          <a:latin typeface="Georgia"/>
                          <a:cs typeface="Georgia"/>
                        </a:rPr>
                        <a:t>каталог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25">
                          <a:latin typeface="Georgia"/>
                          <a:cs typeface="Georgia"/>
                        </a:rPr>
                        <a:t>..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10">
                          <a:latin typeface="Georgia"/>
                          <a:cs typeface="Georgia"/>
                        </a:rPr>
                        <a:t>Родительский</a:t>
                      </a:r>
                      <a:r>
                        <a:rPr dirty="0" sz="750" spc="7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750" spc="-10">
                          <a:latin typeface="Georgia"/>
                          <a:cs typeface="Georgia"/>
                        </a:rPr>
                        <a:t>каталог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581025" y="5394794"/>
            <a:ext cx="4084320" cy="35306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L="12700" marR="5080" indent="97790">
              <a:lnSpc>
                <a:spcPct val="93200"/>
              </a:lnSpc>
              <a:spcBef>
                <a:spcPts val="160"/>
              </a:spcBef>
            </a:pPr>
            <a:r>
              <a:rPr dirty="0" sz="750">
                <a:latin typeface="Georgia"/>
                <a:cs typeface="Georgia"/>
              </a:rPr>
              <a:t>Например, в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команде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00" spc="-90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перемещения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файловой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системе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сокращённую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запись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пути</a:t>
            </a:r>
            <a:r>
              <a:rPr dirty="0" sz="750" spc="4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4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использовать</a:t>
            </a:r>
            <a:r>
              <a:rPr dirty="0" sz="750" spc="4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следующим</a:t>
            </a:r>
            <a:r>
              <a:rPr dirty="0" sz="750" spc="4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образом</a:t>
            </a:r>
            <a:r>
              <a:rPr dirty="0" sz="750" spc="4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(команды</a:t>
            </a:r>
            <a:r>
              <a:rPr dirty="0" sz="750" spc="409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чередуются</a:t>
            </a:r>
            <a:r>
              <a:rPr dirty="0" sz="750" spc="4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40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выводом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результата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выполнения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pwd</a:t>
            </a:r>
            <a:r>
              <a:rPr dirty="0" sz="750" spc="-10">
                <a:latin typeface="Georgia"/>
                <a:cs typeface="Georgia"/>
              </a:rPr>
              <a:t>):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00046" y="5870814"/>
            <a:ext cx="53975" cy="194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00046" y="6087220"/>
            <a:ext cx="54610" cy="194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3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4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94004" y="5819521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700">
              <a:latin typeface="Courier New"/>
              <a:cs typeface="Courier New"/>
            </a:endParaRPr>
          </a:p>
          <a:p>
            <a:pPr marL="36830">
              <a:lnSpc>
                <a:spcPct val="100000"/>
              </a:lnSpc>
            </a:pPr>
            <a:r>
              <a:rPr dirty="0" sz="700" spc="-10">
                <a:latin typeface="Courier New"/>
                <a:cs typeface="Courier New"/>
              </a:rPr>
              <a:t>/afs/dk.sci.pfu.edu.ru/home/d/h/dharma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94004" y="3386467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latin typeface="Courier New"/>
                <a:cs typeface="Courier New"/>
              </a:rPr>
              <a:t>/afs/dk.sci.pfu.edu.ru/home/d/h/dharma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94004" y="293032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94004" y="2101430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latin typeface="Courier New"/>
                <a:cs typeface="Courier New"/>
              </a:rPr>
              <a:t>man</a:t>
            </a: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94004" y="163945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-20">
                <a:latin typeface="Courier New"/>
                <a:cs typeface="Courier New"/>
              </a:rPr>
              <a:t>..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94004" y="1073812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-10">
                <a:latin typeface="Courier New"/>
                <a:cs typeface="Courier New"/>
              </a:rPr>
              <a:t>/afs/dk.sci.pfu.edu.ru/home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89276"/>
            <a:ext cx="11557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Georgia"/>
                <a:cs typeface="Georgia"/>
              </a:rPr>
              <a:t>40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7690" y="389276"/>
            <a:ext cx="302641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Georgia"/>
                <a:cs typeface="Georgia"/>
              </a:rPr>
              <a:t>Лабораторнаяработа№4.Основыинтерфейсавзаимодействияпользователяссистемой…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0840" y="717016"/>
            <a:ext cx="85090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5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6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65"/>
              </a:spcBef>
            </a:pPr>
            <a:r>
              <a:rPr dirty="0" sz="400" spc="-50">
                <a:latin typeface="Georgia"/>
                <a:cs typeface="Georgia"/>
              </a:rPr>
              <a:t>7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8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9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25">
                <a:latin typeface="Georgia"/>
                <a:cs typeface="Georgia"/>
              </a:rPr>
              <a:t>10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25">
                <a:latin typeface="Georgia"/>
                <a:cs typeface="Georgia"/>
              </a:rPr>
              <a:t>11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25">
                <a:latin typeface="Georgia"/>
                <a:cs typeface="Georgia"/>
              </a:rPr>
              <a:t>12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25">
                <a:latin typeface="Georgia"/>
                <a:cs typeface="Georgia"/>
              </a:rPr>
              <a:t>13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25">
                <a:latin typeface="Georgia"/>
                <a:cs typeface="Georgia"/>
              </a:rPr>
              <a:t>14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25">
                <a:latin typeface="Georgia"/>
                <a:cs typeface="Georgia"/>
              </a:rPr>
              <a:t>15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0840" y="1907567"/>
            <a:ext cx="73025" cy="194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Georgia"/>
                <a:cs typeface="Georgia"/>
              </a:rPr>
              <a:t>16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25">
                <a:latin typeface="Georgia"/>
                <a:cs typeface="Georgia"/>
              </a:rPr>
              <a:t>17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0840" y="2123973"/>
            <a:ext cx="74930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Georgia"/>
                <a:cs typeface="Georgia"/>
              </a:rPr>
              <a:t>18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1023" y="2471618"/>
            <a:ext cx="3904615" cy="47815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10489" marR="5080" indent="-98425">
              <a:lnSpc>
                <a:spcPts val="860"/>
              </a:lnSpc>
              <a:spcBef>
                <a:spcPts val="160"/>
              </a:spcBef>
            </a:pPr>
            <a:r>
              <a:rPr dirty="0" sz="750" spc="-10" b="1">
                <a:latin typeface="Georgia"/>
                <a:cs typeface="Georgia"/>
              </a:rPr>
              <a:t>Команда</a:t>
            </a:r>
            <a:r>
              <a:rPr dirty="0" sz="750" spc="-45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ls.</a:t>
            </a:r>
            <a:r>
              <a:rPr dirty="0" sz="750" spc="385" b="1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Команда</a:t>
            </a:r>
            <a:r>
              <a:rPr dirty="0" sz="750" spc="-45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ls</a:t>
            </a:r>
            <a:r>
              <a:rPr dirty="0" sz="700" spc="-245">
                <a:latin typeface="Courier New"/>
                <a:cs typeface="Courier New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используется</a:t>
            </a:r>
            <a:r>
              <a:rPr dirty="0" sz="750" spc="-4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для</a:t>
            </a:r>
            <a:r>
              <a:rPr dirty="0" sz="750" spc="-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просмотра</a:t>
            </a:r>
            <a:r>
              <a:rPr dirty="0" sz="750" spc="-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содержимого</a:t>
            </a:r>
            <a:r>
              <a:rPr dirty="0" sz="750" spc="-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каталога.</a:t>
            </a:r>
            <a:r>
              <a:rPr dirty="0" sz="750" spc="2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Формат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команды:</a:t>
            </a:r>
            <a:endParaRPr sz="750">
              <a:latin typeface="Georgia"/>
              <a:cs typeface="Georgia"/>
            </a:endParaRPr>
          </a:p>
          <a:p>
            <a:pPr marL="12700">
              <a:lnSpc>
                <a:spcPts val="815"/>
              </a:lnSpc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[-</a:t>
            </a:r>
            <a:r>
              <a:rPr dirty="0" sz="700">
                <a:latin typeface="Courier New"/>
                <a:cs typeface="Courier New"/>
              </a:rPr>
              <a:t>опции]</a:t>
            </a:r>
            <a:r>
              <a:rPr dirty="0" sz="700" spc="229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[путь]</a:t>
            </a:r>
            <a:endParaRPr sz="700">
              <a:latin typeface="Courier New"/>
              <a:cs typeface="Courier New"/>
            </a:endParaRPr>
          </a:p>
          <a:p>
            <a:pPr marL="110489">
              <a:lnSpc>
                <a:spcPct val="100000"/>
              </a:lnSpc>
              <a:spcBef>
                <a:spcPts val="65"/>
              </a:spcBef>
            </a:pPr>
            <a:r>
              <a:rPr dirty="0" sz="750" spc="-10">
                <a:latin typeface="Georgia"/>
                <a:cs typeface="Georgia"/>
              </a:rPr>
              <a:t>Пример: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048" y="3066315"/>
            <a:ext cx="55880" cy="95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3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4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5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6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7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8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9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1023" y="4130326"/>
            <a:ext cx="4086225" cy="45656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just" marL="12700" marR="5080" indent="97790">
              <a:lnSpc>
                <a:spcPct val="92300"/>
              </a:lnSpc>
              <a:spcBef>
                <a:spcPts val="170"/>
              </a:spcBef>
            </a:pPr>
            <a:r>
              <a:rPr dirty="0" sz="750">
                <a:latin typeface="Georgia"/>
                <a:cs typeface="Georgia"/>
              </a:rPr>
              <a:t>Некоторые</a:t>
            </a:r>
            <a:r>
              <a:rPr dirty="0" sz="750" spc="4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файлы</a:t>
            </a:r>
            <a:r>
              <a:rPr dirty="0" sz="750" spc="4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4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операционной</a:t>
            </a:r>
            <a:r>
              <a:rPr dirty="0" sz="750" spc="4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системе</a:t>
            </a:r>
            <a:r>
              <a:rPr dirty="0" sz="750" spc="4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скрыты</a:t>
            </a:r>
            <a:r>
              <a:rPr dirty="0" sz="750" spc="4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от</a:t>
            </a:r>
            <a:r>
              <a:rPr dirty="0" sz="750" spc="459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просмотра</a:t>
            </a:r>
            <a:r>
              <a:rPr dirty="0" sz="750" spc="4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484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обычно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используются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настройки</a:t>
            </a:r>
            <a:r>
              <a:rPr dirty="0" sz="750" spc="1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рабочей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среды.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Имена</a:t>
            </a:r>
            <a:r>
              <a:rPr dirty="0" sz="750" spc="1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таких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файлов</a:t>
            </a:r>
            <a:r>
              <a:rPr dirty="0" sz="750" spc="1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начинаются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точки.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2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того,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чтобы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отобразить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имена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скрытых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файлов,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необходимо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использовать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команду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ls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опцией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</a:t>
            </a:r>
            <a:r>
              <a:rPr dirty="0" sz="750" spc="-25">
                <a:latin typeface="Georgia"/>
                <a:cs typeface="Georgia"/>
              </a:rPr>
              <a:t>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0048" y="4710456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023" y="4908843"/>
            <a:ext cx="4078604" cy="68199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L="12700" marR="5080" indent="97790">
              <a:lnSpc>
                <a:spcPct val="93200"/>
              </a:lnSpc>
              <a:spcBef>
                <a:spcPts val="160"/>
              </a:spcBef>
            </a:pP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1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также</a:t>
            </a:r>
            <a:r>
              <a:rPr dirty="0" sz="750" spc="16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получить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информацию</a:t>
            </a:r>
            <a:r>
              <a:rPr dirty="0" sz="750" spc="16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</a:t>
            </a:r>
            <a:r>
              <a:rPr dirty="0" sz="750" spc="1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типах</a:t>
            </a:r>
            <a:r>
              <a:rPr dirty="0" sz="750" spc="1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файлов</a:t>
            </a:r>
            <a:r>
              <a:rPr dirty="0" sz="750" spc="16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(каталог,</a:t>
            </a:r>
            <a:r>
              <a:rPr dirty="0" sz="750" spc="1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исполняемый</a:t>
            </a:r>
            <a:r>
              <a:rPr dirty="0" sz="750" spc="15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файл,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ссылка),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1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чего</a:t>
            </a:r>
            <a:r>
              <a:rPr dirty="0" sz="750" spc="1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используется</a:t>
            </a:r>
            <a:r>
              <a:rPr dirty="0" sz="750" spc="1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опция</a:t>
            </a:r>
            <a:r>
              <a:rPr dirty="0" sz="750" spc="114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F</a:t>
            </a:r>
            <a:r>
              <a:rPr dirty="0" sz="750">
                <a:latin typeface="Georgia"/>
                <a:cs typeface="Georgia"/>
              </a:rPr>
              <a:t>.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</a:t>
            </a:r>
            <a:r>
              <a:rPr dirty="0" sz="750" spc="1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использовании</a:t>
            </a:r>
            <a:r>
              <a:rPr dirty="0" sz="750" spc="1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этой</a:t>
            </a:r>
            <a:r>
              <a:rPr dirty="0" sz="750" spc="1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опции</a:t>
            </a:r>
            <a:r>
              <a:rPr dirty="0" sz="750" spc="1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1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поле</a:t>
            </a:r>
            <a:r>
              <a:rPr dirty="0" sz="750" spc="1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имени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выводится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символ,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который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определяет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тип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файла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(см.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табл.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20">
                <a:latin typeface="Georgia"/>
                <a:cs typeface="Georgia"/>
                <a:hlinkClick r:id="rId2" action="ppaction://hlinksldjump"/>
              </a:rPr>
              <a:t>4.2)</a:t>
            </a:r>
            <a:endParaRPr sz="7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750">
              <a:latin typeface="Georgia"/>
              <a:cs typeface="Georgia"/>
            </a:endParaRPr>
          </a:p>
          <a:p>
            <a:pPr marL="3525520">
              <a:lnSpc>
                <a:spcPct val="100000"/>
              </a:lnSpc>
            </a:pPr>
            <a:r>
              <a:rPr dirty="0" sz="650" b="1">
                <a:latin typeface="Georgia"/>
                <a:cs typeface="Georgia"/>
              </a:rPr>
              <a:t>Таблица</a:t>
            </a:r>
            <a:r>
              <a:rPr dirty="0" sz="650" spc="-20" b="1">
                <a:latin typeface="Georgia"/>
                <a:cs typeface="Georgia"/>
              </a:rPr>
              <a:t> </a:t>
            </a:r>
            <a:r>
              <a:rPr dirty="0" sz="650" spc="-25" b="1">
                <a:latin typeface="Georgia"/>
                <a:cs typeface="Georgia"/>
              </a:rPr>
              <a:t>4.2</a:t>
            </a:r>
            <a:endParaRPr sz="650">
              <a:latin typeface="Georgia"/>
              <a:cs typeface="Georgia"/>
            </a:endParaRPr>
          </a:p>
          <a:p>
            <a:pPr marL="1086485">
              <a:lnSpc>
                <a:spcPct val="100000"/>
              </a:lnSpc>
              <a:spcBef>
                <a:spcPts val="75"/>
              </a:spcBef>
            </a:pPr>
            <a:r>
              <a:rPr dirty="0" sz="650" b="1">
                <a:latin typeface="Georgia"/>
                <a:cs typeface="Georgia"/>
              </a:rPr>
              <a:t>Символ,</a:t>
            </a:r>
            <a:r>
              <a:rPr dirty="0" sz="650" spc="150" b="1">
                <a:latin typeface="Georgia"/>
                <a:cs typeface="Georgia"/>
              </a:rPr>
              <a:t> </a:t>
            </a:r>
            <a:r>
              <a:rPr dirty="0" sz="650" b="1">
                <a:latin typeface="Georgia"/>
                <a:cs typeface="Georgia"/>
              </a:rPr>
              <a:t>который</a:t>
            </a:r>
            <a:r>
              <a:rPr dirty="0" sz="650" spc="204" b="1">
                <a:latin typeface="Georgia"/>
                <a:cs typeface="Georgia"/>
              </a:rPr>
              <a:t> </a:t>
            </a:r>
            <a:r>
              <a:rPr dirty="0" sz="650" b="1">
                <a:latin typeface="Georgia"/>
                <a:cs typeface="Georgia"/>
              </a:rPr>
              <a:t>определяет</a:t>
            </a:r>
            <a:r>
              <a:rPr dirty="0" sz="650" spc="155" b="1">
                <a:latin typeface="Georgia"/>
                <a:cs typeface="Georgia"/>
              </a:rPr>
              <a:t> </a:t>
            </a:r>
            <a:r>
              <a:rPr dirty="0" sz="650" b="1">
                <a:latin typeface="Georgia"/>
                <a:cs typeface="Georgia"/>
              </a:rPr>
              <a:t>тип</a:t>
            </a:r>
            <a:r>
              <a:rPr dirty="0" sz="650" spc="200" b="1">
                <a:latin typeface="Georgia"/>
                <a:cs typeface="Georgia"/>
              </a:rPr>
              <a:t> </a:t>
            </a:r>
            <a:r>
              <a:rPr dirty="0" sz="650" spc="-10" b="1">
                <a:latin typeface="Georgia"/>
                <a:cs typeface="Georgia"/>
              </a:rPr>
              <a:t>файла</a:t>
            </a:r>
            <a:endParaRPr sz="650">
              <a:latin typeface="Georgia"/>
              <a:cs typeface="Georgia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1819910" y="5707062"/>
          <a:ext cx="1656714" cy="572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895"/>
                <a:gridCol w="509269"/>
              </a:tblGrid>
              <a:tr h="142875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>
                          <a:latin typeface="Georgia"/>
                          <a:cs typeface="Georgia"/>
                        </a:rPr>
                        <a:t>Тип</a:t>
                      </a:r>
                      <a:r>
                        <a:rPr dirty="0" sz="750" spc="-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750" spc="-10">
                          <a:latin typeface="Georgia"/>
                          <a:cs typeface="Georgia"/>
                        </a:rPr>
                        <a:t>файла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10">
                          <a:latin typeface="Georgia"/>
                          <a:cs typeface="Georgia"/>
                        </a:rPr>
                        <a:t>Символ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10">
                          <a:latin typeface="Georgia"/>
                          <a:cs typeface="Georgia"/>
                        </a:rPr>
                        <a:t>Каталог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50">
                          <a:latin typeface="Georgia"/>
                          <a:cs typeface="Georgia"/>
                        </a:rPr>
                        <a:t>/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>
                          <a:latin typeface="Georgia"/>
                          <a:cs typeface="Georgia"/>
                        </a:rPr>
                        <a:t>Исполняемый</a:t>
                      </a:r>
                      <a:r>
                        <a:rPr dirty="0" sz="750" spc="1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750" spc="-20">
                          <a:latin typeface="Georgia"/>
                          <a:cs typeface="Georgia"/>
                        </a:rPr>
                        <a:t>файл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50">
                          <a:latin typeface="Georgia"/>
                          <a:cs typeface="Georgia"/>
                        </a:rPr>
                        <a:t>*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10">
                          <a:latin typeface="Georgia"/>
                          <a:cs typeface="Georgia"/>
                        </a:rPr>
                        <a:t>Ссылка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700" spc="-50">
                          <a:latin typeface="Courier New"/>
                          <a:cs typeface="Courier New"/>
                        </a:rPr>
                        <a:t>@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594004" y="4658652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20">
                <a:latin typeface="Courier New"/>
                <a:cs typeface="Courier New"/>
              </a:rPr>
              <a:t>ls-</a:t>
            </a:r>
            <a:r>
              <a:rPr dirty="0" sz="700" spc="-50">
                <a:latin typeface="Courier New"/>
                <a:cs typeface="Courier New"/>
              </a:rPr>
              <a:t>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4004" y="3014446"/>
            <a:ext cx="4032250" cy="109855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0955" rIns="0" bIns="0" rtlCol="0" vert="horz">
            <a:spAutoFit/>
          </a:bodyPr>
          <a:lstStyle/>
          <a:p>
            <a:pPr marL="36830" marR="3719829">
              <a:lnSpc>
                <a:spcPct val="106500"/>
              </a:lnSpc>
              <a:spcBef>
                <a:spcPts val="16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 </a:t>
            </a: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-20">
                <a:latin typeface="Courier New"/>
                <a:cs typeface="Courier New"/>
              </a:rPr>
              <a:t>..</a:t>
            </a: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p </a:t>
            </a: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wd</a:t>
            </a:r>
            <a:endParaRPr sz="700">
              <a:latin typeface="Courier New"/>
              <a:cs typeface="Courier New"/>
            </a:endParaRPr>
          </a:p>
          <a:p>
            <a:pPr marL="37465" marR="2319020">
              <a:lnSpc>
                <a:spcPts val="1789"/>
              </a:lnSpc>
              <a:spcBef>
                <a:spcPts val="219"/>
              </a:spcBef>
            </a:pPr>
            <a:r>
              <a:rPr dirty="0" sz="700" spc="-25">
                <a:latin typeface="Courier New"/>
                <a:cs typeface="Courier New"/>
              </a:rPr>
              <a:t>/afs/dk.sci.pfu.edu.ru/home/d/hl </a:t>
            </a:r>
            <a:r>
              <a:rPr dirty="0" sz="700" spc="-50">
                <a:latin typeface="Courier New"/>
                <a:cs typeface="Courier New"/>
              </a:rPr>
              <a:t>s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725"/>
              </a:spcBef>
            </a:pPr>
            <a:r>
              <a:rPr dirty="0" sz="700" spc="-10">
                <a:latin typeface="Courier New"/>
                <a:cs typeface="Courier New"/>
              </a:rPr>
              <a:t>dharma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4004" y="665473"/>
            <a:ext cx="4032250" cy="166687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0955" rIns="0" bIns="0" rtlCol="0" vert="horz">
            <a:spAutoFit/>
          </a:bodyPr>
          <a:lstStyle/>
          <a:p>
            <a:pPr marL="37465" marR="3719829">
              <a:lnSpc>
                <a:spcPct val="106600"/>
              </a:lnSpc>
              <a:spcBef>
                <a:spcPts val="165"/>
              </a:spcBef>
            </a:pP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-20">
                <a:latin typeface="Courier New"/>
                <a:cs typeface="Courier New"/>
              </a:rPr>
              <a:t>..</a:t>
            </a: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p </a:t>
            </a: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wd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 spc="-10">
                <a:latin typeface="Courier New"/>
                <a:cs typeface="Courier New"/>
              </a:rPr>
              <a:t>/afs/dk.sci.pfu.edu.ru/home/d/h</a:t>
            </a: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c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700">
              <a:latin typeface="Courier New"/>
              <a:cs typeface="Courier New"/>
            </a:endParaRPr>
          </a:p>
          <a:p>
            <a:pPr marL="37465" marR="3666490">
              <a:lnSpc>
                <a:spcPts val="760"/>
              </a:lnSpc>
            </a:pP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d</a:t>
            </a:r>
            <a:r>
              <a:rPr dirty="0" sz="700" spc="-20">
                <a:latin typeface="Courier New"/>
                <a:cs typeface="Courier New"/>
              </a:rPr>
              <a:t>../.. </a:t>
            </a: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 marL="37465" marR="2527300">
              <a:lnSpc>
                <a:spcPct val="208300"/>
              </a:lnSpc>
              <a:spcBef>
                <a:spcPts val="10"/>
              </a:spcBef>
            </a:pPr>
            <a:r>
              <a:rPr dirty="0" sz="700" spc="-25">
                <a:latin typeface="Courier New"/>
                <a:cs typeface="Courier New"/>
              </a:rPr>
              <a:t>/afs/dk.sci.pfu.edu.ru/home</a:t>
            </a: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 </a:t>
            </a: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d</a:t>
            </a:r>
            <a:r>
              <a:rPr dirty="0" sz="700" spc="-10">
                <a:latin typeface="Courier New"/>
                <a:cs typeface="Courier New"/>
              </a:rPr>
              <a:t>~/work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 spc="-10">
                <a:latin typeface="Courier New"/>
                <a:cs typeface="Courier New"/>
              </a:rPr>
              <a:t>/afs/dk.sci.pfu.edu.ru/home/d/h/dharma/work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89276"/>
            <a:ext cx="13804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 i="1">
                <a:latin typeface="Georgia"/>
                <a:cs typeface="Georgia"/>
              </a:rPr>
              <a:t>КулябовД.С.идр.</a:t>
            </a:r>
            <a:r>
              <a:rPr dirty="0" sz="600" spc="-25">
                <a:latin typeface="Georgia"/>
                <a:cs typeface="Georgia"/>
              </a:rPr>
              <a:t>Операционныесистемы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5" y="38927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Georgia"/>
                <a:cs typeface="Georgia"/>
              </a:rPr>
              <a:t>41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1024" y="639089"/>
            <a:ext cx="4063365" cy="124269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L="12700" marR="5080" indent="97790">
              <a:lnSpc>
                <a:spcPct val="93200"/>
              </a:lnSpc>
              <a:spcBef>
                <a:spcPts val="160"/>
              </a:spcBef>
            </a:pPr>
            <a:r>
              <a:rPr dirty="0" sz="750">
                <a:latin typeface="Georgia"/>
                <a:cs typeface="Georgia"/>
              </a:rPr>
              <a:t>Чтобы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вывести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экран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подробную</a:t>
            </a:r>
            <a:r>
              <a:rPr dirty="0" sz="750" spc="9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информацию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файлах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каталогах,</a:t>
            </a:r>
            <a:r>
              <a:rPr dirty="0" sz="750" spc="9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необходимо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использовать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опцию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l</a:t>
            </a:r>
            <a:r>
              <a:rPr dirty="0" sz="750">
                <a:latin typeface="Georgia"/>
                <a:cs typeface="Georgia"/>
              </a:rPr>
              <a:t>.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этом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каждом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файле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каталоге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будет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выведена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следующая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информация:</a:t>
            </a:r>
            <a:endParaRPr sz="750">
              <a:latin typeface="Georgia"/>
              <a:cs typeface="Georgia"/>
            </a:endParaRPr>
          </a:p>
          <a:p>
            <a:pPr marL="142240" indent="-116205">
              <a:lnSpc>
                <a:spcPts val="880"/>
              </a:lnSpc>
              <a:buFont typeface="Georgia"/>
              <a:buChar char="–"/>
              <a:tabLst>
                <a:tab pos="142240" algn="l"/>
              </a:tabLst>
            </a:pPr>
            <a:r>
              <a:rPr dirty="0" sz="750">
                <a:latin typeface="Georgia"/>
                <a:cs typeface="Georgia"/>
              </a:rPr>
              <a:t>тип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файла,</a:t>
            </a:r>
            <a:endParaRPr sz="750">
              <a:latin typeface="Georgia"/>
              <a:cs typeface="Georgia"/>
            </a:endParaRPr>
          </a:p>
          <a:p>
            <a:pPr marL="142240" indent="-116205">
              <a:lnSpc>
                <a:spcPts val="894"/>
              </a:lnSpc>
              <a:buFont typeface="Georgia"/>
              <a:buChar char="–"/>
              <a:tabLst>
                <a:tab pos="142240" algn="l"/>
              </a:tabLst>
            </a:pPr>
            <a:r>
              <a:rPr dirty="0" sz="750">
                <a:latin typeface="Georgia"/>
                <a:cs typeface="Georgia"/>
              </a:rPr>
              <a:t>право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доступа,</a:t>
            </a:r>
            <a:endParaRPr sz="750">
              <a:latin typeface="Georgia"/>
              <a:cs typeface="Georgia"/>
            </a:endParaRPr>
          </a:p>
          <a:p>
            <a:pPr marL="142240" indent="-116205">
              <a:lnSpc>
                <a:spcPts val="894"/>
              </a:lnSpc>
              <a:buFont typeface="Georgia"/>
              <a:buChar char="–"/>
              <a:tabLst>
                <a:tab pos="142240" algn="l"/>
              </a:tabLst>
            </a:pPr>
            <a:r>
              <a:rPr dirty="0" sz="750">
                <a:latin typeface="Georgia"/>
                <a:cs typeface="Georgia"/>
              </a:rPr>
              <a:t>число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ссылок,</a:t>
            </a:r>
            <a:endParaRPr sz="750">
              <a:latin typeface="Georgia"/>
              <a:cs typeface="Georgia"/>
            </a:endParaRPr>
          </a:p>
          <a:p>
            <a:pPr marL="142240" indent="-116205">
              <a:lnSpc>
                <a:spcPts val="894"/>
              </a:lnSpc>
              <a:buFont typeface="Georgia"/>
              <a:buChar char="–"/>
              <a:tabLst>
                <a:tab pos="142240" algn="l"/>
              </a:tabLst>
            </a:pPr>
            <a:r>
              <a:rPr dirty="0" sz="750" spc="-10">
                <a:latin typeface="Georgia"/>
                <a:cs typeface="Georgia"/>
              </a:rPr>
              <a:t>владелец,</a:t>
            </a:r>
            <a:endParaRPr sz="750">
              <a:latin typeface="Georgia"/>
              <a:cs typeface="Georgia"/>
            </a:endParaRPr>
          </a:p>
          <a:p>
            <a:pPr marL="142240" indent="-116205">
              <a:lnSpc>
                <a:spcPts val="894"/>
              </a:lnSpc>
              <a:buFont typeface="Georgia"/>
              <a:buChar char="–"/>
              <a:tabLst>
                <a:tab pos="142240" algn="l"/>
              </a:tabLst>
            </a:pPr>
            <a:r>
              <a:rPr dirty="0" sz="750" spc="-10">
                <a:latin typeface="Georgia"/>
                <a:cs typeface="Georgia"/>
              </a:rPr>
              <a:t>размер,</a:t>
            </a:r>
            <a:endParaRPr sz="750">
              <a:latin typeface="Georgia"/>
              <a:cs typeface="Georgia"/>
            </a:endParaRPr>
          </a:p>
          <a:p>
            <a:pPr marL="142240" indent="-116205">
              <a:lnSpc>
                <a:spcPts val="860"/>
              </a:lnSpc>
              <a:buFont typeface="Georgia"/>
              <a:buChar char="–"/>
              <a:tabLst>
                <a:tab pos="142240" algn="l"/>
              </a:tabLst>
            </a:pPr>
            <a:r>
              <a:rPr dirty="0" sz="750">
                <a:latin typeface="Georgia"/>
                <a:cs typeface="Georgia"/>
              </a:rPr>
              <a:t>дата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последней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ревизии,</a:t>
            </a:r>
            <a:endParaRPr sz="750">
              <a:latin typeface="Georgia"/>
              <a:cs typeface="Georgia"/>
            </a:endParaRPr>
          </a:p>
          <a:p>
            <a:pPr marL="109220" marR="2802890" indent="-83185">
              <a:lnSpc>
                <a:spcPts val="819"/>
              </a:lnSpc>
              <a:spcBef>
                <a:spcPts val="55"/>
              </a:spcBef>
              <a:buFont typeface="Georgia"/>
              <a:buChar char="–"/>
              <a:tabLst>
                <a:tab pos="110489" algn="l"/>
              </a:tabLst>
            </a:pPr>
            <a:r>
              <a:rPr dirty="0" sz="750">
                <a:latin typeface="Georgia"/>
                <a:cs typeface="Georgia"/>
              </a:rPr>
              <a:t>имя</a:t>
            </a:r>
            <a:r>
              <a:rPr dirty="0" sz="750" spc="1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файла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или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каталога.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 spc="-10">
                <a:latin typeface="Georgia"/>
                <a:cs typeface="Georgia"/>
              </a:rPr>
              <a:t>Пример: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0049" y="1999353"/>
            <a:ext cx="53975" cy="194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9449" y="2306960"/>
            <a:ext cx="4806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Georgia"/>
                <a:cs typeface="Georgia"/>
              </a:rPr>
              <a:t>Результат: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049" y="2563527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049" y="2671412"/>
            <a:ext cx="5397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79449" y="2871134"/>
            <a:ext cx="12547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этом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же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каталоге команда</a:t>
            </a:r>
            <a:endParaRPr sz="750">
              <a:latin typeface="Georgia"/>
              <a:cs typeface="Georgia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367917" y="3079369"/>
          <a:ext cx="4339590" cy="2216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060"/>
                <a:gridCol w="1779270"/>
                <a:gridCol w="2257424"/>
              </a:tblGrid>
              <a:tr h="18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1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ls</a:t>
                      </a:r>
                      <a:r>
                        <a:rPr dirty="0" sz="700" spc="1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 spc="-2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700" spc="-25">
                          <a:latin typeface="Courier New"/>
                          <a:cs typeface="Courier New"/>
                        </a:rPr>
                        <a:t>alF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794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750">
                          <a:latin typeface="Georgia"/>
                          <a:cs typeface="Georgia"/>
                        </a:rPr>
                        <a:t>даст</a:t>
                      </a:r>
                      <a:r>
                        <a:rPr dirty="0" sz="750" spc="1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750">
                          <a:latin typeface="Georgia"/>
                          <a:cs typeface="Georgia"/>
                        </a:rPr>
                        <a:t>примерно</a:t>
                      </a:r>
                      <a:r>
                        <a:rPr dirty="0" sz="750" spc="4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750" spc="-10">
                          <a:latin typeface="Georgia"/>
                          <a:cs typeface="Georgia"/>
                        </a:rPr>
                        <a:t>следующий</a:t>
                      </a:r>
                      <a:r>
                        <a:rPr dirty="0" sz="750" spc="3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750" spc="-10">
                          <a:latin typeface="Georgia"/>
                          <a:cs typeface="Georgia"/>
                        </a:rPr>
                        <a:t>результат: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B="0" marT="692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20014">
                <a:tc>
                  <a:txBody>
                    <a:bodyPr/>
                    <a:lstStyle/>
                    <a:p>
                      <a:pPr marL="48895">
                        <a:lnSpc>
                          <a:spcPts val="434"/>
                        </a:lnSpc>
                        <a:spcBef>
                          <a:spcPts val="409"/>
                        </a:spcBef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1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710"/>
                        </a:lnSpc>
                        <a:spcBef>
                          <a:spcPts val="14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21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 root</a:t>
                      </a:r>
                      <a:r>
                        <a:rPr dirty="0" sz="600" spc="2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778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710"/>
                        </a:lnSpc>
                        <a:spcBef>
                          <a:spcPts val="140"/>
                        </a:spcBef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:00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./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778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48895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2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21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 root</a:t>
                      </a:r>
                      <a:r>
                        <a:rPr dirty="0" sz="600" spc="2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:00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../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48895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3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  <a:tabLst>
                          <a:tab pos="673735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6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2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:57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bin/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marL="48895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4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  <a:tabLst>
                          <a:tab pos="673735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6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2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Apr.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r>
                        <a:rPr dirty="0" sz="600" spc="2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2008</a:t>
                      </a:r>
                      <a:r>
                        <a:rPr dirty="0" sz="600" spc="-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boot/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48895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5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2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r>
                        <a:rPr dirty="0" sz="600" spc="-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 root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14120</a:t>
                      </a:r>
                      <a:r>
                        <a:rPr dirty="0" sz="600" spc="-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:48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dev/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marL="48895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6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170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12288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:19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etc/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48895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7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  <a:tabLst>
                          <a:tab pos="673735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6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2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Aug.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r>
                        <a:rPr dirty="0" sz="600" spc="3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2009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home/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marL="48895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8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635"/>
                        </a:lnSpc>
                        <a:tabLst>
                          <a:tab pos="631190" algn="l"/>
                          <a:tab pos="1408430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lrwxrwxrwx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5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:01 lib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&gt;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lib64/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marL="48895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50">
                          <a:latin typeface="Georgia"/>
                          <a:cs typeface="Georgia"/>
                        </a:rPr>
                        <a:t>9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  <a:tabLst>
                          <a:tab pos="673735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6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2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30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21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:41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media/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0320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25">
                          <a:latin typeface="Georgia"/>
                          <a:cs typeface="Georgia"/>
                        </a:rPr>
                        <a:t>10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  <a:tabLst>
                          <a:tab pos="673735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6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2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2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2010</a:t>
                      </a:r>
                      <a:r>
                        <a:rPr dirty="0" sz="600" spc="-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mnt/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marL="20320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25">
                          <a:latin typeface="Georgia"/>
                          <a:cs typeface="Georgia"/>
                        </a:rPr>
                        <a:t>11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25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 root</a:t>
                      </a:r>
                      <a:r>
                        <a:rPr dirty="0" sz="600" spc="2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:55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opt/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0320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25">
                          <a:latin typeface="Georgia"/>
                          <a:cs typeface="Georgia"/>
                        </a:rPr>
                        <a:t>12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635"/>
                        </a:lnSpc>
                        <a:tabLst>
                          <a:tab pos="1408430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dr-xr-xr-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163</a:t>
                      </a:r>
                      <a:r>
                        <a:rPr dirty="0" sz="600" spc="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:17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proc/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marL="20320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25">
                          <a:latin typeface="Georgia"/>
                          <a:cs typeface="Georgia"/>
                        </a:rPr>
                        <a:t>13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31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 root</a:t>
                      </a:r>
                      <a:r>
                        <a:rPr dirty="0" sz="600" spc="2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23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:57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root/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marL="20320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25">
                          <a:latin typeface="Georgia"/>
                          <a:cs typeface="Georgia"/>
                        </a:rPr>
                        <a:t>14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35"/>
                        </a:lnSpc>
                        <a:tabLst>
                          <a:tab pos="673735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6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1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12288</a:t>
                      </a:r>
                      <a:r>
                        <a:rPr dirty="0" sz="6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:57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sbin/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0320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25">
                          <a:latin typeface="Georgia"/>
                          <a:cs typeface="Georgia"/>
                        </a:rPr>
                        <a:t>15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635"/>
                        </a:lnSpc>
                        <a:tabLst>
                          <a:tab pos="1408430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2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r>
                        <a:rPr dirty="0" sz="600" spc="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:17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sys/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marL="20320">
                        <a:lnSpc>
                          <a:spcPts val="440"/>
                        </a:lnSpc>
                        <a:spcBef>
                          <a:spcPts val="195"/>
                        </a:spcBef>
                      </a:pPr>
                      <a:r>
                        <a:rPr dirty="0" sz="400" spc="-25">
                          <a:latin typeface="Georgia"/>
                          <a:cs typeface="Georgia"/>
                        </a:rPr>
                        <a:t>16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algn="r" marR="57785">
                        <a:lnSpc>
                          <a:spcPts val="635"/>
                        </a:lnSpc>
                        <a:tabLst>
                          <a:tab pos="1311275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drwxrwxrwt</a:t>
                      </a:r>
                      <a:r>
                        <a:rPr dirty="0" sz="600" spc="19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 root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500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:35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tmp/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0320">
                        <a:lnSpc>
                          <a:spcPts val="475"/>
                        </a:lnSpc>
                        <a:spcBef>
                          <a:spcPts val="195"/>
                        </a:spcBef>
                      </a:pPr>
                      <a:r>
                        <a:rPr dirty="0" sz="400" spc="-25">
                          <a:latin typeface="Georgia"/>
                          <a:cs typeface="Georgia"/>
                        </a:rPr>
                        <a:t>17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45"/>
                        </a:lnSpc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22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 root</a:t>
                      </a:r>
                      <a:r>
                        <a:rPr dirty="0" sz="600" spc="2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4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:26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usr/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Georgia"/>
                          <a:cs typeface="Georgia"/>
                        </a:rPr>
                        <a:t>18</a:t>
                      </a:r>
                      <a:endParaRPr sz="400">
                        <a:latin typeface="Georgia"/>
                        <a:cs typeface="Georgi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680"/>
                        </a:lnSpc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 root</a:t>
                      </a:r>
                      <a:r>
                        <a:rPr dirty="0" sz="600" spc="2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680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r>
                        <a:rPr dirty="0" sz="600" spc="-1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:38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var/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581018" y="5519635"/>
            <a:ext cx="3669029" cy="47815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10489" marR="5080" indent="-98425">
              <a:lnSpc>
                <a:spcPts val="860"/>
              </a:lnSpc>
              <a:spcBef>
                <a:spcPts val="160"/>
              </a:spcBef>
            </a:pPr>
            <a:r>
              <a:rPr dirty="0" sz="750" spc="-10" b="1">
                <a:latin typeface="Georgia"/>
                <a:cs typeface="Georgia"/>
              </a:rPr>
              <a:t>Команда</a:t>
            </a:r>
            <a:r>
              <a:rPr dirty="0" sz="750" spc="-50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mkdir.</a:t>
            </a:r>
            <a:r>
              <a:rPr dirty="0" sz="750" spc="409" b="1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Команда</a:t>
            </a:r>
            <a:r>
              <a:rPr dirty="0" sz="750" spc="-5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mkdir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используется</a:t>
            </a:r>
            <a:r>
              <a:rPr dirty="0" sz="750" spc="-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для</a:t>
            </a:r>
            <a:r>
              <a:rPr dirty="0" sz="750" spc="-4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создания</a:t>
            </a:r>
            <a:r>
              <a:rPr dirty="0" sz="750" spc="-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каталогов.</a:t>
            </a:r>
            <a:r>
              <a:rPr dirty="0" sz="750" spc="19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Формат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команды:</a:t>
            </a:r>
            <a:endParaRPr sz="750">
              <a:latin typeface="Georgia"/>
              <a:cs typeface="Georgia"/>
            </a:endParaRPr>
          </a:p>
          <a:p>
            <a:pPr marL="12700">
              <a:lnSpc>
                <a:spcPts val="815"/>
              </a:lnSpc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-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имя_каталога1</a:t>
            </a:r>
            <a:r>
              <a:rPr dirty="0" sz="700" spc="-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[имя_каталога2...]</a:t>
            </a:r>
            <a:endParaRPr sz="700">
              <a:latin typeface="Courier New"/>
              <a:cs typeface="Courier New"/>
            </a:endParaRPr>
          </a:p>
          <a:p>
            <a:pPr marL="110489">
              <a:lnSpc>
                <a:spcPct val="100000"/>
              </a:lnSpc>
              <a:spcBef>
                <a:spcPts val="65"/>
              </a:spcBef>
            </a:pPr>
            <a:r>
              <a:rPr dirty="0" sz="750">
                <a:latin typeface="Georgia"/>
                <a:cs typeface="Georgia"/>
              </a:rPr>
              <a:t>Пример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создания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каталога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текущем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каталоге: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4004" y="2511844"/>
            <a:ext cx="4037329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0955" rIns="0" bIns="0" rtlCol="0" vert="horz">
            <a:spAutoFit/>
          </a:bodyPr>
          <a:lstStyle/>
          <a:p>
            <a:pPr marL="36830" marR="2131060">
              <a:lnSpc>
                <a:spcPct val="106600"/>
              </a:lnSpc>
              <a:spcBef>
                <a:spcPts val="165"/>
              </a:spcBef>
            </a:pPr>
            <a:r>
              <a:rPr dirty="0" sz="700" spc="-10">
                <a:latin typeface="Courier New"/>
                <a:cs typeface="Courier New"/>
              </a:rPr>
              <a:t>binbootdevetchomelib mediamntoptprocrootsbinsystmpusrvar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1947494"/>
            <a:ext cx="4037329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-10">
                <a:latin typeface="Courier New"/>
                <a:cs typeface="Courier New"/>
              </a:rPr>
              <a:t>/ls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89276"/>
            <a:ext cx="1111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Georgia"/>
                <a:cs typeface="Georgia"/>
              </a:rPr>
              <a:t>42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7690" y="389276"/>
            <a:ext cx="302641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Georgia"/>
                <a:cs typeface="Georgia"/>
              </a:rPr>
              <a:t>Лабораторнаяработа№4.Основыинтерфейсавзаимодействияпользователяссистемой…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0840" y="717016"/>
            <a:ext cx="85090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65"/>
              </a:spcBef>
            </a:pPr>
            <a:r>
              <a:rPr dirty="0" sz="400" spc="-50">
                <a:latin typeface="Georgia"/>
                <a:cs typeface="Georgia"/>
              </a:rPr>
              <a:t>3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4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5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6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7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8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9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25">
                <a:latin typeface="Georgia"/>
                <a:cs typeface="Georgia"/>
              </a:rPr>
              <a:t>10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25">
                <a:latin typeface="Georgia"/>
                <a:cs typeface="Georgia"/>
              </a:rPr>
              <a:t>11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0840" y="1907567"/>
            <a:ext cx="73025" cy="194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Georgia"/>
                <a:cs typeface="Georgia"/>
              </a:rPr>
              <a:t>12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25">
                <a:latin typeface="Georgia"/>
                <a:cs typeface="Georgia"/>
              </a:rPr>
              <a:t>13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0840" y="2123973"/>
            <a:ext cx="73025" cy="194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Georgia"/>
                <a:cs typeface="Georgia"/>
              </a:rPr>
              <a:t>14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25">
                <a:latin typeface="Georgia"/>
                <a:cs typeface="Georgia"/>
              </a:rPr>
              <a:t>15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1025" y="2506446"/>
            <a:ext cx="4061460" cy="44958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819"/>
              </a:lnSpc>
              <a:spcBef>
                <a:spcPts val="190"/>
              </a:spcBef>
            </a:pPr>
            <a:r>
              <a:rPr dirty="0" sz="750" spc="-10" b="1">
                <a:latin typeface="Georgia"/>
                <a:cs typeface="Georgia"/>
              </a:rPr>
              <a:t>Замечание </a:t>
            </a:r>
            <a:r>
              <a:rPr dirty="0" sz="750" b="1">
                <a:latin typeface="Georgia"/>
                <a:cs typeface="Georgia"/>
              </a:rPr>
              <a:t>2.</a:t>
            </a:r>
            <a:r>
              <a:rPr dirty="0" sz="750" spc="175" b="1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того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чтобы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создать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10">
                <a:latin typeface="Georgia"/>
                <a:cs typeface="Georgia"/>
              </a:rPr>
              <a:t> определённом </a:t>
            </a:r>
            <a:r>
              <a:rPr dirty="0" sz="750">
                <a:latin typeface="Georgia"/>
                <a:cs typeface="Georgia"/>
              </a:rPr>
              <a:t>месте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файловой</a:t>
            </a:r>
            <a:r>
              <a:rPr dirty="0" sz="750" spc="-10">
                <a:latin typeface="Georgia"/>
                <a:cs typeface="Georgia"/>
              </a:rPr>
              <a:t> системы,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должны быть правильно </a:t>
            </a:r>
            <a:r>
              <a:rPr dirty="0" sz="750" spc="-10">
                <a:latin typeface="Georgia"/>
                <a:cs typeface="Georgia"/>
              </a:rPr>
              <a:t>установлены</a:t>
            </a:r>
            <a:r>
              <a:rPr dirty="0" sz="750">
                <a:latin typeface="Georgia"/>
                <a:cs typeface="Georgia"/>
              </a:rPr>
              <a:t> права </a:t>
            </a:r>
            <a:r>
              <a:rPr dirty="0" sz="750" spc="-10">
                <a:latin typeface="Georgia"/>
                <a:cs typeface="Georgia"/>
              </a:rPr>
              <a:t>доступа.</a:t>
            </a:r>
            <a:endParaRPr sz="750">
              <a:latin typeface="Georgia"/>
              <a:cs typeface="Georgia"/>
            </a:endParaRPr>
          </a:p>
          <a:p>
            <a:pPr marL="110489">
              <a:lnSpc>
                <a:spcPct val="100000"/>
              </a:lnSpc>
              <a:spcBef>
                <a:spcPts val="705"/>
              </a:spcBef>
            </a:pP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создать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также</a:t>
            </a:r>
            <a:r>
              <a:rPr dirty="0" sz="750" spc="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подкаталог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6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существующем</a:t>
            </a:r>
            <a:r>
              <a:rPr dirty="0" sz="750" spc="7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подкаталоге: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049" y="3072745"/>
            <a:ext cx="53975" cy="194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79449" y="3380352"/>
            <a:ext cx="31502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Georgia"/>
                <a:cs typeface="Georgia"/>
              </a:rPr>
              <a:t>При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задании</a:t>
            </a:r>
            <a:r>
              <a:rPr dirty="0" sz="750" spc="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нескольких</a:t>
            </a:r>
            <a:r>
              <a:rPr dirty="0" sz="750" spc="6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аргументов</a:t>
            </a:r>
            <a:r>
              <a:rPr dirty="0" sz="750" spc="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создаётся</a:t>
            </a:r>
            <a:r>
              <a:rPr dirty="0" sz="750" spc="6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несколько</a:t>
            </a:r>
            <a:r>
              <a:rPr dirty="0" sz="750" spc="5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каталогов: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0049" y="3636919"/>
            <a:ext cx="53975" cy="194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9449" y="3944525"/>
            <a:ext cx="16033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использовать</a:t>
            </a:r>
            <a:r>
              <a:rPr dirty="0" sz="750" spc="5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группировку: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049" y="4201092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81024" y="4400115"/>
            <a:ext cx="4007485" cy="24384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97790">
              <a:lnSpc>
                <a:spcPts val="819"/>
              </a:lnSpc>
              <a:spcBef>
                <a:spcPts val="190"/>
              </a:spcBef>
            </a:pPr>
            <a:r>
              <a:rPr dirty="0" sz="750">
                <a:latin typeface="Georgia"/>
                <a:cs typeface="Georgia"/>
              </a:rPr>
              <a:t>Если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же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требуется создать</a:t>
            </a:r>
            <a:r>
              <a:rPr dirty="0" sz="750" spc="-10">
                <a:latin typeface="Georgia"/>
                <a:cs typeface="Georgia"/>
              </a:rPr>
              <a:t> подкаталог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 </a:t>
            </a:r>
            <a:r>
              <a:rPr dirty="0" sz="750" spc="-10">
                <a:latin typeface="Georgia"/>
                <a:cs typeface="Georgia"/>
              </a:rPr>
              <a:t>каталоге,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отличном от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текущего,</a:t>
            </a:r>
            <a:r>
              <a:rPr dirty="0" sz="750" spc="-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 путь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20">
                <a:latin typeface="Georgia"/>
                <a:cs typeface="Georgia"/>
              </a:rPr>
              <a:t>нему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требуется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указать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явном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виде: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00049" y="4761033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1024" y="4960755"/>
            <a:ext cx="1911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Georgia"/>
                <a:cs typeface="Georgia"/>
              </a:rPr>
              <a:t>или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0049" y="5217321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9448" y="5425022"/>
            <a:ext cx="3909060" cy="582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75"/>
              </a:lnSpc>
              <a:spcBef>
                <a:spcPts val="100"/>
              </a:spcBef>
            </a:pPr>
            <a:r>
              <a:rPr dirty="0" sz="750">
                <a:latin typeface="Georgia"/>
                <a:cs typeface="Georgia"/>
              </a:rPr>
              <a:t>Интересны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следующие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опции:</a:t>
            </a:r>
            <a:endParaRPr sz="750">
              <a:latin typeface="Georgia"/>
              <a:cs typeface="Georgia"/>
            </a:endParaRPr>
          </a:p>
          <a:p>
            <a:pPr marL="46990">
              <a:lnSpc>
                <a:spcPts val="860"/>
              </a:lnSpc>
            </a:pPr>
            <a:r>
              <a:rPr dirty="0" sz="700" spc="-20">
                <a:latin typeface="Courier New"/>
                <a:cs typeface="Courier New"/>
              </a:rPr>
              <a:t>--mode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(или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-</a:t>
            </a:r>
            <a:r>
              <a:rPr dirty="0" sz="700">
                <a:latin typeface="Courier New"/>
                <a:cs typeface="Courier New"/>
              </a:rPr>
              <a:t>m</a:t>
            </a:r>
            <a:r>
              <a:rPr dirty="0" sz="750">
                <a:latin typeface="Georgia"/>
                <a:cs typeface="Georgia"/>
              </a:rPr>
              <a:t>)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—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установка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атрибутов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доступа;</a:t>
            </a:r>
            <a:endParaRPr sz="750">
              <a:latin typeface="Georgia"/>
              <a:cs typeface="Georgia"/>
            </a:endParaRPr>
          </a:p>
          <a:p>
            <a:pPr marL="46990" marR="5080">
              <a:lnSpc>
                <a:spcPts val="860"/>
              </a:lnSpc>
              <a:spcBef>
                <a:spcPts val="45"/>
              </a:spcBef>
            </a:pPr>
            <a:r>
              <a:rPr dirty="0" sz="700" spc="-20">
                <a:latin typeface="Courier New"/>
                <a:cs typeface="Courier New"/>
              </a:rPr>
              <a:t>--parents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10">
                <a:latin typeface="Georgia"/>
                <a:cs typeface="Georgia"/>
              </a:rPr>
              <a:t>(или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p</a:t>
            </a:r>
            <a:r>
              <a:rPr dirty="0" sz="750" spc="-10">
                <a:latin typeface="Georgia"/>
                <a:cs typeface="Georgia"/>
              </a:rPr>
              <a:t>)</a:t>
            </a:r>
            <a:r>
              <a:rPr dirty="0" sz="750" spc="-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—</a:t>
            </a:r>
            <a:r>
              <a:rPr dirty="0" sz="750" spc="-5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создание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каталога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вместе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родительскими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отношению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</a:t>
            </a:r>
            <a:r>
              <a:rPr dirty="0" sz="750" spc="-20">
                <a:latin typeface="Georgia"/>
                <a:cs typeface="Georgia"/>
              </a:rPr>
              <a:t> нему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каталогами.</a:t>
            </a:r>
            <a:endParaRPr sz="750">
              <a:latin typeface="Georgia"/>
              <a:cs typeface="Georgia"/>
            </a:endParaRPr>
          </a:p>
          <a:p>
            <a:pPr marL="12700">
              <a:lnSpc>
                <a:spcPts val="885"/>
              </a:lnSpc>
            </a:pPr>
            <a:r>
              <a:rPr dirty="0" sz="750">
                <a:latin typeface="Georgia"/>
                <a:cs typeface="Georgia"/>
              </a:rPr>
              <a:t>Атрибуты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задаются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численной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или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символьной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нотации: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00048" y="6124463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94004" y="665486"/>
            <a:ext cx="4032250" cy="1780539"/>
          </a:xfrm>
          <a:custGeom>
            <a:avLst/>
            <a:gdLst/>
            <a:ahLst/>
            <a:cxnLst/>
            <a:rect l="l" t="t" r="r" b="b"/>
            <a:pathLst>
              <a:path w="4032250" h="1780539">
                <a:moveTo>
                  <a:pt x="4031996" y="0"/>
                </a:moveTo>
                <a:lnTo>
                  <a:pt x="0" y="0"/>
                </a:lnTo>
                <a:lnTo>
                  <a:pt x="0" y="1780032"/>
                </a:lnTo>
                <a:lnTo>
                  <a:pt x="4031996" y="1780032"/>
                </a:lnTo>
                <a:lnTo>
                  <a:pt x="4031996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31950" y="675462"/>
            <a:ext cx="2094864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1883410">
              <a:lnSpc>
                <a:spcPct val="106600"/>
              </a:lnSpc>
              <a:spcBef>
                <a:spcPts val="100"/>
              </a:spcBef>
            </a:pPr>
            <a:r>
              <a:rPr dirty="0" sz="700" spc="-40">
                <a:solidFill>
                  <a:srgbClr val="007F00"/>
                </a:solidFill>
                <a:latin typeface="Courier New"/>
                <a:cs typeface="Courier New"/>
              </a:rPr>
              <a:t>cdpw </a:t>
            </a:r>
            <a:r>
              <a:rPr dirty="0" sz="700" spc="-50">
                <a:solidFill>
                  <a:srgbClr val="007F00"/>
                </a:solidFill>
                <a:latin typeface="Courier New"/>
                <a:cs typeface="Courier New"/>
              </a:rPr>
              <a:t>d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700" spc="-20">
                <a:latin typeface="Courier New"/>
                <a:cs typeface="Courier New"/>
              </a:rPr>
              <a:t>/afs/dk.sci.pfu.edu.ru/home/d/h/dharmals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31950" y="1461681"/>
            <a:ext cx="1369060" cy="469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10400"/>
              </a:lnSpc>
              <a:spcBef>
                <a:spcPts val="100"/>
              </a:spcBef>
              <a:tabLst>
                <a:tab pos="1202055" algn="l"/>
              </a:tabLst>
            </a:pPr>
            <a:r>
              <a:rPr dirty="0" sz="700" spc="-10">
                <a:latin typeface="Courier New"/>
                <a:cs typeface="Courier New"/>
              </a:rPr>
              <a:t>Desktoppublic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40">
                <a:latin typeface="Courier New"/>
                <a:cs typeface="Courier New"/>
              </a:rPr>
              <a:t>tmp </a:t>
            </a:r>
            <a:r>
              <a:rPr dirty="0" sz="700" spc="-10">
                <a:latin typeface="Courier New"/>
                <a:cs typeface="Courier New"/>
              </a:rPr>
              <a:t>GNUsteppublic_htmlwork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700" spc="-10">
                <a:latin typeface="Courier New"/>
                <a:cs typeface="Courier New"/>
              </a:rPr>
              <a:t>mkdirabcls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31950" y="2147531"/>
            <a:ext cx="1670685" cy="2527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6500"/>
              </a:lnSpc>
              <a:spcBef>
                <a:spcPts val="100"/>
              </a:spcBef>
              <a:tabLst>
                <a:tab pos="491490" algn="l"/>
                <a:tab pos="982980" algn="l"/>
              </a:tabLst>
            </a:pPr>
            <a:r>
              <a:rPr dirty="0" sz="700" spc="-25">
                <a:latin typeface="Courier New"/>
                <a:cs typeface="Courier New"/>
              </a:rPr>
              <a:t>abc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GNUsteppublic_htmlwork Desktoppublic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25">
                <a:latin typeface="Courier New"/>
                <a:cs typeface="Courier New"/>
              </a:rPr>
              <a:t>tmp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94004" y="607291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20">
                <a:latin typeface="Courier New"/>
                <a:cs typeface="Courier New"/>
              </a:rPr>
              <a:t>mkdir--</a:t>
            </a:r>
            <a:r>
              <a:rPr dirty="0" sz="700" spc="-10">
                <a:latin typeface="Courier New"/>
                <a:cs typeface="Courier New"/>
              </a:rPr>
              <a:t>mode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=777</a:t>
            </a:r>
            <a:r>
              <a:rPr dirty="0" sz="700" spc="-10">
                <a:latin typeface="Courier New"/>
                <a:cs typeface="Courier New"/>
              </a:rPr>
              <a:t>dir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94004" y="5165902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latin typeface="Courier New"/>
                <a:cs typeface="Courier New"/>
              </a:rPr>
              <a:t>mkdir~/dir1/dir2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94004" y="4709756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latin typeface="Courier New"/>
                <a:cs typeface="Courier New"/>
              </a:rPr>
              <a:t>mkdir../dir1/dir2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94004" y="4149674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latin typeface="Courier New"/>
                <a:cs typeface="Courier New"/>
              </a:rPr>
              <a:t>mkdirparentdir/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{</a:t>
            </a:r>
            <a:r>
              <a:rPr dirty="0" sz="700" spc="-10">
                <a:latin typeface="Courier New"/>
                <a:cs typeface="Courier New"/>
              </a:rPr>
              <a:t>dir1,dir2,dir3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94004" y="3585311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6830" marR="3087370">
              <a:lnSpc>
                <a:spcPct val="106300"/>
              </a:lnSpc>
              <a:spcBef>
                <a:spcPts val="170"/>
              </a:spcBef>
            </a:pP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-10">
                <a:latin typeface="Courier New"/>
                <a:cs typeface="Courier New"/>
              </a:rPr>
              <a:t>parentdir </a:t>
            </a:r>
            <a:r>
              <a:rPr dirty="0" sz="700" spc="-20">
                <a:latin typeface="Courier New"/>
                <a:cs typeface="Courier New"/>
              </a:rPr>
              <a:t>mkdirdir1dir2dir3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4004" y="3020948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0955" rIns="0" bIns="0" rtlCol="0" vert="horz">
            <a:spAutoFit/>
          </a:bodyPr>
          <a:lstStyle/>
          <a:p>
            <a:pPr marL="36830" marR="2973705">
              <a:lnSpc>
                <a:spcPct val="106600"/>
              </a:lnSpc>
              <a:spcBef>
                <a:spcPts val="165"/>
              </a:spcBef>
            </a:pPr>
            <a:r>
              <a:rPr dirty="0" sz="700" spc="-10">
                <a:latin typeface="Courier New"/>
                <a:cs typeface="Courier New"/>
              </a:rPr>
              <a:t>mkdirparentdirmkdir parentdir/dir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89276"/>
            <a:ext cx="13804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 i="1">
                <a:latin typeface="Georgia"/>
                <a:cs typeface="Georgia"/>
              </a:rPr>
              <a:t>КулябовД.С.идр.</a:t>
            </a:r>
            <a:r>
              <a:rPr dirty="0" sz="600" spc="-25">
                <a:latin typeface="Georgia"/>
                <a:cs typeface="Georgia"/>
              </a:rPr>
              <a:t>Операционныесистемы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5" y="389276"/>
            <a:ext cx="110489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Georgia"/>
                <a:cs typeface="Georgia"/>
              </a:rPr>
              <a:t>43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1025" y="639788"/>
            <a:ext cx="1911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Georgia"/>
                <a:cs typeface="Georgia"/>
              </a:rPr>
              <a:t>или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0050" y="896354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021" y="1095135"/>
            <a:ext cx="3832225" cy="249554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 indent="97790">
              <a:lnSpc>
                <a:spcPts val="860"/>
              </a:lnSpc>
              <a:spcBef>
                <a:spcPts val="160"/>
              </a:spcBef>
            </a:pPr>
            <a:r>
              <a:rPr dirty="0" sz="750" spc="-10">
                <a:latin typeface="Georgia"/>
                <a:cs typeface="Georgia"/>
              </a:rPr>
              <a:t>Опция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--parents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(краткая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форма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-</a:t>
            </a:r>
            <a:r>
              <a:rPr dirty="0" sz="700">
                <a:latin typeface="Courier New"/>
                <a:cs typeface="Courier New"/>
              </a:rPr>
              <a:t>p</a:t>
            </a:r>
            <a:r>
              <a:rPr dirty="0" sz="750">
                <a:latin typeface="Georgia"/>
                <a:cs typeface="Georgia"/>
              </a:rPr>
              <a:t>)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позволяет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создавать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иерархическую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цепочку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подкаталогов,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создавая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все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промежуточные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каталоги: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046" y="1461866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021" y="1810147"/>
            <a:ext cx="4027804" cy="90424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10489" marR="62865" indent="-98425">
              <a:lnSpc>
                <a:spcPts val="860"/>
              </a:lnSpc>
              <a:spcBef>
                <a:spcPts val="160"/>
              </a:spcBef>
            </a:pPr>
            <a:r>
              <a:rPr dirty="0" sz="750" spc="-20" b="1">
                <a:latin typeface="Georgia"/>
                <a:cs typeface="Georgia"/>
              </a:rPr>
              <a:t>Команда</a:t>
            </a:r>
            <a:r>
              <a:rPr dirty="0" sz="750" spc="-15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rm.</a:t>
            </a:r>
            <a:r>
              <a:rPr dirty="0" sz="750" spc="229" b="1">
                <a:latin typeface="Georgia"/>
                <a:cs typeface="Georgia"/>
              </a:rPr>
              <a:t>  </a:t>
            </a:r>
            <a:r>
              <a:rPr dirty="0" sz="750" spc="-20">
                <a:latin typeface="Georgia"/>
                <a:cs typeface="Georgia"/>
              </a:rPr>
              <a:t>Команда </a:t>
            </a:r>
            <a:r>
              <a:rPr dirty="0" sz="700" spc="-20">
                <a:latin typeface="Courier New"/>
                <a:cs typeface="Courier New"/>
              </a:rPr>
              <a:t>rm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20">
                <a:latin typeface="Georgia"/>
                <a:cs typeface="Georgia"/>
              </a:rPr>
              <a:t>используется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20">
                <a:latin typeface="Georgia"/>
                <a:cs typeface="Georgia"/>
              </a:rPr>
              <a:t>для удаления </a:t>
            </a:r>
            <a:r>
              <a:rPr dirty="0" sz="750" spc="-10">
                <a:latin typeface="Georgia"/>
                <a:cs typeface="Georgia"/>
              </a:rPr>
              <a:t>файлов</a:t>
            </a:r>
            <a:r>
              <a:rPr dirty="0" sz="750" spc="-20">
                <a:latin typeface="Georgia"/>
                <a:cs typeface="Georgia"/>
              </a:rPr>
              <a:t> и/или </a:t>
            </a:r>
            <a:r>
              <a:rPr dirty="0" sz="750">
                <a:latin typeface="Georgia"/>
                <a:cs typeface="Georgia"/>
              </a:rPr>
              <a:t>каталогов.</a:t>
            </a:r>
            <a:r>
              <a:rPr dirty="0" sz="750" spc="2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Формат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команды:</a:t>
            </a:r>
            <a:endParaRPr sz="750">
              <a:latin typeface="Georgia"/>
              <a:cs typeface="Georgia"/>
            </a:endParaRPr>
          </a:p>
          <a:p>
            <a:pPr marL="12700">
              <a:lnSpc>
                <a:spcPts val="800"/>
              </a:lnSpc>
            </a:pP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[-</a:t>
            </a:r>
            <a:r>
              <a:rPr dirty="0" sz="700">
                <a:latin typeface="Courier New"/>
                <a:cs typeface="Courier New"/>
              </a:rPr>
              <a:t>опции]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[файл]</a:t>
            </a:r>
            <a:endParaRPr sz="700">
              <a:latin typeface="Courier New"/>
              <a:cs typeface="Courier New"/>
            </a:endParaRPr>
          </a:p>
          <a:p>
            <a:pPr marL="12700" marR="374015" indent="97790">
              <a:lnSpc>
                <a:spcPts val="810"/>
              </a:lnSpc>
              <a:spcBef>
                <a:spcPts val="95"/>
              </a:spcBef>
            </a:pPr>
            <a:r>
              <a:rPr dirty="0" sz="750">
                <a:latin typeface="Georgia"/>
                <a:cs typeface="Georgia"/>
              </a:rPr>
              <a:t>Если</a:t>
            </a:r>
            <a:r>
              <a:rPr dirty="0" sz="750" spc="-10">
                <a:latin typeface="Georgia"/>
                <a:cs typeface="Georgia"/>
              </a:rPr>
              <a:t> требуется,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чтобы выдавался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запрос </a:t>
            </a:r>
            <a:r>
              <a:rPr dirty="0" sz="750" spc="-10">
                <a:latin typeface="Georgia"/>
                <a:cs typeface="Georgia"/>
              </a:rPr>
              <a:t>подтверждения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удаление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файла,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25">
                <a:latin typeface="Georgia"/>
                <a:cs typeface="Georgia"/>
              </a:rPr>
              <a:t>то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необходимо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использовать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опцию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i</a:t>
            </a:r>
            <a:r>
              <a:rPr dirty="0" sz="750" spc="-25">
                <a:latin typeface="Georgia"/>
                <a:cs typeface="Georgia"/>
              </a:rPr>
              <a:t>.</a:t>
            </a:r>
            <a:endParaRPr sz="750">
              <a:latin typeface="Georgia"/>
              <a:cs typeface="Georgia"/>
            </a:endParaRPr>
          </a:p>
          <a:p>
            <a:pPr marL="12700" marR="5080" indent="97155">
              <a:lnSpc>
                <a:spcPts val="860"/>
              </a:lnSpc>
              <a:spcBef>
                <a:spcPts val="15"/>
              </a:spcBef>
            </a:pPr>
            <a:r>
              <a:rPr dirty="0" sz="750" spc="-10">
                <a:latin typeface="Georgia"/>
                <a:cs typeface="Georgia"/>
              </a:rPr>
              <a:t>Чтобы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удалить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каталог,</a:t>
            </a:r>
            <a:r>
              <a:rPr dirty="0" sz="750" spc="-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содержащий файлы,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нужно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использовать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опцию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</a:t>
            </a:r>
            <a:r>
              <a:rPr dirty="0" sz="750" spc="-10">
                <a:latin typeface="Georgia"/>
                <a:cs typeface="Georgia"/>
              </a:rPr>
              <a:t>.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Без указания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этой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опции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команда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будет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выполняться.</a:t>
            </a:r>
            <a:endParaRPr sz="750">
              <a:latin typeface="Georgia"/>
              <a:cs typeface="Georgia"/>
            </a:endParaRPr>
          </a:p>
          <a:p>
            <a:pPr marL="111125">
              <a:lnSpc>
                <a:spcPts val="885"/>
              </a:lnSpc>
            </a:pPr>
            <a:r>
              <a:rPr dirty="0" sz="750" spc="-10">
                <a:latin typeface="Georgia"/>
                <a:cs typeface="Georgia"/>
              </a:rPr>
              <a:t>Пример: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048" y="2830218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0048" y="2938738"/>
            <a:ext cx="53975" cy="194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3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0048" y="3155145"/>
            <a:ext cx="54610" cy="41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4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5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6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7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1018" y="3678216"/>
            <a:ext cx="4092575" cy="105410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L="12700" marR="5080" indent="97790">
              <a:lnSpc>
                <a:spcPts val="860"/>
              </a:lnSpc>
              <a:spcBef>
                <a:spcPts val="160"/>
              </a:spcBef>
            </a:pPr>
            <a:r>
              <a:rPr dirty="0" sz="750">
                <a:latin typeface="Georgia"/>
                <a:cs typeface="Georgia"/>
              </a:rPr>
              <a:t>Если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пуст,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-10">
                <a:latin typeface="Georgia"/>
                <a:cs typeface="Georgia"/>
              </a:rPr>
              <a:t> воспользоваться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командой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rmdir</a:t>
            </a:r>
            <a:r>
              <a:rPr dirty="0" sz="750" spc="-10">
                <a:latin typeface="Georgia"/>
                <a:cs typeface="Georgia"/>
              </a:rPr>
              <a:t>. </a:t>
            </a:r>
            <a:r>
              <a:rPr dirty="0" sz="750">
                <a:latin typeface="Georgia"/>
                <a:cs typeface="Georgia"/>
              </a:rPr>
              <a:t>Если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удаляемый</a:t>
            </a:r>
            <a:r>
              <a:rPr dirty="0" sz="750" spc="18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содержит</a:t>
            </a:r>
            <a:r>
              <a:rPr dirty="0" sz="750" spc="3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файлы,</a:t>
            </a:r>
            <a:r>
              <a:rPr dirty="0" sz="750" spc="3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</a:t>
            </a:r>
            <a:r>
              <a:rPr dirty="0" sz="750" spc="3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команда</a:t>
            </a:r>
            <a:r>
              <a:rPr dirty="0" sz="750" spc="3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не</a:t>
            </a:r>
            <a:r>
              <a:rPr dirty="0" sz="750" spc="3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будет</a:t>
            </a:r>
            <a:r>
              <a:rPr dirty="0" sz="750" spc="3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выполнена</a:t>
            </a:r>
            <a:r>
              <a:rPr dirty="0" sz="750" spc="3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—</a:t>
            </a:r>
            <a:r>
              <a:rPr dirty="0" sz="750" spc="3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нужно</a:t>
            </a:r>
            <a:r>
              <a:rPr dirty="0" sz="750" spc="3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использовать</a:t>
            </a:r>
            <a:r>
              <a:rPr dirty="0" sz="750" spc="355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30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-</a:t>
            </a:r>
            <a:r>
              <a:rPr dirty="0" sz="700" spc="-50">
                <a:latin typeface="Courier New"/>
                <a:cs typeface="Courier New"/>
              </a:rPr>
              <a:t>r </a:t>
            </a:r>
            <a:r>
              <a:rPr dirty="0" sz="700" spc="-10">
                <a:latin typeface="Courier New"/>
                <a:cs typeface="Courier New"/>
              </a:rPr>
              <a:t>имя_каталога</a:t>
            </a:r>
            <a:r>
              <a:rPr dirty="0" sz="750" spc="-10">
                <a:latin typeface="Georgia"/>
                <a:cs typeface="Georgia"/>
              </a:rPr>
              <a:t>.</a:t>
            </a:r>
            <a:endParaRPr sz="7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750">
              <a:latin typeface="Georgia"/>
              <a:cs typeface="Georgia"/>
            </a:endParaRPr>
          </a:p>
          <a:p>
            <a:pPr algn="just" marL="12700" marR="12700">
              <a:lnSpc>
                <a:spcPct val="92300"/>
              </a:lnSpc>
            </a:pPr>
            <a:r>
              <a:rPr dirty="0" sz="750" b="1">
                <a:latin typeface="Georgia"/>
                <a:cs typeface="Georgia"/>
              </a:rPr>
              <a:t>Команда</a:t>
            </a:r>
            <a:r>
              <a:rPr dirty="0" sz="750" spc="470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history.</a:t>
            </a:r>
            <a:r>
              <a:rPr dirty="0" sz="750" spc="330" b="1">
                <a:latin typeface="Georgia"/>
                <a:cs typeface="Georgia"/>
              </a:rPr>
              <a:t> 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47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вывода</a:t>
            </a:r>
            <a:r>
              <a:rPr dirty="0" sz="750" spc="4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4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экран</a:t>
            </a:r>
            <a:r>
              <a:rPr dirty="0" sz="750" spc="459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списка</a:t>
            </a:r>
            <a:r>
              <a:rPr dirty="0" sz="750" spc="4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ранее</a:t>
            </a:r>
            <a:r>
              <a:rPr dirty="0" sz="750" spc="4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выполненных</a:t>
            </a:r>
            <a:r>
              <a:rPr dirty="0" sz="750" spc="46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используется</a:t>
            </a:r>
            <a:r>
              <a:rPr dirty="0" sz="750" spc="8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команда</a:t>
            </a:r>
            <a:r>
              <a:rPr dirty="0" sz="750" spc="110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history</a:t>
            </a:r>
            <a:r>
              <a:rPr dirty="0" sz="750">
                <a:latin typeface="Georgia"/>
                <a:cs typeface="Georgia"/>
              </a:rPr>
              <a:t>.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Выводимые</a:t>
            </a:r>
            <a:r>
              <a:rPr dirty="0" sz="750" spc="1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экран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1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9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списке</a:t>
            </a:r>
            <a:r>
              <a:rPr dirty="0" sz="750" spc="1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нумеруются.</a:t>
            </a:r>
            <a:r>
              <a:rPr dirty="0" sz="750" spc="85">
                <a:latin typeface="Georgia"/>
                <a:cs typeface="Georgia"/>
              </a:rPr>
              <a:t> </a:t>
            </a:r>
            <a:r>
              <a:rPr dirty="0" sz="750" spc="-50">
                <a:latin typeface="Georgia"/>
                <a:cs typeface="Georgia"/>
              </a:rPr>
              <a:t>К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любой</a:t>
            </a:r>
            <a:r>
              <a:rPr dirty="0" sz="750" spc="17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команде</a:t>
            </a:r>
            <a:r>
              <a:rPr dirty="0" sz="750">
                <a:latin typeface="Georgia"/>
                <a:cs typeface="Georgia"/>
              </a:rPr>
              <a:t> из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выведенного на экран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списка можно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обратиться по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её номеру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 </a:t>
            </a:r>
            <a:r>
              <a:rPr dirty="0" sz="750" spc="-10">
                <a:latin typeface="Georgia"/>
                <a:cs typeface="Georgia"/>
              </a:rPr>
              <a:t>списке,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воспользовавшись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конструкцией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!&lt;номер_команды&gt;</a:t>
            </a:r>
            <a:r>
              <a:rPr dirty="0" sz="750" spc="-10">
                <a:latin typeface="Georgia"/>
                <a:cs typeface="Georgia"/>
              </a:rPr>
              <a:t>.</a:t>
            </a:r>
            <a:endParaRPr sz="750">
              <a:latin typeface="Georgia"/>
              <a:cs typeface="Georgia"/>
            </a:endParaRPr>
          </a:p>
          <a:p>
            <a:pPr marL="110489">
              <a:lnSpc>
                <a:spcPct val="100000"/>
              </a:lnSpc>
              <a:spcBef>
                <a:spcPts val="45"/>
              </a:spcBef>
            </a:pPr>
            <a:r>
              <a:rPr dirty="0" sz="750" spc="-10">
                <a:latin typeface="Georgia"/>
                <a:cs typeface="Georgia"/>
              </a:rPr>
              <a:t>Пример: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0034" y="4848983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00034" y="4956868"/>
            <a:ext cx="53975" cy="194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3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0034" y="5173274"/>
            <a:ext cx="54610" cy="194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4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5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70824" y="5389681"/>
            <a:ext cx="85090" cy="51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6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7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65"/>
              </a:spcBef>
            </a:pPr>
            <a:r>
              <a:rPr dirty="0" sz="400" spc="-50">
                <a:latin typeface="Georgia"/>
                <a:cs typeface="Georgia"/>
              </a:rPr>
              <a:t>8</a:t>
            </a:r>
            <a:endParaRPr sz="4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75"/>
              </a:spcBef>
            </a:pPr>
            <a:r>
              <a:rPr dirty="0" sz="400" spc="-50">
                <a:latin typeface="Georgia"/>
                <a:cs typeface="Georgia"/>
              </a:rPr>
              <a:t>9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25">
                <a:latin typeface="Georgia"/>
                <a:cs typeface="Georgia"/>
              </a:rPr>
              <a:t>10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1009" y="6021515"/>
            <a:ext cx="3689985" cy="24384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97790">
              <a:lnSpc>
                <a:spcPts val="819"/>
              </a:lnSpc>
              <a:spcBef>
                <a:spcPts val="190"/>
              </a:spcBef>
            </a:pPr>
            <a:r>
              <a:rPr dirty="0" sz="750">
                <a:latin typeface="Georgia"/>
                <a:cs typeface="Georgia"/>
              </a:rPr>
              <a:t>Можно </a:t>
            </a:r>
            <a:r>
              <a:rPr dirty="0" sz="750" spc="-10">
                <a:latin typeface="Georgia"/>
                <a:cs typeface="Georgia"/>
              </a:rPr>
              <a:t>модифицировать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команду</a:t>
            </a:r>
            <a:r>
              <a:rPr dirty="0" sz="750">
                <a:latin typeface="Georgia"/>
                <a:cs typeface="Georgia"/>
              </a:rPr>
              <a:t> из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выведенного на экран списка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 </a:t>
            </a:r>
            <a:r>
              <a:rPr dirty="0" sz="750" spc="-10">
                <a:latin typeface="Georgia"/>
                <a:cs typeface="Georgia"/>
              </a:rPr>
              <a:t>помощи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следующей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конструкции: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94004" y="4797196"/>
            <a:ext cx="4032250" cy="121221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history</a:t>
            </a:r>
            <a:endParaRPr sz="700">
              <a:latin typeface="Courier New"/>
              <a:cs typeface="Courier New"/>
            </a:endParaRPr>
          </a:p>
          <a:p>
            <a:pPr marL="146050" indent="-109220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6050" algn="l"/>
              </a:tabLst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 marL="146050" indent="-109220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6050" algn="l"/>
              </a:tabLst>
            </a:pP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  <a:p>
            <a:pPr marL="146050" indent="-109220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6050" algn="l"/>
              </a:tabLst>
            </a:pPr>
            <a:r>
              <a:rPr dirty="0" sz="700" spc="-20">
                <a:latin typeface="Courier New"/>
                <a:cs typeface="Courier New"/>
              </a:rPr>
              <a:t>ls-</a:t>
            </a:r>
            <a:r>
              <a:rPr dirty="0" sz="700" spc="-50">
                <a:latin typeface="Courier New"/>
                <a:cs typeface="Courier New"/>
              </a:rPr>
              <a:t>a</a:t>
            </a:r>
            <a:endParaRPr sz="700">
              <a:latin typeface="Courier New"/>
              <a:cs typeface="Courier New"/>
            </a:endParaRPr>
          </a:p>
          <a:p>
            <a:pPr marL="146050" indent="-109220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6050" algn="l"/>
              </a:tabLst>
            </a:pPr>
            <a:r>
              <a:rPr dirty="0" sz="700" spc="-20">
                <a:latin typeface="Courier New"/>
                <a:cs typeface="Courier New"/>
              </a:rPr>
              <a:t>ls-</a:t>
            </a:r>
            <a:r>
              <a:rPr dirty="0" sz="700" spc="-50">
                <a:latin typeface="Courier New"/>
                <a:cs typeface="Courier New"/>
              </a:rPr>
              <a:t>l</a:t>
            </a:r>
            <a:endParaRPr sz="700">
              <a:latin typeface="Courier New"/>
              <a:cs typeface="Courier New"/>
            </a:endParaRPr>
          </a:p>
          <a:p>
            <a:pPr marL="146050" indent="-109220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6050" algn="l"/>
              </a:tabLst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-25">
                <a:latin typeface="Courier New"/>
                <a:cs typeface="Courier New"/>
              </a:rPr>
              <a:t>/</a:t>
            </a:r>
            <a:endParaRPr sz="700">
              <a:latin typeface="Courier New"/>
              <a:cs typeface="Courier New"/>
            </a:endParaRPr>
          </a:p>
          <a:p>
            <a:pPr marL="146050" indent="-109220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6050" algn="l"/>
              </a:tabLst>
            </a:pP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history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6830">
              <a:lnSpc>
                <a:spcPct val="100000"/>
              </a:lnSpc>
            </a:pPr>
            <a:r>
              <a:rPr dirty="0" sz="700" spc="-25">
                <a:latin typeface="Courier New"/>
                <a:cs typeface="Courier New"/>
              </a:rPr>
              <a:t>!5</a:t>
            </a:r>
            <a:endParaRPr sz="700">
              <a:latin typeface="Courier New"/>
              <a:cs typeface="Courier New"/>
            </a:endParaRPr>
          </a:p>
          <a:p>
            <a:pPr marL="36830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-25">
                <a:latin typeface="Courier New"/>
                <a:cs typeface="Courier New"/>
              </a:rPr>
              <a:t>/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4004" y="2778937"/>
            <a:ext cx="4032250" cy="871219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0955" rIns="0" bIns="0" rtlCol="0" vert="horz">
            <a:spAutoFit/>
          </a:bodyPr>
          <a:lstStyle/>
          <a:p>
            <a:pPr marL="36830" marR="3507104">
              <a:lnSpc>
                <a:spcPct val="106500"/>
              </a:lnSpc>
              <a:spcBef>
                <a:spcPts val="16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 </a:t>
            </a:r>
            <a:r>
              <a:rPr dirty="0" sz="700" spc="-10">
                <a:latin typeface="Courier New"/>
                <a:cs typeface="Courier New"/>
              </a:rPr>
              <a:t>mkdirabsr </a:t>
            </a:r>
            <a:r>
              <a:rPr dirty="0" sz="700">
                <a:latin typeface="Courier New"/>
                <a:cs typeface="Courier New"/>
              </a:rPr>
              <a:t>m</a:t>
            </a:r>
            <a:r>
              <a:rPr dirty="0" sz="700" spc="-1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abc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00">
              <a:latin typeface="Courier New"/>
              <a:cs typeface="Courier New"/>
            </a:endParaRPr>
          </a:p>
          <a:p>
            <a:pPr marL="36830">
              <a:lnSpc>
                <a:spcPct val="100000"/>
              </a:lnSpc>
            </a:pPr>
            <a:r>
              <a:rPr dirty="0" sz="700">
                <a:latin typeface="Courier New"/>
                <a:cs typeface="Courier New"/>
              </a:rPr>
              <a:t>rm:</a:t>
            </a:r>
            <a:r>
              <a:rPr dirty="0" sz="700" spc="-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abc</a:t>
            </a:r>
            <a:r>
              <a:rPr dirty="0" sz="700" spc="-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is</a:t>
            </a:r>
            <a:r>
              <a:rPr dirty="0" sz="700" spc="-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adirectoryrm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6830">
              <a:lnSpc>
                <a:spcPct val="100000"/>
              </a:lnSpc>
              <a:spcBef>
                <a:spcPts val="5"/>
              </a:spcBef>
            </a:pPr>
            <a:r>
              <a:rPr dirty="0" sz="700" spc="-20">
                <a:latin typeface="Courier New"/>
                <a:cs typeface="Courier New"/>
              </a:rPr>
              <a:t>-</a:t>
            </a:r>
            <a:r>
              <a:rPr dirty="0" sz="700">
                <a:latin typeface="Courier New"/>
                <a:cs typeface="Courier New"/>
              </a:rPr>
              <a:t>r</a:t>
            </a:r>
            <a:r>
              <a:rPr dirty="0" sz="700" spc="-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abc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94004" y="1410512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20">
                <a:latin typeface="Courier New"/>
                <a:cs typeface="Courier New"/>
              </a:rPr>
              <a:t>mkdir-</a:t>
            </a:r>
            <a:r>
              <a:rPr dirty="0" sz="700" spc="-10">
                <a:latin typeface="Courier New"/>
                <a:cs typeface="Courier New"/>
              </a:rPr>
              <a:t>p~/dir1/dir2/dir3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94004" y="844868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20">
                <a:latin typeface="Courier New"/>
                <a:cs typeface="Courier New"/>
              </a:rPr>
              <a:t>mkdir-</a:t>
            </a:r>
            <a:r>
              <a:rPr dirty="0" sz="700" spc="-10">
                <a:latin typeface="Courier New"/>
                <a:cs typeface="Courier New"/>
              </a:rPr>
              <a:t>ma+rwxdir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89276"/>
            <a:ext cx="11176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Georgia"/>
                <a:cs typeface="Georgia"/>
              </a:rPr>
              <a:t>44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7690" y="389276"/>
            <a:ext cx="302641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Georgia"/>
                <a:cs typeface="Georgia"/>
              </a:rPr>
              <a:t>Лабораторнаяработа№4.Основыинтерфейсавзаимодействияпользователяссистемой…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1025" y="650595"/>
            <a:ext cx="2474595" cy="356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latin typeface="Courier New"/>
                <a:cs typeface="Courier New"/>
              </a:rPr>
              <a:t>!&lt;номер_команды&gt;:s/&lt;что_меняем&gt;/&lt;на_что_меняем&gt;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00">
              <a:latin typeface="Courier New"/>
              <a:cs typeface="Courier New"/>
            </a:endParaRPr>
          </a:p>
          <a:p>
            <a:pPr marL="110489">
              <a:lnSpc>
                <a:spcPct val="100000"/>
              </a:lnSpc>
            </a:pPr>
            <a:r>
              <a:rPr dirty="0" sz="750" spc="-10">
                <a:latin typeface="Georgia"/>
                <a:cs typeface="Georgia"/>
              </a:rPr>
              <a:t>Пример: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0049" y="1123813"/>
            <a:ext cx="53975" cy="194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400" spc="-50">
                <a:latin typeface="Georgia"/>
                <a:cs typeface="Georgia"/>
              </a:rPr>
              <a:t>2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1497" y="1509786"/>
            <a:ext cx="4001135" cy="732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 sz="750" spc="-10" b="1">
                <a:latin typeface="Georgia"/>
                <a:cs typeface="Georgia"/>
              </a:rPr>
              <a:t>Замечание</a:t>
            </a:r>
            <a:r>
              <a:rPr dirty="0" sz="750" b="1">
                <a:latin typeface="Georgia"/>
                <a:cs typeface="Georgia"/>
              </a:rPr>
              <a:t> 3.</a:t>
            </a:r>
            <a:r>
              <a:rPr dirty="0" sz="750" spc="229" b="1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Если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заданном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контексте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встречаются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специальные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символы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(типа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20">
                <a:latin typeface="Georgia"/>
                <a:cs typeface="Georgia"/>
              </a:rPr>
              <a:t>«</a:t>
            </a:r>
            <a:r>
              <a:rPr dirty="0" sz="700" spc="-20">
                <a:latin typeface="Courier New"/>
                <a:cs typeface="Courier New"/>
              </a:rPr>
              <a:t>.</a:t>
            </a:r>
            <a:r>
              <a:rPr dirty="0" sz="750" spc="-20">
                <a:latin typeface="Georgia"/>
                <a:cs typeface="Georgia"/>
              </a:rPr>
              <a:t>»,</a:t>
            </a:r>
            <a:endParaRPr sz="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750">
                <a:latin typeface="Georgia"/>
                <a:cs typeface="Georgia"/>
              </a:rPr>
              <a:t>«</a:t>
            </a:r>
            <a:r>
              <a:rPr dirty="0" sz="700">
                <a:latin typeface="Courier New"/>
                <a:cs typeface="Courier New"/>
              </a:rPr>
              <a:t>/</a:t>
            </a:r>
            <a:r>
              <a:rPr dirty="0" sz="750">
                <a:latin typeface="Georgia"/>
                <a:cs typeface="Georgia"/>
              </a:rPr>
              <a:t>»,</a:t>
            </a:r>
            <a:r>
              <a:rPr dirty="0" sz="750" spc="-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«</a:t>
            </a:r>
            <a:r>
              <a:rPr dirty="0" sz="700">
                <a:latin typeface="Courier New"/>
                <a:cs typeface="Courier New"/>
              </a:rPr>
              <a:t>*</a:t>
            </a:r>
            <a:r>
              <a:rPr dirty="0" sz="750">
                <a:latin typeface="Georgia"/>
                <a:cs typeface="Georgia"/>
              </a:rPr>
              <a:t>»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 т.д.),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надо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перед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ними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поставить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символ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экранирования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\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(обратный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слэш).</a:t>
            </a:r>
            <a:endParaRPr sz="7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750">
              <a:latin typeface="Georgia"/>
              <a:cs typeface="Georgia"/>
            </a:endParaRPr>
          </a:p>
          <a:p>
            <a:pPr marL="22225" marR="5080">
              <a:lnSpc>
                <a:spcPts val="819"/>
              </a:lnSpc>
            </a:pPr>
            <a:r>
              <a:rPr dirty="0" sz="750" spc="-10" b="1">
                <a:latin typeface="Georgia"/>
                <a:cs typeface="Georgia"/>
              </a:rPr>
              <a:t>Использование</a:t>
            </a:r>
            <a:r>
              <a:rPr dirty="0" sz="750" spc="-5" b="1">
                <a:latin typeface="Georgia"/>
                <a:cs typeface="Georgia"/>
              </a:rPr>
              <a:t> </a:t>
            </a:r>
            <a:r>
              <a:rPr dirty="0" sz="750" b="1">
                <a:latin typeface="Georgia"/>
                <a:cs typeface="Georgia"/>
              </a:rPr>
              <a:t>символа «;».</a:t>
            </a:r>
            <a:r>
              <a:rPr dirty="0" sz="750" spc="455" b="1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Если</a:t>
            </a:r>
            <a:r>
              <a:rPr dirty="0" sz="750" spc="-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требуется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выполнить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последовательно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несколько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команд,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записанный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10">
                <a:latin typeface="Georgia"/>
                <a:cs typeface="Georgia"/>
              </a:rPr>
              <a:t> одной строке,</a:t>
            </a:r>
            <a:r>
              <a:rPr dirty="0" sz="750" spc="-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для </a:t>
            </a:r>
            <a:r>
              <a:rPr dirty="0" sz="750">
                <a:latin typeface="Georgia"/>
                <a:cs typeface="Georgia"/>
              </a:rPr>
              <a:t>этого</a:t>
            </a:r>
            <a:r>
              <a:rPr dirty="0" sz="750" spc="-10">
                <a:latin typeface="Georgia"/>
                <a:cs typeface="Georgia"/>
              </a:rPr>
              <a:t> используется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символ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точка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-10">
                <a:latin typeface="Georgia"/>
                <a:cs typeface="Georgia"/>
              </a:rPr>
              <a:t> запятой</a:t>
            </a:r>
            <a:endParaRPr sz="750">
              <a:latin typeface="Georgia"/>
              <a:cs typeface="Georgia"/>
            </a:endParaRPr>
          </a:p>
          <a:p>
            <a:pPr marL="120650">
              <a:lnSpc>
                <a:spcPts val="890"/>
              </a:lnSpc>
            </a:pPr>
            <a:r>
              <a:rPr dirty="0" sz="750" spc="-10">
                <a:latin typeface="Georgia"/>
                <a:cs typeface="Georgia"/>
              </a:rPr>
              <a:t>Пример: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051" y="2358971"/>
            <a:ext cx="4762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latin typeface="Georgia"/>
                <a:cs typeface="Georgia"/>
              </a:rPr>
              <a:t>1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6581" y="2716950"/>
            <a:ext cx="4090670" cy="330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latin typeface="Georgia"/>
                <a:cs typeface="Georgia"/>
              </a:rPr>
              <a:t>4.3.</a:t>
            </a:r>
            <a:r>
              <a:rPr dirty="0" sz="850" spc="365" b="1">
                <a:latin typeface="Georgia"/>
                <a:cs typeface="Georgia"/>
              </a:rPr>
              <a:t> </a:t>
            </a:r>
            <a:r>
              <a:rPr dirty="0" sz="850" b="1">
                <a:latin typeface="Georgia"/>
                <a:cs typeface="Georgia"/>
              </a:rPr>
              <a:t>Последовательность</a:t>
            </a:r>
            <a:r>
              <a:rPr dirty="0" sz="850" spc="114" b="1">
                <a:latin typeface="Georgia"/>
                <a:cs typeface="Georgia"/>
              </a:rPr>
              <a:t> </a:t>
            </a:r>
            <a:r>
              <a:rPr dirty="0" sz="850" b="1">
                <a:latin typeface="Georgia"/>
                <a:cs typeface="Georgia"/>
              </a:rPr>
              <a:t>выполнения</a:t>
            </a:r>
            <a:r>
              <a:rPr dirty="0" sz="850" spc="130" b="1">
                <a:latin typeface="Georgia"/>
                <a:cs typeface="Georgia"/>
              </a:rPr>
              <a:t> </a:t>
            </a:r>
            <a:r>
              <a:rPr dirty="0" sz="850" spc="-10" b="1">
                <a:latin typeface="Georgia"/>
                <a:cs typeface="Georgia"/>
              </a:rPr>
              <a:t>работы</a:t>
            </a:r>
            <a:endParaRPr sz="850">
              <a:latin typeface="Georgia"/>
              <a:cs typeface="Georgia"/>
            </a:endParaRPr>
          </a:p>
          <a:p>
            <a:pPr marL="144780" marR="376555" indent="-132080">
              <a:lnSpc>
                <a:spcPts val="819"/>
              </a:lnSpc>
              <a:spcBef>
                <a:spcPts val="880"/>
              </a:spcBef>
              <a:buAutoNum type="arabicPeriod"/>
              <a:tabLst>
                <a:tab pos="149860" algn="l"/>
              </a:tabLst>
            </a:pPr>
            <a:r>
              <a:rPr dirty="0" sz="750" spc="-10">
                <a:latin typeface="Georgia"/>
                <a:cs typeface="Georgia"/>
              </a:rPr>
              <a:t>Определите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полное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имя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вашего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домашнего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каталога.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Далее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относительно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этого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>
                <a:latin typeface="Georgia"/>
                <a:cs typeface="Georgia"/>
              </a:rPr>
              <a:t>каталога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будут </a:t>
            </a:r>
            <a:r>
              <a:rPr dirty="0" sz="750" spc="-10">
                <a:latin typeface="Georgia"/>
                <a:cs typeface="Georgia"/>
              </a:rPr>
              <a:t>выполняться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последующие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упражнения.</a:t>
            </a:r>
            <a:endParaRPr sz="750">
              <a:latin typeface="Georgia"/>
              <a:cs typeface="Georgia"/>
            </a:endParaRPr>
          </a:p>
          <a:p>
            <a:pPr marL="146685" indent="-133350">
              <a:lnSpc>
                <a:spcPts val="844"/>
              </a:lnSpc>
              <a:buAutoNum type="arabicPeriod"/>
              <a:tabLst>
                <a:tab pos="146685" algn="l"/>
              </a:tabLst>
            </a:pPr>
            <a:r>
              <a:rPr dirty="0" sz="750">
                <a:latin typeface="Georgia"/>
                <a:cs typeface="Georgia"/>
              </a:rPr>
              <a:t>Выполните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следующие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действия:</a:t>
            </a:r>
            <a:endParaRPr sz="750">
              <a:latin typeface="Georgia"/>
              <a:cs typeface="Georgia"/>
            </a:endParaRPr>
          </a:p>
          <a:p>
            <a:pPr lvl="1" marL="357505" indent="-211454">
              <a:lnSpc>
                <a:spcPts val="869"/>
              </a:lnSpc>
              <a:buAutoNum type="arabicPeriod"/>
              <a:tabLst>
                <a:tab pos="357505" algn="l"/>
              </a:tabLst>
            </a:pPr>
            <a:r>
              <a:rPr dirty="0" sz="750">
                <a:latin typeface="Georgia"/>
                <a:cs typeface="Georgia"/>
              </a:rPr>
              <a:t>Перейдите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/tmp</a:t>
            </a:r>
            <a:r>
              <a:rPr dirty="0" sz="750" spc="-20">
                <a:latin typeface="Georgia"/>
                <a:cs typeface="Georgia"/>
              </a:rPr>
              <a:t>.</a:t>
            </a:r>
            <a:endParaRPr sz="750">
              <a:latin typeface="Georgia"/>
              <a:cs typeface="Georgia"/>
            </a:endParaRPr>
          </a:p>
          <a:p>
            <a:pPr lvl="1" marL="357505" indent="-211454">
              <a:lnSpc>
                <a:spcPts val="894"/>
              </a:lnSpc>
              <a:buAutoNum type="arabicPeriod"/>
              <a:tabLst>
                <a:tab pos="357505" algn="l"/>
              </a:tabLst>
            </a:pPr>
            <a:r>
              <a:rPr dirty="0" sz="750">
                <a:latin typeface="Georgia"/>
                <a:cs typeface="Georgia"/>
              </a:rPr>
              <a:t>Выведите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экран содержимое каталога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/tmp</a:t>
            </a:r>
            <a:r>
              <a:rPr dirty="0" sz="750" spc="-10">
                <a:latin typeface="Georgia"/>
                <a:cs typeface="Georgia"/>
              </a:rPr>
              <a:t>.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этого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используйте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команду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  <a:p>
            <a:pPr marL="361950">
              <a:lnSpc>
                <a:spcPts val="875"/>
              </a:lnSpc>
              <a:spcBef>
                <a:spcPts val="40"/>
              </a:spcBef>
            </a:pP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различными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опциями.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Поясните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разницу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выводимой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экран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информации.</a:t>
            </a:r>
            <a:endParaRPr sz="750">
              <a:latin typeface="Georgia"/>
              <a:cs typeface="Georgia"/>
            </a:endParaRPr>
          </a:p>
          <a:p>
            <a:pPr lvl="1" marL="357505" indent="-211454">
              <a:lnSpc>
                <a:spcPts val="860"/>
              </a:lnSpc>
              <a:buAutoNum type="arabicPeriod" startAt="3"/>
              <a:tabLst>
                <a:tab pos="357505" algn="l"/>
              </a:tabLst>
            </a:pPr>
            <a:r>
              <a:rPr dirty="0" sz="750" spc="-10">
                <a:latin typeface="Georgia"/>
                <a:cs typeface="Georgia"/>
              </a:rPr>
              <a:t>Определите,</a:t>
            </a:r>
            <a:r>
              <a:rPr dirty="0" sz="750">
                <a:latin typeface="Georgia"/>
                <a:cs typeface="Georgia"/>
              </a:rPr>
              <a:t> есть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ли</a:t>
            </a:r>
            <a:r>
              <a:rPr dirty="0" sz="750" spc="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6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каталоге</a:t>
            </a:r>
            <a:r>
              <a:rPr dirty="0" sz="750" spc="75">
                <a:latin typeface="Georgia"/>
                <a:cs typeface="Georgi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/var/spool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подкаталог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6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именем</a:t>
            </a:r>
            <a:r>
              <a:rPr dirty="0" sz="750" spc="65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cron</a:t>
            </a:r>
            <a:r>
              <a:rPr dirty="0" sz="750" spc="-10">
                <a:latin typeface="Georgia"/>
                <a:cs typeface="Georgia"/>
              </a:rPr>
              <a:t>?</a:t>
            </a:r>
            <a:endParaRPr sz="750">
              <a:latin typeface="Georgia"/>
              <a:cs typeface="Georgia"/>
            </a:endParaRPr>
          </a:p>
          <a:p>
            <a:pPr lvl="1" marL="357505" marR="392430" indent="-212090">
              <a:lnSpc>
                <a:spcPts val="819"/>
              </a:lnSpc>
              <a:spcBef>
                <a:spcPts val="80"/>
              </a:spcBef>
              <a:buAutoNum type="arabicPeriod" startAt="3"/>
              <a:tabLst>
                <a:tab pos="361950" algn="l"/>
              </a:tabLst>
            </a:pPr>
            <a:r>
              <a:rPr dirty="0" sz="750">
                <a:latin typeface="Georgia"/>
                <a:cs typeface="Georgia"/>
              </a:rPr>
              <a:t>Перейдите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Ваш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домашний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выведите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экран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его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содержимое.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 spc="-10">
                <a:latin typeface="Georgia"/>
                <a:cs typeface="Georgia"/>
              </a:rPr>
              <a:t>Определите,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кто является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владельцем</a:t>
            </a:r>
            <a:r>
              <a:rPr dirty="0" sz="750">
                <a:latin typeface="Georgia"/>
                <a:cs typeface="Georgia"/>
              </a:rPr>
              <a:t> файлов 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подкаталогов?</a:t>
            </a:r>
            <a:endParaRPr sz="750">
              <a:latin typeface="Georgia"/>
              <a:cs typeface="Georgia"/>
            </a:endParaRPr>
          </a:p>
          <a:p>
            <a:pPr marL="146050" indent="-132715">
              <a:lnSpc>
                <a:spcPts val="844"/>
              </a:lnSpc>
              <a:buAutoNum type="arabicPeriod"/>
              <a:tabLst>
                <a:tab pos="146050" algn="l"/>
              </a:tabLst>
            </a:pPr>
            <a:r>
              <a:rPr dirty="0" sz="750">
                <a:latin typeface="Georgia"/>
                <a:cs typeface="Georgia"/>
              </a:rPr>
              <a:t>Выполните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следующие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действия:</a:t>
            </a:r>
            <a:endParaRPr sz="750">
              <a:latin typeface="Georgia"/>
              <a:cs typeface="Georgia"/>
            </a:endParaRPr>
          </a:p>
          <a:p>
            <a:pPr lvl="1" marL="357505" indent="-211454">
              <a:lnSpc>
                <a:spcPts val="869"/>
              </a:lnSpc>
              <a:buAutoNum type="arabicPeriod"/>
              <a:tabLst>
                <a:tab pos="357505" algn="l"/>
              </a:tabLst>
            </a:pP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домашнем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каталоге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создайте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новый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-10">
                <a:latin typeface="Georgia"/>
                <a:cs typeface="Georgia"/>
              </a:rPr>
              <a:t> именем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newdir</a:t>
            </a:r>
            <a:r>
              <a:rPr dirty="0" sz="750" spc="-10">
                <a:latin typeface="Georgia"/>
                <a:cs typeface="Georgia"/>
              </a:rPr>
              <a:t>.</a:t>
            </a:r>
            <a:endParaRPr sz="750">
              <a:latin typeface="Georgia"/>
              <a:cs typeface="Georgia"/>
            </a:endParaRPr>
          </a:p>
          <a:p>
            <a:pPr lvl="1" marL="357505" indent="-211454">
              <a:lnSpc>
                <a:spcPts val="900"/>
              </a:lnSpc>
              <a:buAutoNum type="arabicPeriod"/>
              <a:tabLst>
                <a:tab pos="357505" algn="l"/>
              </a:tabLst>
            </a:pP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каталоге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~/newdir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 spc="-10">
                <a:latin typeface="Georgia"/>
                <a:cs typeface="Georgia"/>
              </a:rPr>
              <a:t>создайте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новый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именем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morefun</a:t>
            </a:r>
            <a:r>
              <a:rPr dirty="0" sz="750" spc="-10">
                <a:latin typeface="Georgia"/>
                <a:cs typeface="Georgia"/>
              </a:rPr>
              <a:t>.</a:t>
            </a:r>
            <a:endParaRPr sz="750">
              <a:latin typeface="Georgia"/>
              <a:cs typeface="Georgia"/>
            </a:endParaRPr>
          </a:p>
          <a:p>
            <a:pPr lvl="1" marL="357505" indent="-211454">
              <a:lnSpc>
                <a:spcPts val="875"/>
              </a:lnSpc>
              <a:spcBef>
                <a:spcPts val="40"/>
              </a:spcBef>
              <a:buAutoNum type="arabicPeriod"/>
              <a:tabLst>
                <a:tab pos="357505" algn="l"/>
              </a:tabLst>
            </a:pP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домашнем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создайте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одной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командой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три новых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каталога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-10">
                <a:latin typeface="Georgia"/>
                <a:cs typeface="Georgia"/>
              </a:rPr>
              <a:t> именами</a:t>
            </a:r>
            <a:endParaRPr sz="750">
              <a:latin typeface="Georgia"/>
              <a:cs typeface="Georgia"/>
            </a:endParaRPr>
          </a:p>
          <a:p>
            <a:pPr marL="361950">
              <a:lnSpc>
                <a:spcPts val="860"/>
              </a:lnSpc>
            </a:pPr>
            <a:r>
              <a:rPr dirty="0" sz="700" spc="-10">
                <a:latin typeface="Courier New"/>
                <a:cs typeface="Courier New"/>
              </a:rPr>
              <a:t>letters</a:t>
            </a:r>
            <a:r>
              <a:rPr dirty="0" sz="750" spc="-10">
                <a:latin typeface="Georgia"/>
                <a:cs typeface="Georgia"/>
              </a:rPr>
              <a:t>,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memos</a:t>
            </a:r>
            <a:r>
              <a:rPr dirty="0" sz="750" spc="-10">
                <a:latin typeface="Georgia"/>
                <a:cs typeface="Georgia"/>
              </a:rPr>
              <a:t>, </a:t>
            </a:r>
            <a:r>
              <a:rPr dirty="0" sz="700">
                <a:latin typeface="Courier New"/>
                <a:cs typeface="Courier New"/>
              </a:rPr>
              <a:t>misk</a:t>
            </a:r>
            <a:r>
              <a:rPr dirty="0" sz="750">
                <a:latin typeface="Georgia"/>
                <a:cs typeface="Georgia"/>
              </a:rPr>
              <a:t>.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Затем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удалите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эти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каталоги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одной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командой.</a:t>
            </a:r>
            <a:endParaRPr sz="750">
              <a:latin typeface="Georgia"/>
              <a:cs typeface="Georgia"/>
            </a:endParaRPr>
          </a:p>
          <a:p>
            <a:pPr lvl="1" marL="357505" marR="71755" indent="-212090">
              <a:lnSpc>
                <a:spcPts val="860"/>
              </a:lnSpc>
              <a:spcBef>
                <a:spcPts val="50"/>
              </a:spcBef>
              <a:buAutoNum type="arabicPeriod" startAt="4"/>
              <a:tabLst>
                <a:tab pos="361950" algn="l"/>
              </a:tabLst>
            </a:pPr>
            <a:r>
              <a:rPr dirty="0" sz="750" spc="-10">
                <a:latin typeface="Georgia"/>
                <a:cs typeface="Georgia"/>
              </a:rPr>
              <a:t>Попробуйте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удалить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ранее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созданный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 </a:t>
            </a:r>
            <a:r>
              <a:rPr dirty="0" sz="700" spc="-20">
                <a:latin typeface="Courier New"/>
                <a:cs typeface="Courier New"/>
              </a:rPr>
              <a:t>~/newdir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командой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rm</a:t>
            </a:r>
            <a:r>
              <a:rPr dirty="0" sz="750" spc="-10">
                <a:latin typeface="Georgia"/>
                <a:cs typeface="Georgia"/>
              </a:rPr>
              <a:t>.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Проверьте,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>
                <a:latin typeface="Georgia"/>
                <a:cs typeface="Georgia"/>
              </a:rPr>
              <a:t>был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ли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удалён.</a:t>
            </a:r>
            <a:endParaRPr sz="750">
              <a:latin typeface="Georgia"/>
              <a:cs typeface="Georgia"/>
            </a:endParaRPr>
          </a:p>
          <a:p>
            <a:pPr lvl="1" marL="356870" indent="-211454">
              <a:lnSpc>
                <a:spcPts val="775"/>
              </a:lnSpc>
              <a:buAutoNum type="arabicPeriod" startAt="4"/>
              <a:tabLst>
                <a:tab pos="356870" algn="l"/>
              </a:tabLst>
            </a:pPr>
            <a:r>
              <a:rPr dirty="0" sz="750" spc="-10">
                <a:latin typeface="Georgia"/>
                <a:cs typeface="Georgia"/>
              </a:rPr>
              <a:t>Удалите каталог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~/newdir/morefun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из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домашнего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каталога.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Проверьте,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был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25">
                <a:latin typeface="Georgia"/>
                <a:cs typeface="Georgia"/>
              </a:rPr>
              <a:t>ли</a:t>
            </a:r>
            <a:endParaRPr sz="750">
              <a:latin typeface="Georgia"/>
              <a:cs typeface="Georgia"/>
            </a:endParaRPr>
          </a:p>
          <a:p>
            <a:pPr marL="361950">
              <a:lnSpc>
                <a:spcPts val="840"/>
              </a:lnSpc>
            </a:pPr>
            <a:r>
              <a:rPr dirty="0" sz="750" spc="-10">
                <a:latin typeface="Georgia"/>
                <a:cs typeface="Georgia"/>
              </a:rPr>
              <a:t>каталог удалён.</a:t>
            </a:r>
            <a:endParaRPr sz="750">
              <a:latin typeface="Georgia"/>
              <a:cs typeface="Georgia"/>
            </a:endParaRPr>
          </a:p>
          <a:p>
            <a:pPr algn="just" marL="146050" marR="5080" indent="-133350">
              <a:lnSpc>
                <a:spcPct val="93300"/>
              </a:lnSpc>
              <a:spcBef>
                <a:spcPts val="15"/>
              </a:spcBef>
              <a:buAutoNum type="arabicPeriod" startAt="4"/>
              <a:tabLst>
                <a:tab pos="149860" algn="l"/>
              </a:tabLst>
            </a:pP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помощью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60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определите,</a:t>
            </a:r>
            <a:r>
              <a:rPr dirty="0" sz="750" spc="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какую</a:t>
            </a:r>
            <a:r>
              <a:rPr dirty="0" sz="750" spc="6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опцию</a:t>
            </a:r>
            <a:r>
              <a:rPr dirty="0" sz="750" spc="6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65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нужно</a:t>
            </a:r>
            <a:r>
              <a:rPr dirty="0" sz="750" spc="5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использовать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3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просмотра</a:t>
            </a:r>
            <a:r>
              <a:rPr dirty="0" sz="750" spc="3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содержимое</a:t>
            </a:r>
            <a:r>
              <a:rPr dirty="0" sz="750" spc="3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не</a:t>
            </a:r>
            <a:r>
              <a:rPr dirty="0" sz="750" spc="3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только</a:t>
            </a:r>
            <a:r>
              <a:rPr dirty="0" sz="750" spc="3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указанного</a:t>
            </a:r>
            <a:r>
              <a:rPr dirty="0" sz="750" spc="3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каталога,</a:t>
            </a:r>
            <a:r>
              <a:rPr dirty="0" sz="750" spc="3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но</a:t>
            </a:r>
            <a:r>
              <a:rPr dirty="0" sz="750" spc="34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3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подкаталогов,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>
                <a:latin typeface="Georgia"/>
                <a:cs typeface="Georgia"/>
              </a:rPr>
              <a:t>входящих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него.</a:t>
            </a:r>
            <a:endParaRPr sz="750">
              <a:latin typeface="Georgia"/>
              <a:cs typeface="Georgia"/>
            </a:endParaRPr>
          </a:p>
          <a:p>
            <a:pPr algn="just" marL="144780" indent="-132080">
              <a:lnSpc>
                <a:spcPts val="795"/>
              </a:lnSpc>
              <a:buAutoNum type="arabicPeriod" startAt="4"/>
              <a:tabLst>
                <a:tab pos="144780" algn="l"/>
              </a:tabLst>
            </a:pP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помощью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100">
                <a:latin typeface="Courier New"/>
                <a:cs typeface="Courier New"/>
              </a:rPr>
              <a:t> </a:t>
            </a:r>
            <a:r>
              <a:rPr dirty="0" sz="750" spc="-10">
                <a:latin typeface="Georgia"/>
                <a:cs typeface="Georgia"/>
              </a:rPr>
              <a:t>определите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набор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опций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50">
                <a:latin typeface="Georgia"/>
                <a:cs typeface="Georgia"/>
              </a:rPr>
              <a:t>,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позволяющий </a:t>
            </a:r>
            <a:r>
              <a:rPr dirty="0" sz="750" spc="-10">
                <a:latin typeface="Georgia"/>
                <a:cs typeface="Georgia"/>
              </a:rPr>
              <a:t>отсорти-</a:t>
            </a:r>
            <a:endParaRPr sz="750">
              <a:latin typeface="Georgia"/>
              <a:cs typeface="Georgia"/>
            </a:endParaRPr>
          </a:p>
          <a:p>
            <a:pPr algn="just" marL="149860" marR="6350">
              <a:lnSpc>
                <a:spcPts val="819"/>
              </a:lnSpc>
              <a:spcBef>
                <a:spcPts val="75"/>
              </a:spcBef>
            </a:pPr>
            <a:r>
              <a:rPr dirty="0" sz="750">
                <a:latin typeface="Georgia"/>
                <a:cs typeface="Georgia"/>
              </a:rPr>
              <a:t>ровать</a:t>
            </a:r>
            <a:r>
              <a:rPr dirty="0" sz="750" spc="9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</a:t>
            </a:r>
            <a:r>
              <a:rPr dirty="0" sz="750" spc="1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времени</a:t>
            </a:r>
            <a:r>
              <a:rPr dirty="0" sz="750" spc="1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последнего</a:t>
            </a:r>
            <a:r>
              <a:rPr dirty="0" sz="750" spc="1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изменения</a:t>
            </a:r>
            <a:r>
              <a:rPr dirty="0" sz="750" spc="1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выводимый</a:t>
            </a:r>
            <a:r>
              <a:rPr dirty="0" sz="750" spc="10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список</a:t>
            </a:r>
            <a:r>
              <a:rPr dirty="0" sz="750" spc="1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содержимого</a:t>
            </a:r>
            <a:r>
              <a:rPr dirty="0" sz="750" spc="10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каталога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развёрнутым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описанием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файлов.</a:t>
            </a:r>
            <a:endParaRPr sz="750">
              <a:latin typeface="Georgia"/>
              <a:cs typeface="Georgia"/>
            </a:endParaRPr>
          </a:p>
          <a:p>
            <a:pPr algn="just" marL="146050" indent="-133350">
              <a:lnSpc>
                <a:spcPts val="780"/>
              </a:lnSpc>
              <a:buAutoNum type="arabicPeriod" startAt="6"/>
              <a:tabLst>
                <a:tab pos="146050" algn="l"/>
              </a:tabLst>
            </a:pPr>
            <a:r>
              <a:rPr dirty="0" sz="750" spc="-10">
                <a:latin typeface="Georgia"/>
                <a:cs typeface="Georgia"/>
              </a:rPr>
              <a:t>Используйте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команду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105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просмотра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описания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следующих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команд: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50">
                <a:latin typeface="Georgia"/>
                <a:cs typeface="Georgia"/>
              </a:rPr>
              <a:t>,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pwd</a:t>
            </a:r>
            <a:r>
              <a:rPr dirty="0" sz="750">
                <a:latin typeface="Georgia"/>
                <a:cs typeface="Georgia"/>
              </a:rPr>
              <a:t>,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mkdir</a:t>
            </a:r>
            <a:r>
              <a:rPr dirty="0" sz="750" spc="-10">
                <a:latin typeface="Georgia"/>
                <a:cs typeface="Georgia"/>
              </a:rPr>
              <a:t>,</a:t>
            </a:r>
            <a:endParaRPr sz="750">
              <a:latin typeface="Georgia"/>
              <a:cs typeface="Georgia"/>
            </a:endParaRPr>
          </a:p>
          <a:p>
            <a:pPr algn="just" marL="149860">
              <a:lnSpc>
                <a:spcPts val="860"/>
              </a:lnSpc>
            </a:pPr>
            <a:r>
              <a:rPr dirty="0" sz="700" spc="-10">
                <a:latin typeface="Courier New"/>
                <a:cs typeface="Courier New"/>
              </a:rPr>
              <a:t>rmdir</a:t>
            </a:r>
            <a:r>
              <a:rPr dirty="0" sz="750" spc="-10">
                <a:latin typeface="Georgia"/>
                <a:cs typeface="Georgia"/>
              </a:rPr>
              <a:t>,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50">
                <a:latin typeface="Georgia"/>
                <a:cs typeface="Georgia"/>
              </a:rPr>
              <a:t>.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Поясните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основные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опции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этих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команд.</a:t>
            </a:r>
            <a:endParaRPr sz="750">
              <a:latin typeface="Georgia"/>
              <a:cs typeface="Georgia"/>
            </a:endParaRPr>
          </a:p>
          <a:p>
            <a:pPr algn="just" marL="145415" marR="5080" indent="-122555">
              <a:lnSpc>
                <a:spcPts val="860"/>
              </a:lnSpc>
              <a:spcBef>
                <a:spcPts val="45"/>
              </a:spcBef>
              <a:buAutoNum type="arabicPeriod" startAt="7"/>
              <a:tabLst>
                <a:tab pos="149860" algn="l"/>
              </a:tabLst>
            </a:pPr>
            <a:r>
              <a:rPr dirty="0" sz="750">
                <a:latin typeface="Georgia"/>
                <a:cs typeface="Georgia"/>
              </a:rPr>
              <a:t>Используя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информацию,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полученную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помощи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команды</a:t>
            </a:r>
            <a:r>
              <a:rPr dirty="0" sz="750" spc="65">
                <a:latin typeface="Georgia"/>
                <a:cs typeface="Georgia"/>
              </a:rPr>
              <a:t> </a:t>
            </a:r>
            <a:r>
              <a:rPr dirty="0" sz="700">
                <a:latin typeface="Courier New"/>
                <a:cs typeface="Courier New"/>
              </a:rPr>
              <a:t>history</a:t>
            </a:r>
            <a:r>
              <a:rPr dirty="0" sz="750">
                <a:latin typeface="Georgia"/>
                <a:cs typeface="Georgia"/>
              </a:rPr>
              <a:t>,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выполните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 spc="-25">
                <a:latin typeface="Georgia"/>
                <a:cs typeface="Georgia"/>
              </a:rPr>
              <a:t>мо-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 spc="-10">
                <a:latin typeface="Georgia"/>
                <a:cs typeface="Georgia"/>
              </a:rPr>
              <a:t>дификацию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исполнение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нескольких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из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буфера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команд.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2307170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794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latin typeface="Courier New"/>
                <a:cs typeface="Courier New"/>
              </a:rPr>
              <a:t>cd;ls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1072071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0955" rIns="0" bIns="0" rtlCol="0" vert="horz">
            <a:spAutoFit/>
          </a:bodyPr>
          <a:lstStyle/>
          <a:p>
            <a:pPr marL="36830" marR="3516629">
              <a:lnSpc>
                <a:spcPct val="106600"/>
              </a:lnSpc>
              <a:spcBef>
                <a:spcPts val="165"/>
              </a:spcBef>
            </a:pPr>
            <a:r>
              <a:rPr dirty="0" sz="700" spc="-25">
                <a:latin typeface="Courier New"/>
                <a:cs typeface="Courier New"/>
              </a:rPr>
              <a:t>!3:s/a/Fl </a:t>
            </a:r>
            <a:r>
              <a:rPr dirty="0" sz="700">
                <a:latin typeface="Courier New"/>
                <a:cs typeface="Courier New"/>
              </a:rPr>
              <a:t>s</a:t>
            </a:r>
            <a:r>
              <a:rPr dirty="0" sz="700" spc="-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-</a:t>
            </a:r>
            <a:r>
              <a:rPr dirty="0" sz="700" spc="-50">
                <a:latin typeface="Courier New"/>
                <a:cs typeface="Courier New"/>
              </a:rPr>
              <a:t>F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89276"/>
            <a:ext cx="13804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 i="1">
                <a:latin typeface="Georgia"/>
                <a:cs typeface="Georgia"/>
              </a:rPr>
              <a:t>КулябовД.С.идр.</a:t>
            </a:r>
            <a:r>
              <a:rPr dirty="0" sz="600" spc="-25">
                <a:latin typeface="Georgia"/>
                <a:cs typeface="Georgia"/>
              </a:rPr>
              <a:t>Операционныесистемы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5" y="389276"/>
            <a:ext cx="1092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Georgia"/>
                <a:cs typeface="Georgia"/>
              </a:rPr>
              <a:t>45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4506" y="628573"/>
            <a:ext cx="4107179" cy="3908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latin typeface="Georgia"/>
                <a:cs typeface="Georgia"/>
              </a:rPr>
              <a:t>4.4.</a:t>
            </a:r>
            <a:r>
              <a:rPr dirty="0" sz="850" spc="400" b="1">
                <a:latin typeface="Georgia"/>
                <a:cs typeface="Georgia"/>
              </a:rPr>
              <a:t> </a:t>
            </a:r>
            <a:r>
              <a:rPr dirty="0" sz="850" spc="-10" b="1">
                <a:latin typeface="Georgia"/>
                <a:cs typeface="Georgia"/>
              </a:rPr>
              <a:t>Содержание</a:t>
            </a:r>
            <a:r>
              <a:rPr dirty="0" sz="850" spc="40" b="1">
                <a:latin typeface="Georgia"/>
                <a:cs typeface="Georgia"/>
              </a:rPr>
              <a:t> </a:t>
            </a:r>
            <a:r>
              <a:rPr dirty="0" sz="850" spc="-10" b="1">
                <a:latin typeface="Georgia"/>
                <a:cs typeface="Georgia"/>
              </a:rPr>
              <a:t>отчёта</a:t>
            </a:r>
            <a:endParaRPr sz="850">
              <a:latin typeface="Georgia"/>
              <a:cs typeface="Georgia"/>
            </a:endParaRPr>
          </a:p>
          <a:p>
            <a:pPr marL="197485" indent="-132080">
              <a:lnSpc>
                <a:spcPts val="894"/>
              </a:lnSpc>
              <a:spcBef>
                <a:spcPts val="855"/>
              </a:spcBef>
              <a:buAutoNum type="arabicPeriod"/>
              <a:tabLst>
                <a:tab pos="197485" algn="l"/>
              </a:tabLst>
            </a:pPr>
            <a:r>
              <a:rPr dirty="0" sz="750" spc="-10">
                <a:latin typeface="Georgia"/>
                <a:cs typeface="Georgia"/>
              </a:rPr>
              <a:t>Титульный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лист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указанием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номера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лабораторной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работы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ФИО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студента.</a:t>
            </a:r>
            <a:endParaRPr sz="750">
              <a:latin typeface="Georgia"/>
              <a:cs typeface="Georgia"/>
            </a:endParaRPr>
          </a:p>
          <a:p>
            <a:pPr marL="198755" indent="-133350">
              <a:lnSpc>
                <a:spcPts val="894"/>
              </a:lnSpc>
              <a:buAutoNum type="arabicPeriod"/>
              <a:tabLst>
                <a:tab pos="198755" algn="l"/>
              </a:tabLst>
            </a:pPr>
            <a:r>
              <a:rPr dirty="0" sz="750" spc="-10">
                <a:latin typeface="Georgia"/>
                <a:cs typeface="Georgia"/>
              </a:rPr>
              <a:t>Формулировка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цели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работы.</a:t>
            </a:r>
            <a:endParaRPr sz="750">
              <a:latin typeface="Georgia"/>
              <a:cs typeface="Georgia"/>
            </a:endParaRPr>
          </a:p>
          <a:p>
            <a:pPr marL="198120" indent="-132715">
              <a:lnSpc>
                <a:spcPts val="894"/>
              </a:lnSpc>
              <a:buAutoNum type="arabicPeriod"/>
              <a:tabLst>
                <a:tab pos="198120" algn="l"/>
              </a:tabLst>
            </a:pPr>
            <a:r>
              <a:rPr dirty="0" sz="750">
                <a:latin typeface="Georgia"/>
                <a:cs typeface="Georgia"/>
              </a:rPr>
              <a:t>Описание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результатов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выполнения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задания:</a:t>
            </a:r>
            <a:endParaRPr sz="750">
              <a:latin typeface="Georgia"/>
              <a:cs typeface="Georgia"/>
            </a:endParaRPr>
          </a:p>
          <a:p>
            <a:pPr lvl="1" marL="412115" indent="-116205">
              <a:lnSpc>
                <a:spcPts val="894"/>
              </a:lnSpc>
              <a:buFont typeface="Georgia"/>
              <a:buChar char="–"/>
              <a:tabLst>
                <a:tab pos="412115" algn="l"/>
              </a:tabLst>
            </a:pPr>
            <a:r>
              <a:rPr dirty="0" sz="750">
                <a:latin typeface="Georgia"/>
                <a:cs typeface="Georgia"/>
              </a:rPr>
              <a:t>скриншоты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(снимки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экрана),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фиксирующие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выполнение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лабораторной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работы;</a:t>
            </a:r>
            <a:endParaRPr sz="750">
              <a:latin typeface="Georgia"/>
              <a:cs typeface="Georgia"/>
            </a:endParaRPr>
          </a:p>
          <a:p>
            <a:pPr lvl="1" marL="412115" indent="-116205">
              <a:lnSpc>
                <a:spcPts val="860"/>
              </a:lnSpc>
              <a:buFont typeface="Georgia"/>
              <a:buChar char="–"/>
              <a:tabLst>
                <a:tab pos="412115" algn="l"/>
              </a:tabLst>
            </a:pPr>
            <a:r>
              <a:rPr dirty="0" sz="750">
                <a:latin typeface="Georgia"/>
                <a:cs typeface="Georgia"/>
              </a:rPr>
              <a:t>листинги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(исходный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код)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программ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(если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они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есть);</a:t>
            </a:r>
            <a:endParaRPr sz="750">
              <a:latin typeface="Georgia"/>
              <a:cs typeface="Georgia"/>
            </a:endParaRPr>
          </a:p>
          <a:p>
            <a:pPr lvl="1" marL="411480" marR="196215" indent="-116205">
              <a:lnSpc>
                <a:spcPts val="819"/>
              </a:lnSpc>
              <a:spcBef>
                <a:spcPts val="60"/>
              </a:spcBef>
              <a:buFont typeface="Georgia"/>
              <a:buChar char="–"/>
              <a:tabLst>
                <a:tab pos="414020" algn="l"/>
              </a:tabLst>
            </a:pPr>
            <a:r>
              <a:rPr dirty="0" sz="750" spc="-10">
                <a:latin typeface="Georgia"/>
                <a:cs typeface="Georgia"/>
              </a:rPr>
              <a:t>результаты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выполнения</a:t>
            </a:r>
            <a:r>
              <a:rPr dirty="0" sz="750">
                <a:latin typeface="Georgia"/>
                <a:cs typeface="Georgia"/>
              </a:rPr>
              <a:t> программ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(текст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или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снимок</a:t>
            </a:r>
            <a:r>
              <a:rPr dirty="0" sz="750">
                <a:latin typeface="Georgia"/>
                <a:cs typeface="Georgia"/>
              </a:rPr>
              <a:t> экрана в </a:t>
            </a:r>
            <a:r>
              <a:rPr dirty="0" sz="750" spc="-10">
                <a:latin typeface="Georgia"/>
                <a:cs typeface="Georgia"/>
              </a:rPr>
              <a:t>зависимости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25">
                <a:latin typeface="Georgia"/>
                <a:cs typeface="Georgia"/>
              </a:rPr>
              <a:t>от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 spc="-10">
                <a:latin typeface="Georgia"/>
                <a:cs typeface="Georgia"/>
              </a:rPr>
              <a:t>задания).</a:t>
            </a:r>
            <a:endParaRPr sz="750">
              <a:latin typeface="Georgia"/>
              <a:cs typeface="Georgia"/>
            </a:endParaRPr>
          </a:p>
          <a:p>
            <a:pPr marL="198755" indent="-133350">
              <a:lnSpc>
                <a:spcPts val="869"/>
              </a:lnSpc>
              <a:buAutoNum type="arabicPeriod"/>
              <a:tabLst>
                <a:tab pos="198755" algn="l"/>
              </a:tabLst>
            </a:pPr>
            <a:r>
              <a:rPr dirty="0" sz="750" spc="-10">
                <a:latin typeface="Georgia"/>
                <a:cs typeface="Georgia"/>
              </a:rPr>
              <a:t>Выводы,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согласованные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целью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работы.</a:t>
            </a:r>
            <a:endParaRPr sz="750">
              <a:latin typeface="Georgia"/>
              <a:cs typeface="Georgia"/>
            </a:endParaRPr>
          </a:p>
          <a:p>
            <a:pPr marL="197485" indent="-13208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197485" algn="l"/>
              </a:tabLst>
            </a:pPr>
            <a:r>
              <a:rPr dirty="0" sz="750">
                <a:latin typeface="Georgia"/>
                <a:cs typeface="Georgia"/>
              </a:rPr>
              <a:t>Ответы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на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контрольные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вопросы.</a:t>
            </a:r>
            <a:endParaRPr sz="7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750">
              <a:latin typeface="Georgia"/>
              <a:cs typeface="Georgia"/>
            </a:endParaRPr>
          </a:p>
          <a:p>
            <a:pPr marL="69215">
              <a:lnSpc>
                <a:spcPct val="100000"/>
              </a:lnSpc>
            </a:pPr>
            <a:r>
              <a:rPr dirty="0" sz="850" b="1">
                <a:latin typeface="Georgia"/>
                <a:cs typeface="Georgia"/>
              </a:rPr>
              <a:t>4.5.</a:t>
            </a:r>
            <a:r>
              <a:rPr dirty="0" sz="850" spc="405" b="1">
                <a:latin typeface="Georgia"/>
                <a:cs typeface="Georgia"/>
              </a:rPr>
              <a:t> </a:t>
            </a:r>
            <a:r>
              <a:rPr dirty="0" sz="850" b="1">
                <a:latin typeface="Georgia"/>
                <a:cs typeface="Georgia"/>
              </a:rPr>
              <a:t>Контрольные</a:t>
            </a:r>
            <a:r>
              <a:rPr dirty="0" sz="850" spc="40" b="1">
                <a:latin typeface="Georgia"/>
                <a:cs typeface="Georgia"/>
              </a:rPr>
              <a:t> </a:t>
            </a:r>
            <a:r>
              <a:rPr dirty="0" sz="850" spc="-10" b="1">
                <a:latin typeface="Georgia"/>
                <a:cs typeface="Georgia"/>
              </a:rPr>
              <a:t>вопросы</a:t>
            </a:r>
            <a:endParaRPr sz="850">
              <a:latin typeface="Georgia"/>
              <a:cs typeface="Georgia"/>
            </a:endParaRPr>
          </a:p>
          <a:p>
            <a:pPr marL="197485" indent="-132080">
              <a:lnSpc>
                <a:spcPts val="865"/>
              </a:lnSpc>
              <a:spcBef>
                <a:spcPts val="855"/>
              </a:spcBef>
              <a:buAutoNum type="arabicPeriod"/>
              <a:tabLst>
                <a:tab pos="197485" algn="l"/>
              </a:tabLst>
            </a:pPr>
            <a:r>
              <a:rPr dirty="0" sz="750">
                <a:latin typeface="Georgia"/>
                <a:cs typeface="Georgia"/>
              </a:rPr>
              <a:t>Что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такое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командная</a:t>
            </a:r>
            <a:r>
              <a:rPr dirty="0" sz="750" spc="4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строка?</a:t>
            </a:r>
            <a:endParaRPr sz="750">
              <a:latin typeface="Georgia"/>
              <a:cs typeface="Georgia"/>
            </a:endParaRPr>
          </a:p>
          <a:p>
            <a:pPr marL="198120" marR="52705" indent="-133350">
              <a:lnSpc>
                <a:spcPts val="819"/>
              </a:lnSpc>
              <a:spcBef>
                <a:spcPts val="55"/>
              </a:spcBef>
              <a:buAutoNum type="arabicPeriod"/>
              <a:tabLst>
                <a:tab pos="201930" algn="l"/>
              </a:tabLst>
            </a:pPr>
            <a:r>
              <a:rPr dirty="0" sz="750">
                <a:latin typeface="Georgia"/>
                <a:cs typeface="Georgia"/>
              </a:rPr>
              <a:t>При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помощи какой команды можно </a:t>
            </a:r>
            <a:r>
              <a:rPr dirty="0" sz="750" spc="-10">
                <a:latin typeface="Georgia"/>
                <a:cs typeface="Georgia"/>
              </a:rPr>
              <a:t>определить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абсолютный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путь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текущего </a:t>
            </a:r>
            <a:r>
              <a:rPr dirty="0" sz="750" spc="-10">
                <a:latin typeface="Georgia"/>
                <a:cs typeface="Georgia"/>
              </a:rPr>
              <a:t>каталога?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 spc="-10">
                <a:latin typeface="Georgia"/>
                <a:cs typeface="Georgia"/>
              </a:rPr>
              <a:t>Приведите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пример.</a:t>
            </a:r>
            <a:endParaRPr sz="750">
              <a:latin typeface="Georgia"/>
              <a:cs typeface="Georgia"/>
            </a:endParaRPr>
          </a:p>
          <a:p>
            <a:pPr marL="197485" indent="-132715">
              <a:lnSpc>
                <a:spcPts val="760"/>
              </a:lnSpc>
              <a:buAutoNum type="arabicPeriod"/>
              <a:tabLst>
                <a:tab pos="197485" algn="l"/>
              </a:tabLst>
            </a:pPr>
            <a:r>
              <a:rPr dirty="0" sz="750">
                <a:latin typeface="Georgia"/>
                <a:cs typeface="Georgia"/>
              </a:rPr>
              <a:t>При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помощи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какой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команды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каких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опций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определить</a:t>
            </a:r>
            <a:r>
              <a:rPr dirty="0" sz="750" spc="-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только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тип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файлов</a:t>
            </a:r>
            <a:r>
              <a:rPr dirty="0" sz="750" spc="19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 </a:t>
            </a:r>
            <a:r>
              <a:rPr dirty="0" sz="750" spc="-25">
                <a:latin typeface="Georgia"/>
                <a:cs typeface="Georgia"/>
              </a:rPr>
              <a:t>их</a:t>
            </a:r>
            <a:endParaRPr sz="750">
              <a:latin typeface="Georgia"/>
              <a:cs typeface="Georgia"/>
            </a:endParaRPr>
          </a:p>
          <a:p>
            <a:pPr marL="201930">
              <a:lnSpc>
                <a:spcPts val="850"/>
              </a:lnSpc>
            </a:pPr>
            <a:r>
              <a:rPr dirty="0" sz="750">
                <a:latin typeface="Georgia"/>
                <a:cs typeface="Georgia"/>
              </a:rPr>
              <a:t>имена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текущем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каталоге?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Приведите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примеры.</a:t>
            </a:r>
            <a:endParaRPr sz="750">
              <a:latin typeface="Georgia"/>
              <a:cs typeface="Georgia"/>
            </a:endParaRPr>
          </a:p>
          <a:p>
            <a:pPr marL="198755" indent="-133350">
              <a:lnSpc>
                <a:spcPts val="855"/>
              </a:lnSpc>
              <a:buAutoNum type="arabicPeriod" startAt="4"/>
              <a:tabLst>
                <a:tab pos="198755" algn="l"/>
              </a:tabLst>
            </a:pPr>
            <a:r>
              <a:rPr dirty="0" sz="750">
                <a:latin typeface="Georgia"/>
                <a:cs typeface="Georgia"/>
              </a:rPr>
              <a:t>Каким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образом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отобразить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информацию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скрытых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файлах?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Приведите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примеры.</a:t>
            </a:r>
            <a:endParaRPr sz="750">
              <a:latin typeface="Georgia"/>
              <a:cs typeface="Georgia"/>
            </a:endParaRPr>
          </a:p>
          <a:p>
            <a:pPr marL="196850" marR="231140" indent="-132080">
              <a:lnSpc>
                <a:spcPts val="819"/>
              </a:lnSpc>
              <a:spcBef>
                <a:spcPts val="60"/>
              </a:spcBef>
              <a:buAutoNum type="arabicPeriod" startAt="4"/>
              <a:tabLst>
                <a:tab pos="201930" algn="l"/>
              </a:tabLst>
            </a:pPr>
            <a:r>
              <a:rPr dirty="0" sz="750">
                <a:latin typeface="Georgia"/>
                <a:cs typeface="Georgia"/>
              </a:rPr>
              <a:t>При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помощи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каких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 </a:t>
            </a: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удалить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файл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каталог?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Можно</a:t>
            </a:r>
            <a:r>
              <a:rPr dirty="0" sz="750" spc="-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ли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это</a:t>
            </a:r>
            <a:r>
              <a:rPr dirty="0" sz="750" spc="-10">
                <a:latin typeface="Georgia"/>
                <a:cs typeface="Georgia"/>
              </a:rPr>
              <a:t> сделать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>
                <a:latin typeface="Georgia"/>
                <a:cs typeface="Georgia"/>
              </a:rPr>
              <a:t>одной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той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же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командой?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Приведите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примеры.</a:t>
            </a:r>
            <a:endParaRPr sz="750">
              <a:latin typeface="Georgia"/>
              <a:cs typeface="Georgia"/>
            </a:endParaRPr>
          </a:p>
          <a:p>
            <a:pPr marL="198120" indent="-133350">
              <a:lnSpc>
                <a:spcPts val="760"/>
              </a:lnSpc>
              <a:buAutoNum type="arabicPeriod" startAt="4"/>
              <a:tabLst>
                <a:tab pos="198120" algn="l"/>
              </a:tabLst>
            </a:pPr>
            <a:r>
              <a:rPr dirty="0" sz="750" spc="-10">
                <a:latin typeface="Georgia"/>
                <a:cs typeface="Georgia"/>
              </a:rPr>
              <a:t>Каким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образом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можно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вывести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информацию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последних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выполненных</a:t>
            </a:r>
            <a:r>
              <a:rPr dirty="0" sz="750" spc="-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пользовате-</a:t>
            </a:r>
            <a:r>
              <a:rPr dirty="0" sz="750" spc="-25">
                <a:latin typeface="Georgia"/>
                <a:cs typeface="Georgia"/>
              </a:rPr>
              <a:t>лем</a:t>
            </a:r>
            <a:endParaRPr sz="750">
              <a:latin typeface="Georgia"/>
              <a:cs typeface="Georgia"/>
            </a:endParaRPr>
          </a:p>
          <a:p>
            <a:pPr marL="201930">
              <a:lnSpc>
                <a:spcPts val="815"/>
              </a:lnSpc>
            </a:pPr>
            <a:r>
              <a:rPr dirty="0" sz="750" spc="-10">
                <a:latin typeface="Georgia"/>
                <a:cs typeface="Georgia"/>
              </a:rPr>
              <a:t>командах?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работы?</a:t>
            </a:r>
            <a:endParaRPr sz="750">
              <a:latin typeface="Georgia"/>
              <a:cs typeface="Georgia"/>
            </a:endParaRPr>
          </a:p>
          <a:p>
            <a:pPr marL="197485" marR="279400" indent="-122555">
              <a:lnSpc>
                <a:spcPts val="819"/>
              </a:lnSpc>
              <a:spcBef>
                <a:spcPts val="50"/>
              </a:spcBef>
              <a:buAutoNum type="arabicPeriod" startAt="7"/>
              <a:tabLst>
                <a:tab pos="201930" algn="l"/>
              </a:tabLst>
            </a:pPr>
            <a:r>
              <a:rPr dirty="0" sz="750">
                <a:latin typeface="Georgia"/>
                <a:cs typeface="Georgia"/>
              </a:rPr>
              <a:t>Как </a:t>
            </a:r>
            <a:r>
              <a:rPr dirty="0" sz="750" spc="-10">
                <a:latin typeface="Georgia"/>
                <a:cs typeface="Georgia"/>
              </a:rPr>
              <a:t>воспользоваться</a:t>
            </a:r>
            <a:r>
              <a:rPr dirty="0" sz="750">
                <a:latin typeface="Georgia"/>
                <a:cs typeface="Georgia"/>
              </a:rPr>
              <a:t> историей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</a:t>
            </a:r>
            <a:r>
              <a:rPr dirty="0" sz="750">
                <a:latin typeface="Georgia"/>
                <a:cs typeface="Georgia"/>
              </a:rPr>
              <a:t> для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их модифицированного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выполнения?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 spc="-10">
                <a:latin typeface="Georgia"/>
                <a:cs typeface="Georgia"/>
              </a:rPr>
              <a:t>Приведите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примеры.</a:t>
            </a:r>
            <a:endParaRPr sz="750">
              <a:latin typeface="Georgia"/>
              <a:cs typeface="Georgia"/>
            </a:endParaRPr>
          </a:p>
          <a:p>
            <a:pPr marL="198120" indent="-132715">
              <a:lnSpc>
                <a:spcPts val="865"/>
              </a:lnSpc>
              <a:buAutoNum type="arabicPeriod" startAt="7"/>
              <a:tabLst>
                <a:tab pos="198120" algn="l"/>
              </a:tabLst>
            </a:pPr>
            <a:r>
              <a:rPr dirty="0" sz="750">
                <a:latin typeface="Georgia"/>
                <a:cs typeface="Georgia"/>
              </a:rPr>
              <a:t>Приведите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примеры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запуска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нескольких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команд</a:t>
            </a:r>
            <a:r>
              <a:rPr dirty="0" sz="750" spc="3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</a:t>
            </a:r>
            <a:r>
              <a:rPr dirty="0" sz="750" spc="2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одной</a:t>
            </a:r>
            <a:r>
              <a:rPr dirty="0" sz="750" spc="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строке.</a:t>
            </a:r>
            <a:endParaRPr sz="750">
              <a:latin typeface="Georgia"/>
              <a:cs typeface="Georgia"/>
            </a:endParaRPr>
          </a:p>
          <a:p>
            <a:pPr marL="198755" indent="-133350">
              <a:lnSpc>
                <a:spcPts val="869"/>
              </a:lnSpc>
              <a:buAutoNum type="arabicPeriod" startAt="7"/>
              <a:tabLst>
                <a:tab pos="198755" algn="l"/>
              </a:tabLst>
            </a:pPr>
            <a:r>
              <a:rPr dirty="0" sz="750">
                <a:latin typeface="Georgia"/>
                <a:cs typeface="Georgia"/>
              </a:rPr>
              <a:t>Дайте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определение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приведите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примера</a:t>
            </a:r>
            <a:r>
              <a:rPr dirty="0" sz="750" spc="5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символов</a:t>
            </a:r>
            <a:r>
              <a:rPr dirty="0" sz="750" spc="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экранирования.</a:t>
            </a:r>
            <a:endParaRPr sz="750">
              <a:latin typeface="Georgia"/>
              <a:cs typeface="Georgia"/>
            </a:endParaRPr>
          </a:p>
          <a:p>
            <a:pPr marL="196215" indent="-183515">
              <a:lnSpc>
                <a:spcPts val="869"/>
              </a:lnSpc>
              <a:buAutoNum type="arabicPeriod" startAt="7"/>
              <a:tabLst>
                <a:tab pos="196215" algn="l"/>
              </a:tabLst>
            </a:pPr>
            <a:r>
              <a:rPr dirty="0" sz="750" spc="-10">
                <a:latin typeface="Georgia"/>
                <a:cs typeface="Georgia"/>
              </a:rPr>
              <a:t>Охарактеризуйте</a:t>
            </a:r>
            <a:r>
              <a:rPr dirty="0" sz="750" spc="-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вывод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информации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на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экран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после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выполнения</a:t>
            </a:r>
            <a:r>
              <a:rPr dirty="0" sz="750" spc="-3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команды </a:t>
            </a:r>
            <a:r>
              <a:rPr dirty="0" sz="700" spc="-20">
                <a:latin typeface="Courier New"/>
                <a:cs typeface="Courier New"/>
              </a:rPr>
              <a:t>ls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>
                <a:latin typeface="Georgia"/>
                <a:cs typeface="Georgia"/>
              </a:rPr>
              <a:t>с</a:t>
            </a:r>
            <a:r>
              <a:rPr dirty="0" sz="750" spc="-4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опцией</a:t>
            </a:r>
            <a:endParaRPr sz="750">
              <a:latin typeface="Georgia"/>
              <a:cs typeface="Georgia"/>
            </a:endParaRPr>
          </a:p>
          <a:p>
            <a:pPr marL="201930">
              <a:lnSpc>
                <a:spcPts val="885"/>
              </a:lnSpc>
            </a:pPr>
            <a:r>
              <a:rPr dirty="0" sz="700" spc="-25">
                <a:latin typeface="Courier New"/>
                <a:cs typeface="Courier New"/>
              </a:rPr>
              <a:t>l</a:t>
            </a:r>
            <a:r>
              <a:rPr dirty="0" sz="750" spc="-25">
                <a:latin typeface="Georgia"/>
                <a:cs typeface="Georgia"/>
              </a:rPr>
              <a:t>.</a:t>
            </a:r>
            <a:endParaRPr sz="750">
              <a:latin typeface="Georgia"/>
              <a:cs typeface="Georgia"/>
            </a:endParaRPr>
          </a:p>
          <a:p>
            <a:pPr marL="194945" marR="104139" indent="-182880">
              <a:lnSpc>
                <a:spcPts val="819"/>
              </a:lnSpc>
              <a:spcBef>
                <a:spcPts val="80"/>
              </a:spcBef>
              <a:buAutoNum type="arabicPeriod" startAt="11"/>
              <a:tabLst>
                <a:tab pos="201295" algn="l"/>
              </a:tabLst>
            </a:pPr>
            <a:r>
              <a:rPr dirty="0" sz="750">
                <a:latin typeface="Georgia"/>
                <a:cs typeface="Georgia"/>
              </a:rPr>
              <a:t>Что такое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относительный</a:t>
            </a:r>
            <a:r>
              <a:rPr dirty="0" sz="750">
                <a:latin typeface="Georgia"/>
                <a:cs typeface="Georgia"/>
              </a:rPr>
              <a:t> путь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файлу?</a:t>
            </a:r>
            <a:r>
              <a:rPr dirty="0" sz="750">
                <a:latin typeface="Georgia"/>
                <a:cs typeface="Georgia"/>
              </a:rPr>
              <a:t> Приведите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примеры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использования</a:t>
            </a:r>
            <a:r>
              <a:rPr dirty="0" sz="75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относи-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>
                <a:latin typeface="Georgia"/>
                <a:cs typeface="Georgia"/>
              </a:rPr>
              <a:t>тельного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абсолютного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пути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при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выполнении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какой-либо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команды.</a:t>
            </a:r>
            <a:endParaRPr sz="750">
              <a:latin typeface="Georgia"/>
              <a:cs typeface="Georgia"/>
            </a:endParaRPr>
          </a:p>
          <a:p>
            <a:pPr marL="196215" indent="-183515">
              <a:lnSpc>
                <a:spcPts val="830"/>
              </a:lnSpc>
              <a:buAutoNum type="arabicPeriod" startAt="11"/>
              <a:tabLst>
                <a:tab pos="196215" algn="l"/>
              </a:tabLst>
            </a:pPr>
            <a:r>
              <a:rPr dirty="0" sz="750">
                <a:latin typeface="Georgia"/>
                <a:cs typeface="Georgia"/>
              </a:rPr>
              <a:t>Как</a:t>
            </a:r>
            <a:r>
              <a:rPr dirty="0" sz="750" spc="1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получить</a:t>
            </a:r>
            <a:r>
              <a:rPr dirty="0" sz="750" spc="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информацию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об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интересующей</a:t>
            </a:r>
            <a:r>
              <a:rPr dirty="0" sz="750" spc="15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вас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команде?</a:t>
            </a:r>
            <a:endParaRPr sz="750">
              <a:latin typeface="Georgia"/>
              <a:cs typeface="Georgia"/>
            </a:endParaRPr>
          </a:p>
          <a:p>
            <a:pPr marL="195580" marR="213995" indent="-183515">
              <a:lnSpc>
                <a:spcPts val="819"/>
              </a:lnSpc>
              <a:spcBef>
                <a:spcPts val="60"/>
              </a:spcBef>
              <a:buAutoNum type="arabicPeriod" startAt="11"/>
              <a:tabLst>
                <a:tab pos="201295" algn="l"/>
              </a:tabLst>
            </a:pPr>
            <a:r>
              <a:rPr dirty="0" sz="750">
                <a:latin typeface="Georgia"/>
                <a:cs typeface="Georgia"/>
              </a:rPr>
              <a:t>Какая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клавиша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или</a:t>
            </a:r>
            <a:r>
              <a:rPr dirty="0" sz="750" spc="-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комбинация клавиш служит</a:t>
            </a:r>
            <a:r>
              <a:rPr dirty="0" sz="750" spc="-3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для</a:t>
            </a:r>
            <a:r>
              <a:rPr dirty="0" sz="750" spc="-10">
                <a:latin typeface="Georgia"/>
                <a:cs typeface="Georgia"/>
              </a:rPr>
              <a:t> </a:t>
            </a:r>
            <a:r>
              <a:rPr dirty="0" sz="750">
                <a:latin typeface="Georgia"/>
                <a:cs typeface="Georgia"/>
              </a:rPr>
              <a:t>автоматического</a:t>
            </a:r>
            <a:r>
              <a:rPr dirty="0" sz="750" spc="-15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дополнения</a:t>
            </a:r>
            <a:r>
              <a:rPr dirty="0" sz="750" spc="500">
                <a:latin typeface="Georgia"/>
                <a:cs typeface="Georgia"/>
              </a:rPr>
              <a:t> </a:t>
            </a:r>
            <a:r>
              <a:rPr dirty="0" sz="750" spc="500">
                <a:latin typeface="Georgia"/>
                <a:cs typeface="Georgia"/>
              </a:rPr>
              <a:t>	</a:t>
            </a:r>
            <a:r>
              <a:rPr dirty="0" sz="750" spc="-10">
                <a:latin typeface="Georgia"/>
                <a:cs typeface="Georgia"/>
              </a:rPr>
              <a:t>вводимых</a:t>
            </a:r>
            <a:r>
              <a:rPr dirty="0" sz="750" spc="20">
                <a:latin typeface="Georgia"/>
                <a:cs typeface="Georgia"/>
              </a:rPr>
              <a:t> </a:t>
            </a:r>
            <a:r>
              <a:rPr dirty="0" sz="750" spc="-10">
                <a:latin typeface="Georgia"/>
                <a:cs typeface="Georgia"/>
              </a:rPr>
              <a:t>команд?</a:t>
            </a:r>
            <a:endParaRPr sz="7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2026-03-20T16:15:18Z</dcterms:created>
  <dcterms:modified xsi:type="dcterms:W3CDTF">2026-03-20T16:15:18Z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2026-03-20T00:00:00Z</vt:filetime>
  </property>
  <property fmtid="{D5CDD505-2E9C-101B-9397-08002B2CF9AE}" pid="5" name="Producer">
    <vt:lpwstr>3-Heights(TM) PDF Security Shell 4.8.25.2 (http://www.pdf-tools.com)</vt:lpwstr>
  </property>
</Properties>
</file>
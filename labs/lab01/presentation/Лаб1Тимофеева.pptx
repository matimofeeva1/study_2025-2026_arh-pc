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0252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0252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0252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0252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0252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0252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4055" y="697383"/>
            <a:ext cx="2781300" cy="5960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0252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7704" y="4677426"/>
            <a:ext cx="5824855" cy="5168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0252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pythonhosted.org/pyglet/api/pyglet.window.key-module.html" TargetMode="Externa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github.com/lierdakil/pandoc-crossref" TargetMode="External"/><Relationship Id="rId3" Type="http://schemas.openxmlformats.org/officeDocument/2006/relationships/hyperlink" Target="https://github.com/lierdakil/pandoc-crossref/releases" TargetMode="External"/><Relationship Id="rId4" Type="http://schemas.openxmlformats.org/officeDocument/2006/relationships/hyperlink" Target="https://github.com/jgm/pandoc/releases" TargetMode="Externa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99185" y="567833"/>
            <a:ext cx="5219065" cy="1044575"/>
          </a:xfrm>
          <a:prstGeom prst="rect">
            <a:avLst/>
          </a:prstGeom>
        </p:spPr>
        <p:txBody>
          <a:bodyPr wrap="square" lIns="0" tIns="147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 sz="1600" b="1">
                <a:latin typeface="Times New Roman"/>
                <a:cs typeface="Times New Roman"/>
              </a:rPr>
              <a:t>РОССИЙСКИЙ</a:t>
            </a:r>
            <a:r>
              <a:rPr dirty="0" sz="1600" spc="-6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УНИВЕРСИТЕТ</a:t>
            </a:r>
            <a:r>
              <a:rPr dirty="0" sz="1600" spc="-6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ДРУЖБЫ</a:t>
            </a:r>
            <a:r>
              <a:rPr dirty="0" sz="1600" spc="-6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НАРОДОВ</a:t>
            </a:r>
            <a:endParaRPr sz="1600">
              <a:latin typeface="Times New Roman"/>
              <a:cs typeface="Times New Roman"/>
            </a:endParaRPr>
          </a:p>
          <a:p>
            <a:pPr marL="455930" marR="332105" indent="91440">
              <a:lnSpc>
                <a:spcPts val="2620"/>
              </a:lnSpc>
            </a:pPr>
            <a:r>
              <a:rPr dirty="0" sz="1300" b="1">
                <a:latin typeface="Times New Roman"/>
                <a:cs typeface="Times New Roman"/>
              </a:rPr>
              <a:t>Факультет</a:t>
            </a:r>
            <a:r>
              <a:rPr dirty="0" sz="1300" spc="5" b="1">
                <a:latin typeface="Times New Roman"/>
                <a:cs typeface="Times New Roman"/>
              </a:rPr>
              <a:t> </a:t>
            </a:r>
            <a:r>
              <a:rPr dirty="0" sz="1300" spc="-20" b="1">
                <a:latin typeface="Times New Roman"/>
                <a:cs typeface="Times New Roman"/>
              </a:rPr>
              <a:t>физико-</a:t>
            </a:r>
            <a:r>
              <a:rPr dirty="0" sz="1300" spc="-10" b="1">
                <a:latin typeface="Times New Roman"/>
                <a:cs typeface="Times New Roman"/>
              </a:rPr>
              <a:t>математических</a:t>
            </a:r>
            <a:r>
              <a:rPr dirty="0" sz="1300" spc="1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и</a:t>
            </a:r>
            <a:r>
              <a:rPr dirty="0" sz="1300" spc="1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естественных</a:t>
            </a:r>
            <a:r>
              <a:rPr dirty="0" sz="1300" spc="10" b="1">
                <a:latin typeface="Times New Roman"/>
                <a:cs typeface="Times New Roman"/>
              </a:rPr>
              <a:t> </a:t>
            </a:r>
            <a:r>
              <a:rPr dirty="0" sz="1300" spc="-20" b="1">
                <a:latin typeface="Times New Roman"/>
                <a:cs typeface="Times New Roman"/>
              </a:rPr>
              <a:t>наук </a:t>
            </a:r>
            <a:r>
              <a:rPr dirty="0" sz="1300" b="1">
                <a:latin typeface="Times New Roman"/>
                <a:cs typeface="Times New Roman"/>
              </a:rPr>
              <a:t>Кафедра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прикладной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информатики</a:t>
            </a:r>
            <a:r>
              <a:rPr dirty="0" sz="1300" spc="-2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и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теории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вероятностей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820945" y="2982486"/>
            <a:ext cx="3815715" cy="1377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6985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latin typeface="Times New Roman"/>
                <a:cs typeface="Times New Roman"/>
              </a:rPr>
              <a:t>ОТЧЕТ</a:t>
            </a:r>
            <a:endParaRPr sz="1600">
              <a:latin typeface="Times New Roman"/>
              <a:cs typeface="Times New Roman"/>
            </a:endParaRPr>
          </a:p>
          <a:p>
            <a:pPr algn="ctr" marL="60325">
              <a:lnSpc>
                <a:spcPct val="100000"/>
              </a:lnSpc>
              <a:spcBef>
                <a:spcPts val="1500"/>
              </a:spcBef>
            </a:pPr>
            <a:r>
              <a:rPr dirty="0" sz="1600" b="1">
                <a:latin typeface="Times New Roman"/>
                <a:cs typeface="Times New Roman"/>
              </a:rPr>
              <a:t>ПО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ЛАБОРАТОРНОЙ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РАБОТЕ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№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spc="-50" b="1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  <a:tabLst>
                <a:tab pos="1447165" algn="l"/>
              </a:tabLst>
            </a:pPr>
            <a:r>
              <a:rPr dirty="0" u="sng" sz="160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дисциплина:</a:t>
            </a:r>
            <a:r>
              <a:rPr dirty="0" sz="1600" spc="500" i="1">
                <a:latin typeface="Times New Roman"/>
                <a:cs typeface="Times New Roman"/>
              </a:rPr>
              <a:t> </a:t>
            </a:r>
            <a:r>
              <a:rPr dirty="0" u="sng" sz="160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Архитектура</a:t>
            </a:r>
            <a:r>
              <a:rPr dirty="0" sz="1600" spc="-45" i="1">
                <a:latin typeface="Times New Roman"/>
                <a:cs typeface="Times New Roman"/>
              </a:rPr>
              <a:t> </a:t>
            </a:r>
            <a:r>
              <a:rPr dirty="0" u="sng" sz="160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компьютера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70693" y="6552590"/>
            <a:ext cx="318770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Студент:</a:t>
            </a:r>
            <a:r>
              <a:rPr dirty="0" u="sng" sz="1300" spc="-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Тимофеева</a:t>
            </a:r>
            <a:r>
              <a:rPr dirty="0" u="sng" sz="1300" spc="-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Милана</a:t>
            </a:r>
            <a:r>
              <a:rPr dirty="0" u="sng" sz="1300" spc="-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Александровна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409717" y="7329995"/>
            <a:ext cx="156400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Группа:</a:t>
            </a:r>
            <a:r>
              <a:rPr dirty="0" sz="1300" spc="-60">
                <a:latin typeface="Times New Roman"/>
                <a:cs typeface="Times New Roman"/>
              </a:rPr>
              <a:t> </a:t>
            </a:r>
            <a:r>
              <a:rPr dirty="0" u="sng" sz="13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НБИбд-02-</a:t>
            </a:r>
            <a:r>
              <a:rPr dirty="0" u="sng" sz="13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395954" y="9373651"/>
            <a:ext cx="77787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latin typeface="Times New Roman"/>
                <a:cs typeface="Times New Roman"/>
              </a:rPr>
              <a:t>МОСКВА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534524" y="705320"/>
            <a:ext cx="50609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latin typeface="Times New Roman"/>
                <a:cs typeface="Times New Roman"/>
              </a:rPr>
              <a:t>2026 </a:t>
            </a:r>
            <a:r>
              <a:rPr dirty="0" sz="1300" spc="-25">
                <a:latin typeface="Times New Roman"/>
                <a:cs typeface="Times New Roman"/>
              </a:rPr>
              <a:t>г.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4055" y="902261"/>
            <a:ext cx="188277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Цель</a:t>
            </a:r>
            <a:r>
              <a:rPr dirty="0" spc="-35"/>
              <a:t> </a:t>
            </a:r>
            <a:r>
              <a:rPr dirty="0" spc="-10"/>
              <a:t>работы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75005" y="1281837"/>
            <a:ext cx="6181725" cy="3724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8300" marR="17780" indent="-114300">
              <a:lnSpc>
                <a:spcPct val="105800"/>
              </a:lnSpc>
              <a:spcBef>
                <a:spcPts val="100"/>
              </a:spcBef>
              <a:buSzPct val="95238"/>
              <a:buChar char="•"/>
              <a:tabLst>
                <a:tab pos="482600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Целью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данной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работы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является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приобретение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практических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навыков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установки 	операционной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системы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на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виртуальную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машину,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настройки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минимально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необходимых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для 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	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дальнейшей</a:t>
            </a:r>
            <a:r>
              <a:rPr dirty="0" sz="1050" spc="-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работы</a:t>
            </a:r>
            <a:r>
              <a:rPr dirty="0" sz="1050" spc="-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сервисов.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95"/>
              </a:spcBef>
              <a:buClr>
                <a:srgbClr val="202528"/>
              </a:buClr>
              <a:buFont typeface="Arial"/>
              <a:buChar char="•"/>
            </a:pPr>
            <a:endParaRPr sz="10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</a:pPr>
            <a:r>
              <a:rPr dirty="0" sz="1200" b="1">
                <a:solidFill>
                  <a:srgbClr val="202528"/>
                </a:solidFill>
                <a:latin typeface="Arial"/>
                <a:cs typeface="Arial"/>
              </a:rPr>
              <a:t>Установка</a:t>
            </a:r>
            <a:r>
              <a:rPr dirty="0" sz="1200" spc="-25" b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02528"/>
                </a:solidFill>
                <a:latin typeface="Arial"/>
                <a:cs typeface="Arial"/>
              </a:rPr>
              <a:t>Linux</a:t>
            </a:r>
            <a:r>
              <a:rPr dirty="0" sz="1200" spc="-25" b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02528"/>
                </a:solidFill>
                <a:latin typeface="Arial"/>
                <a:cs typeface="Arial"/>
              </a:rPr>
              <a:t>на</a:t>
            </a:r>
            <a:r>
              <a:rPr dirty="0" sz="1200" spc="-25" b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202528"/>
                </a:solidFill>
                <a:latin typeface="Arial"/>
                <a:cs typeface="Arial"/>
              </a:rPr>
              <a:t>Virtualbox</a:t>
            </a:r>
            <a:endParaRPr sz="1200">
              <a:latin typeface="Arial"/>
              <a:cs typeface="Arial"/>
            </a:endParaRPr>
          </a:p>
          <a:p>
            <a:pPr lvl="1" marL="1636395" indent="-448945">
              <a:lnSpc>
                <a:spcPct val="100000"/>
              </a:lnSpc>
              <a:spcBef>
                <a:spcPts val="65"/>
              </a:spcBef>
              <a:buAutoNum type="arabicPeriod"/>
              <a:tabLst>
                <a:tab pos="1636395" algn="l"/>
                <a:tab pos="4080510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Выполнение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дисплейном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классе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	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Загрузите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дисплейном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классе</a:t>
            </a:r>
            <a:endParaRPr sz="1050">
              <a:latin typeface="Arial"/>
              <a:cs typeface="Arial"/>
            </a:endParaRPr>
          </a:p>
          <a:p>
            <a:pPr marL="1637030">
              <a:lnSpc>
                <a:spcPct val="100000"/>
              </a:lnSpc>
              <a:spcBef>
                <a:spcPts val="540"/>
              </a:spcBef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операционную</a:t>
            </a:r>
            <a:r>
              <a:rPr dirty="0" sz="1050" spc="-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систему</a:t>
            </a:r>
            <a:r>
              <a:rPr dirty="0" sz="1050" spc="-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Linux.</a:t>
            </a:r>
            <a:r>
              <a:rPr dirty="0" sz="1050" spc="-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Осуществите</a:t>
            </a:r>
            <a:r>
              <a:rPr dirty="0" sz="1050" spc="-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вход</a:t>
            </a:r>
            <a:r>
              <a:rPr dirty="0" sz="1050" spc="-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-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систему.</a:t>
            </a:r>
            <a:endParaRPr sz="1050">
              <a:latin typeface="Arial"/>
              <a:cs typeface="Arial"/>
            </a:endParaRPr>
          </a:p>
          <a:p>
            <a:pPr marL="958215" indent="-228600">
              <a:lnSpc>
                <a:spcPct val="100000"/>
              </a:lnSpc>
              <a:spcBef>
                <a:spcPts val="440"/>
              </a:spcBef>
              <a:buClr>
                <a:srgbClr val="000000"/>
              </a:buClr>
              <a:buSzPct val="104761"/>
              <a:buFont typeface="Calibri"/>
              <a:buChar char="o"/>
              <a:tabLst>
                <a:tab pos="958215" algn="l"/>
              </a:tabLst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Настройка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каталога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для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виртуальных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машин</a:t>
            </a:r>
            <a:endParaRPr sz="1050">
              <a:latin typeface="Arial"/>
              <a:cs typeface="Arial"/>
            </a:endParaRPr>
          </a:p>
          <a:p>
            <a:pPr lvl="1" marL="1333500" indent="-146685">
              <a:lnSpc>
                <a:spcPct val="100000"/>
              </a:lnSpc>
              <a:spcBef>
                <a:spcPts val="280"/>
              </a:spcBef>
              <a:buAutoNum type="arabicPeriod"/>
              <a:tabLst>
                <a:tab pos="1333500" algn="l"/>
              </a:tabLst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Создание</a:t>
            </a:r>
            <a:r>
              <a:rPr dirty="0" sz="1050" spc="-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необходимых</a:t>
            </a:r>
            <a:r>
              <a:rPr dirty="0" sz="1050" spc="-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каталогов</a:t>
            </a:r>
            <a:endParaRPr sz="1050">
              <a:latin typeface="Arial"/>
              <a:cs typeface="Arial"/>
            </a:endParaRPr>
          </a:p>
          <a:p>
            <a:pPr marL="1644014">
              <a:lnSpc>
                <a:spcPct val="100000"/>
              </a:lnSpc>
              <a:spcBef>
                <a:spcPts val="1150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495">
                <a:solidFill>
                  <a:srgbClr val="202528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Запустите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терминал.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Перейдите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каталог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baseline="-12345" sz="1350" spc="-15">
                <a:solidFill>
                  <a:srgbClr val="E73E8C"/>
                </a:solidFill>
                <a:latin typeface="Tahoma"/>
                <a:cs typeface="Tahoma"/>
              </a:rPr>
              <a:t>/var/tmp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:</a:t>
            </a:r>
            <a:endParaRPr sz="1050">
              <a:latin typeface="Arial"/>
              <a:cs typeface="Arial"/>
            </a:endParaRPr>
          </a:p>
          <a:p>
            <a:pPr marL="1644014">
              <a:lnSpc>
                <a:spcPct val="100000"/>
              </a:lnSpc>
              <a:spcBef>
                <a:spcPts val="465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75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cd</a:t>
            </a:r>
            <a:r>
              <a:rPr dirty="0" sz="1000" spc="-3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/var/tmp</a:t>
            </a:r>
            <a:endParaRPr sz="1000">
              <a:latin typeface="Tahoma"/>
              <a:cs typeface="Tahoma"/>
            </a:endParaRPr>
          </a:p>
          <a:p>
            <a:pPr marL="1873250" marR="81915" indent="-229235">
              <a:lnSpc>
                <a:spcPct val="105800"/>
              </a:lnSpc>
              <a:spcBef>
                <a:spcPts val="245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30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Создайте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каталог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именем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пользователя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(совпадающий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логином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студента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дисплейном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классе).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Для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этого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можно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использовать команду:</a:t>
            </a:r>
            <a:endParaRPr sz="1050">
              <a:latin typeface="Arial"/>
              <a:cs typeface="Arial"/>
            </a:endParaRPr>
          </a:p>
          <a:p>
            <a:pPr marL="1644014">
              <a:lnSpc>
                <a:spcPct val="100000"/>
              </a:lnSpc>
              <a:spcBef>
                <a:spcPts val="425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290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mkdir</a:t>
            </a:r>
            <a:r>
              <a:rPr dirty="0" sz="1000" spc="4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/var/tmp/`id</a:t>
            </a:r>
            <a:r>
              <a:rPr dirty="0" sz="1000" spc="3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</a:t>
            </a:r>
            <a:r>
              <a:rPr dirty="0" sz="1000" spc="-25">
                <a:solidFill>
                  <a:srgbClr val="202528"/>
                </a:solidFill>
                <a:latin typeface="Tahoma"/>
                <a:cs typeface="Tahoma"/>
              </a:rPr>
              <a:t>un`</a:t>
            </a:r>
            <a:endParaRPr sz="1000">
              <a:latin typeface="Tahoma"/>
              <a:cs typeface="Tahoma"/>
            </a:endParaRPr>
          </a:p>
          <a:p>
            <a:pPr marL="1873885" marR="210820" indent="-229235">
              <a:lnSpc>
                <a:spcPct val="124600"/>
              </a:lnSpc>
              <a:spcBef>
                <a:spcPts val="135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40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Проверьте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 в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свойствах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VirtualBox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202528"/>
                </a:solidFill>
                <a:latin typeface="Arial"/>
                <a:cs typeface="Arial"/>
              </a:rPr>
              <a:t>месторасположение</a:t>
            </a:r>
            <a:r>
              <a:rPr dirty="0" sz="1050" spc="-5" b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202528"/>
                </a:solidFill>
                <a:latin typeface="Arial"/>
                <a:cs typeface="Arial"/>
              </a:rPr>
              <a:t>каталога </a:t>
            </a:r>
            <a:r>
              <a:rPr dirty="0" sz="1050" b="1">
                <a:solidFill>
                  <a:srgbClr val="202528"/>
                </a:solidFill>
                <a:latin typeface="Arial"/>
                <a:cs typeface="Arial"/>
              </a:rPr>
              <a:t>для</a:t>
            </a:r>
            <a:r>
              <a:rPr dirty="0" sz="1050" spc="-15" b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202528"/>
                </a:solidFill>
                <a:latin typeface="Arial"/>
                <a:cs typeface="Arial"/>
              </a:rPr>
              <a:t>виртуальных машин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:</a:t>
            </a:r>
            <a:endParaRPr sz="1050">
              <a:latin typeface="Arial"/>
              <a:cs typeface="Arial"/>
            </a:endParaRPr>
          </a:p>
          <a:p>
            <a:pPr marL="1644014">
              <a:lnSpc>
                <a:spcPct val="100000"/>
              </a:lnSpc>
              <a:spcBef>
                <a:spcPts val="440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50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/var/tmp/имя_пользователя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261383" y="5114310"/>
            <a:ext cx="4205605" cy="79629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57785">
              <a:lnSpc>
                <a:spcPct val="100000"/>
              </a:lnSpc>
              <a:spcBef>
                <a:spcPts val="430"/>
              </a:spcBef>
            </a:pPr>
            <a:r>
              <a:rPr dirty="0" sz="1000" spc="1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45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Здесь </a:t>
            </a:r>
            <a:r>
              <a:rPr dirty="0" baseline="-12345" sz="1350" spc="15">
                <a:solidFill>
                  <a:srgbClr val="E73E8C"/>
                </a:solidFill>
                <a:latin typeface="Tahoma"/>
                <a:cs typeface="Tahoma"/>
              </a:rPr>
              <a:t>имя_пользователя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—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логин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(учётная запись)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студента </a:t>
            </a:r>
            <a:r>
              <a:rPr dirty="0" sz="1050" spc="-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endParaRPr sz="1050">
              <a:latin typeface="Arial"/>
              <a:cs typeface="Arial"/>
            </a:endParaRPr>
          </a:p>
          <a:p>
            <a:pPr marL="287020" marR="43180">
              <a:lnSpc>
                <a:spcPct val="105800"/>
              </a:lnSpc>
              <a:spcBef>
                <a:spcPts val="265"/>
              </a:spcBef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дисплейном</a:t>
            </a:r>
            <a:r>
              <a:rPr dirty="0" sz="1050" spc="-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классе.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Если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указан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другой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каталог,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то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требуется изменить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его.</a:t>
            </a:r>
            <a:endParaRPr sz="10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285"/>
              </a:spcBef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Папка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виртуальных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машин</a:t>
            </a:r>
            <a:endParaRPr sz="10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850024" y="5725005"/>
            <a:ext cx="13652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2.</a:t>
            </a:r>
            <a:endParaRPr sz="10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675254" y="5921629"/>
            <a:ext cx="4274185" cy="3731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35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Значения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по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умолчанию</a:t>
            </a:r>
            <a:endParaRPr sz="1050">
              <a:latin typeface="Arial"/>
              <a:cs typeface="Arial"/>
            </a:endParaRPr>
          </a:p>
          <a:p>
            <a:pPr marL="101600">
              <a:lnSpc>
                <a:spcPct val="100000"/>
              </a:lnSpc>
              <a:spcBef>
                <a:spcPts val="1000"/>
              </a:spcBef>
            </a:pPr>
            <a:r>
              <a:rPr dirty="0" baseline="11111" sz="15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baseline="11111" sz="1500" spc="405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baseline="10582" sz="1575">
                <a:solidFill>
                  <a:srgbClr val="202528"/>
                </a:solidFill>
                <a:latin typeface="Arial"/>
                <a:cs typeface="Arial"/>
              </a:rPr>
              <a:t>Linux:</a:t>
            </a:r>
            <a:r>
              <a:rPr dirty="0" baseline="10582" sz="1575" spc="1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73E8C"/>
                </a:solidFill>
                <a:latin typeface="Tahoma"/>
                <a:cs typeface="Tahoma"/>
              </a:rPr>
              <a:t>$HOME/VirtualBox</a:t>
            </a:r>
            <a:r>
              <a:rPr dirty="0" sz="900" spc="20">
                <a:solidFill>
                  <a:srgbClr val="E73E8C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E73E8C"/>
                </a:solidFill>
                <a:latin typeface="Tahoma"/>
                <a:cs typeface="Tahoma"/>
              </a:rPr>
              <a:t>VMs</a:t>
            </a:r>
            <a:r>
              <a:rPr dirty="0" baseline="10582" sz="1575" spc="-30">
                <a:solidFill>
                  <a:srgbClr val="202528"/>
                </a:solidFill>
                <a:latin typeface="Arial"/>
                <a:cs typeface="Arial"/>
              </a:rPr>
              <a:t>.</a:t>
            </a:r>
            <a:endParaRPr baseline="10582" sz="1575">
              <a:latin typeface="Arial"/>
              <a:cs typeface="Arial"/>
            </a:endParaRPr>
          </a:p>
          <a:p>
            <a:pPr marL="101600">
              <a:lnSpc>
                <a:spcPct val="100000"/>
              </a:lnSpc>
              <a:spcBef>
                <a:spcPts val="90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55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Графический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интерфейс</a:t>
            </a:r>
            <a:endParaRPr sz="1050">
              <a:latin typeface="Arial"/>
              <a:cs typeface="Arial"/>
            </a:endParaRPr>
          </a:p>
          <a:p>
            <a:pPr marL="101600">
              <a:lnSpc>
                <a:spcPct val="100000"/>
              </a:lnSpc>
              <a:spcBef>
                <a:spcPts val="290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40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меню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выберите </a:t>
            </a:r>
            <a:r>
              <a:rPr dirty="0" sz="1050" i="1">
                <a:solidFill>
                  <a:srgbClr val="202528"/>
                </a:solidFill>
                <a:latin typeface="Arial"/>
                <a:cs typeface="Arial"/>
              </a:rPr>
              <a:t>Файл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,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202528"/>
                </a:solidFill>
                <a:latin typeface="Arial"/>
                <a:cs typeface="Arial"/>
              </a:rPr>
              <a:t>Настройки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 marL="101600">
              <a:lnSpc>
                <a:spcPct val="100000"/>
              </a:lnSpc>
              <a:spcBef>
                <a:spcPts val="295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495">
                <a:solidFill>
                  <a:srgbClr val="202528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Выберите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02528"/>
                </a:solidFill>
                <a:latin typeface="Arial"/>
                <a:cs typeface="Arial"/>
              </a:rPr>
              <a:t>Общие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,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поле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02528"/>
                </a:solidFill>
                <a:latin typeface="Arial"/>
                <a:cs typeface="Arial"/>
              </a:rPr>
              <a:t>Папка</a:t>
            </a:r>
            <a:r>
              <a:rPr dirty="0" sz="1050" spc="-25" i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02528"/>
                </a:solidFill>
                <a:latin typeface="Arial"/>
                <a:cs typeface="Arial"/>
              </a:rPr>
              <a:t>для</a:t>
            </a:r>
            <a:r>
              <a:rPr dirty="0" sz="1050" spc="-20" i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02528"/>
                </a:solidFill>
                <a:latin typeface="Arial"/>
                <a:cs typeface="Arial"/>
              </a:rPr>
              <a:t>машин</a:t>
            </a:r>
            <a:r>
              <a:rPr dirty="0" sz="1050" spc="-20" i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02528"/>
                </a:solidFill>
                <a:latin typeface="Arial"/>
                <a:cs typeface="Arial"/>
              </a:rPr>
              <a:t>по</a:t>
            </a:r>
            <a:r>
              <a:rPr dirty="0" sz="1050" spc="-25" i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202528"/>
                </a:solidFill>
                <a:latin typeface="Arial"/>
                <a:cs typeface="Arial"/>
              </a:rPr>
              <a:t>умолчанию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 marL="101600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484">
                <a:solidFill>
                  <a:srgbClr val="202528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Установите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новое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значение,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например</a:t>
            </a:r>
            <a:endParaRPr sz="1050">
              <a:latin typeface="Arial"/>
              <a:cs typeface="Arial"/>
            </a:endParaRPr>
          </a:p>
          <a:p>
            <a:pPr marL="340995">
              <a:lnSpc>
                <a:spcPct val="100000"/>
              </a:lnSpc>
              <a:spcBef>
                <a:spcPts val="290"/>
              </a:spcBef>
            </a:pPr>
            <a:r>
              <a:rPr dirty="0" sz="900" spc="-10">
                <a:solidFill>
                  <a:srgbClr val="E73E8C"/>
                </a:solidFill>
                <a:latin typeface="Tahoma"/>
                <a:cs typeface="Tahoma"/>
              </a:rPr>
              <a:t>/var/tmp/имя_пользователя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 marL="101600">
              <a:lnSpc>
                <a:spcPct val="100000"/>
              </a:lnSpc>
              <a:spcBef>
                <a:spcPts val="330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45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Нажмите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 ОК,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чтобы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сохранить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изменения.</a:t>
            </a:r>
            <a:endParaRPr sz="1050">
              <a:latin typeface="Arial"/>
              <a:cs typeface="Arial"/>
            </a:endParaRPr>
          </a:p>
          <a:p>
            <a:pPr marL="101600">
              <a:lnSpc>
                <a:spcPct val="100000"/>
              </a:lnSpc>
              <a:spcBef>
                <a:spcPts val="285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40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Командная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строка</a:t>
            </a:r>
            <a:endParaRPr sz="1050">
              <a:latin typeface="Arial"/>
              <a:cs typeface="Arial"/>
            </a:endParaRPr>
          </a:p>
          <a:p>
            <a:pPr marL="330835" marR="203835" indent="-229870">
              <a:lnSpc>
                <a:spcPct val="105800"/>
              </a:lnSpc>
              <a:spcBef>
                <a:spcPts val="220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40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Зададим отображение информации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настройках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VirtualBox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на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английском.</a:t>
            </a:r>
            <a:endParaRPr sz="1050">
              <a:latin typeface="Arial"/>
              <a:cs typeface="Arial"/>
            </a:endParaRPr>
          </a:p>
          <a:p>
            <a:pPr marL="332105" marR="106680" indent="-230504">
              <a:lnSpc>
                <a:spcPct val="107400"/>
              </a:lnSpc>
              <a:spcBef>
                <a:spcPts val="195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480">
                <a:solidFill>
                  <a:srgbClr val="202528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Поэтому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следует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задать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кодировку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для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отображения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свойств VirtualBox:</a:t>
            </a:r>
            <a:endParaRPr sz="1050">
              <a:latin typeface="Arial"/>
              <a:cs typeface="Arial"/>
            </a:endParaRPr>
          </a:p>
          <a:p>
            <a:pPr marL="330835" marR="211454" indent="-229870">
              <a:lnSpc>
                <a:spcPct val="112700"/>
              </a:lnSpc>
              <a:spcBef>
                <a:spcPts val="215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285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vboxmanage</a:t>
            </a:r>
            <a:r>
              <a:rPr dirty="0" sz="1000" spc="3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setproperty</a:t>
            </a:r>
            <a:r>
              <a:rPr dirty="0" sz="1000" spc="3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language</a:t>
            </a:r>
            <a:r>
              <a:rPr dirty="0" sz="1000" spc="3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C</a:t>
            </a:r>
            <a:r>
              <a:rPr dirty="0" sz="1000" spc="42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14">
                <a:solidFill>
                  <a:srgbClr val="202528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Установим</a:t>
            </a:r>
            <a:r>
              <a:rPr dirty="0" sz="1050" spc="9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папку</a:t>
            </a:r>
            <a:r>
              <a:rPr dirty="0" sz="1050" spc="9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для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виртуальных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машине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endParaRPr sz="1050">
              <a:latin typeface="Arial"/>
              <a:cs typeface="Arial"/>
            </a:endParaRPr>
          </a:p>
          <a:p>
            <a:pPr marL="340995">
              <a:lnSpc>
                <a:spcPct val="100000"/>
              </a:lnSpc>
              <a:spcBef>
                <a:spcPts val="285"/>
              </a:spcBef>
            </a:pPr>
            <a:r>
              <a:rPr dirty="0" sz="900" spc="-10">
                <a:solidFill>
                  <a:srgbClr val="E73E8C"/>
                </a:solidFill>
                <a:latin typeface="Tahoma"/>
                <a:cs typeface="Tahoma"/>
              </a:rPr>
              <a:t>/var/tmp/имя_пользователя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:</a:t>
            </a:r>
            <a:endParaRPr sz="1050">
              <a:latin typeface="Arial"/>
              <a:cs typeface="Arial"/>
            </a:endParaRPr>
          </a:p>
          <a:p>
            <a:pPr marL="101600">
              <a:lnSpc>
                <a:spcPct val="100000"/>
              </a:lnSpc>
              <a:spcBef>
                <a:spcPts val="464"/>
              </a:spcBef>
            </a:pPr>
            <a:r>
              <a:rPr dirty="0" sz="1000" spc="2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270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vboxmanage</a:t>
            </a:r>
            <a:r>
              <a:rPr dirty="0" sz="1000" spc="2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setproperty machinefolder</a:t>
            </a:r>
            <a:r>
              <a:rPr dirty="0" sz="1000" spc="1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Tahoma"/>
                <a:cs typeface="Tahoma"/>
              </a:rPr>
              <a:t>/var/tmp/$(id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02528"/>
                </a:solidFill>
                <a:latin typeface="Tahoma"/>
                <a:cs typeface="Tahoma"/>
              </a:rPr>
              <a:t>un)</a:t>
            </a:r>
            <a:endParaRPr sz="1000">
              <a:latin typeface="Tahoma"/>
              <a:cs typeface="Tahoma"/>
            </a:endParaRPr>
          </a:p>
          <a:p>
            <a:pPr marL="330835" marR="453390" indent="-229870">
              <a:lnSpc>
                <a:spcPct val="105800"/>
              </a:lnSpc>
              <a:spcBef>
                <a:spcPts val="245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35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Поверьте,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что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папка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виртуальных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машин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по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умолчанию изменена: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764154" y="682140"/>
            <a:ext cx="3917950" cy="2715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935" marR="169545" indent="-229870">
              <a:lnSpc>
                <a:spcPct val="128099"/>
              </a:lnSpc>
              <a:spcBef>
                <a:spcPts val="100"/>
              </a:spcBef>
            </a:pPr>
            <a:r>
              <a:rPr dirty="0" sz="1000" spc="2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235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vboxmanage</a:t>
            </a:r>
            <a:r>
              <a:rPr dirty="0" sz="1000" spc="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list</a:t>
            </a:r>
            <a:r>
              <a:rPr dirty="0" sz="1000" spc="-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systemproperties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160">
                <a:solidFill>
                  <a:srgbClr val="202528"/>
                </a:solidFill>
                <a:latin typeface="Tahoma"/>
                <a:cs typeface="Tahoma"/>
              </a:rPr>
              <a:t>|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grep</a:t>
            </a:r>
            <a:r>
              <a:rPr dirty="0" sz="1000" spc="-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"Default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machine folder:"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25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Следующая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команда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выдаст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только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каталог:</a:t>
            </a:r>
            <a:endParaRPr sz="1050">
              <a:latin typeface="Arial"/>
              <a:cs typeface="Arial"/>
            </a:endParaRPr>
          </a:p>
          <a:p>
            <a:pPr marL="241935" marR="169545" indent="-229870">
              <a:lnSpc>
                <a:spcPct val="128099"/>
              </a:lnSpc>
              <a:spcBef>
                <a:spcPts val="85"/>
              </a:spcBef>
            </a:pPr>
            <a:r>
              <a:rPr dirty="0" sz="1000" spc="2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235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vboxmanage</a:t>
            </a:r>
            <a:r>
              <a:rPr dirty="0" sz="1000" spc="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list</a:t>
            </a:r>
            <a:r>
              <a:rPr dirty="0" sz="1000" spc="-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systemproperties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160">
                <a:solidFill>
                  <a:srgbClr val="202528"/>
                </a:solidFill>
                <a:latin typeface="Tahoma"/>
                <a:cs typeface="Tahoma"/>
              </a:rPr>
              <a:t>|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grep</a:t>
            </a:r>
            <a:r>
              <a:rPr dirty="0" sz="1000" spc="-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"Default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machine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folder:"</a:t>
            </a:r>
            <a:r>
              <a:rPr dirty="0" sz="1000" spc="-2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160">
                <a:solidFill>
                  <a:srgbClr val="202528"/>
                </a:solidFill>
                <a:latin typeface="Tahoma"/>
                <a:cs typeface="Tahoma"/>
              </a:rPr>
              <a:t>|</a:t>
            </a:r>
            <a:r>
              <a:rPr dirty="0" sz="1000" spc="-2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cut</a:t>
            </a:r>
            <a:r>
              <a:rPr dirty="0" sz="1000" spc="-25">
                <a:solidFill>
                  <a:srgbClr val="202528"/>
                </a:solidFill>
                <a:latin typeface="Tahoma"/>
                <a:cs typeface="Tahoma"/>
              </a:rPr>
              <a:t> -</a:t>
            </a:r>
            <a:r>
              <a:rPr dirty="0" sz="1000" spc="-20">
                <a:solidFill>
                  <a:srgbClr val="202528"/>
                </a:solidFill>
                <a:latin typeface="Tahoma"/>
                <a:cs typeface="Tahoma"/>
              </a:rPr>
              <a:t>d":"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-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f2</a:t>
            </a:r>
            <a:r>
              <a:rPr dirty="0" sz="1000" spc="-2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160">
                <a:solidFill>
                  <a:srgbClr val="202528"/>
                </a:solidFill>
                <a:latin typeface="Tahoma"/>
                <a:cs typeface="Tahoma"/>
              </a:rPr>
              <a:t>|</a:t>
            </a:r>
            <a:r>
              <a:rPr dirty="0" sz="1000" spc="-2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tr</a:t>
            </a:r>
            <a:r>
              <a:rPr dirty="0" sz="1000" spc="-2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-d</a:t>
            </a:r>
            <a:r>
              <a:rPr dirty="0" sz="1000" spc="-2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'</a:t>
            </a:r>
            <a:r>
              <a:rPr dirty="0" sz="1000" spc="-2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Tahoma"/>
                <a:cs typeface="Tahoma"/>
              </a:rPr>
              <a:t>'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60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Установочный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образ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45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Перенесите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установочный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образ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папку</a:t>
            </a:r>
            <a:endParaRPr sz="1050">
              <a:latin typeface="Arial"/>
              <a:cs typeface="Arial"/>
            </a:endParaRPr>
          </a:p>
          <a:p>
            <a:pPr marL="241935">
              <a:lnSpc>
                <a:spcPct val="100000"/>
              </a:lnSpc>
              <a:spcBef>
                <a:spcPts val="345"/>
              </a:spcBef>
            </a:pPr>
            <a:r>
              <a:rPr dirty="0" sz="900" spc="-10">
                <a:solidFill>
                  <a:srgbClr val="E73E8C"/>
                </a:solidFill>
                <a:latin typeface="Tahoma"/>
                <a:cs typeface="Tahoma"/>
              </a:rPr>
              <a:t>/var/tmp/имя_пользователя/iso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:</a:t>
            </a:r>
            <a:endParaRPr sz="1050">
              <a:latin typeface="Arial"/>
              <a:cs typeface="Arial"/>
            </a:endParaRPr>
          </a:p>
          <a:p>
            <a:pPr marL="241935" marR="5080" indent="-229870">
              <a:lnSpc>
                <a:spcPct val="128099"/>
              </a:lnSpc>
              <a:spcBef>
                <a:spcPts val="409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330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mkdir</a:t>
            </a:r>
            <a:r>
              <a:rPr dirty="0" sz="1000" spc="5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-p</a:t>
            </a:r>
            <a:r>
              <a:rPr dirty="0" sz="1000" spc="5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"$(vboxmanage</a:t>
            </a:r>
            <a:r>
              <a:rPr dirty="0" sz="1000" spc="6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list</a:t>
            </a:r>
            <a:r>
              <a:rPr dirty="0" sz="1000" spc="5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systemproperties</a:t>
            </a:r>
            <a:r>
              <a:rPr dirty="0" sz="1000" spc="6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160">
                <a:solidFill>
                  <a:srgbClr val="202528"/>
                </a:solidFill>
                <a:latin typeface="Tahoma"/>
                <a:cs typeface="Tahoma"/>
              </a:rPr>
              <a:t>|</a:t>
            </a:r>
            <a:r>
              <a:rPr dirty="0" sz="1000" spc="5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grep</a:t>
            </a:r>
            <a:r>
              <a:rPr dirty="0" sz="1000" spc="47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'Default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machine</a:t>
            </a:r>
            <a:r>
              <a:rPr dirty="0" sz="1000" spc="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folder:'</a:t>
            </a:r>
            <a:r>
              <a:rPr dirty="0" sz="1000" spc="1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160">
                <a:solidFill>
                  <a:srgbClr val="202528"/>
                </a:solidFill>
                <a:latin typeface="Tahoma"/>
                <a:cs typeface="Tahoma"/>
              </a:rPr>
              <a:t>|</a:t>
            </a:r>
            <a:r>
              <a:rPr dirty="0" sz="1000" spc="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cut</a:t>
            </a:r>
            <a:r>
              <a:rPr dirty="0" sz="1000" spc="1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02528"/>
                </a:solidFill>
                <a:latin typeface="Tahoma"/>
                <a:cs typeface="Tahoma"/>
              </a:rPr>
              <a:t>-</a:t>
            </a:r>
            <a:r>
              <a:rPr dirty="0" sz="1000" spc="-20">
                <a:solidFill>
                  <a:srgbClr val="202528"/>
                </a:solidFill>
                <a:latin typeface="Tahoma"/>
                <a:cs typeface="Tahoma"/>
              </a:rPr>
              <a:t>d':'</a:t>
            </a:r>
            <a:r>
              <a:rPr dirty="0" sz="1000" spc="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-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f2</a:t>
            </a:r>
            <a:r>
              <a:rPr dirty="0" sz="1000" spc="1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160">
                <a:solidFill>
                  <a:srgbClr val="202528"/>
                </a:solidFill>
                <a:latin typeface="Tahoma"/>
                <a:cs typeface="Tahoma"/>
              </a:rPr>
              <a:t>|</a:t>
            </a:r>
            <a:r>
              <a:rPr dirty="0" sz="1000" spc="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tr</a:t>
            </a:r>
            <a:r>
              <a:rPr dirty="0" sz="1000" spc="1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-d</a:t>
            </a:r>
            <a:r>
              <a:rPr dirty="0" sz="1000" spc="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'</a:t>
            </a:r>
            <a:r>
              <a:rPr dirty="0" sz="1000" spc="1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')/iso"</a:t>
            </a:r>
            <a:endParaRPr sz="1000">
              <a:latin typeface="Tahoma"/>
              <a:cs typeface="Tahoma"/>
            </a:endParaRPr>
          </a:p>
          <a:p>
            <a:pPr marL="241935" marR="197485" indent="-229870">
              <a:lnSpc>
                <a:spcPct val="128099"/>
              </a:lnSpc>
              <a:spcBef>
                <a:spcPts val="114"/>
              </a:spcBef>
            </a:pPr>
            <a:r>
              <a:rPr dirty="0" sz="1000" spc="1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240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00" spc="10">
                <a:solidFill>
                  <a:srgbClr val="202528"/>
                </a:solidFill>
                <a:latin typeface="Tahoma"/>
                <a:cs typeface="Tahoma"/>
              </a:rPr>
              <a:t>mv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 Fedora-</a:t>
            </a:r>
            <a:r>
              <a:rPr dirty="0" sz="1000" spc="10">
                <a:solidFill>
                  <a:srgbClr val="202528"/>
                </a:solidFill>
                <a:latin typeface="Tahoma"/>
                <a:cs typeface="Tahoma"/>
              </a:rPr>
              <a:t>Sway-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Live-</a:t>
            </a:r>
            <a:r>
              <a:rPr dirty="0" sz="1000" spc="10">
                <a:solidFill>
                  <a:srgbClr val="202528"/>
                </a:solidFill>
                <a:latin typeface="Tahoma"/>
                <a:cs typeface="Tahoma"/>
              </a:rPr>
              <a:t>x86_64-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39-</a:t>
            </a:r>
            <a:r>
              <a:rPr dirty="0" sz="1000" spc="10">
                <a:solidFill>
                  <a:srgbClr val="202528"/>
                </a:solidFill>
                <a:latin typeface="Tahoma"/>
                <a:cs typeface="Tahoma"/>
              </a:rPr>
              <a:t>1.5.iso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Tahoma"/>
                <a:cs typeface="Tahoma"/>
              </a:rPr>
              <a:t>"$(vboxmanage</a:t>
            </a:r>
            <a:r>
              <a:rPr dirty="0" sz="1000" spc="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Tahoma"/>
                <a:cs typeface="Tahoma"/>
              </a:rPr>
              <a:t>list 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systemproperties</a:t>
            </a:r>
            <a:r>
              <a:rPr dirty="0" sz="1000" spc="4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160">
                <a:solidFill>
                  <a:srgbClr val="202528"/>
                </a:solidFill>
                <a:latin typeface="Tahoma"/>
                <a:cs typeface="Tahoma"/>
              </a:rPr>
              <a:t>|</a:t>
            </a:r>
            <a:r>
              <a:rPr dirty="0" sz="1000" spc="4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grep</a:t>
            </a:r>
            <a:r>
              <a:rPr dirty="0" sz="1000" spc="4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'Default</a:t>
            </a:r>
            <a:r>
              <a:rPr dirty="0" sz="1000" spc="4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machine</a:t>
            </a:r>
            <a:r>
              <a:rPr dirty="0" sz="1000" spc="4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folder:'</a:t>
            </a:r>
            <a:endParaRPr sz="1000">
              <a:latin typeface="Tahoma"/>
              <a:cs typeface="Tahoma"/>
            </a:endParaRPr>
          </a:p>
          <a:p>
            <a:pPr marL="629920">
              <a:lnSpc>
                <a:spcPct val="100000"/>
              </a:lnSpc>
              <a:spcBef>
                <a:spcPts val="455"/>
              </a:spcBef>
            </a:pPr>
            <a:r>
              <a:rPr dirty="0" sz="1000" spc="160">
                <a:solidFill>
                  <a:srgbClr val="202528"/>
                </a:solidFill>
                <a:latin typeface="Tahoma"/>
                <a:cs typeface="Tahoma"/>
              </a:rPr>
              <a:t>|</a:t>
            </a:r>
            <a:r>
              <a:rPr dirty="0" sz="1000" spc="-3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cut</a:t>
            </a:r>
            <a:r>
              <a:rPr dirty="0" sz="1000" spc="-3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02528"/>
                </a:solidFill>
                <a:latin typeface="Tahoma"/>
                <a:cs typeface="Tahoma"/>
              </a:rPr>
              <a:t>-</a:t>
            </a:r>
            <a:r>
              <a:rPr dirty="0" sz="1000" spc="-20">
                <a:solidFill>
                  <a:srgbClr val="202528"/>
                </a:solidFill>
                <a:latin typeface="Tahoma"/>
                <a:cs typeface="Tahoma"/>
              </a:rPr>
              <a:t>d':'</a:t>
            </a:r>
            <a:r>
              <a:rPr dirty="0" sz="1000" spc="-3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-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f2</a:t>
            </a:r>
            <a:r>
              <a:rPr dirty="0" sz="1000" spc="-3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160">
                <a:solidFill>
                  <a:srgbClr val="202528"/>
                </a:solidFill>
                <a:latin typeface="Tahoma"/>
                <a:cs typeface="Tahoma"/>
              </a:rPr>
              <a:t>|</a:t>
            </a:r>
            <a:r>
              <a:rPr dirty="0" sz="1000" spc="-3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tr</a:t>
            </a:r>
            <a:r>
              <a:rPr dirty="0" sz="1000" spc="-3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-d</a:t>
            </a:r>
            <a:r>
              <a:rPr dirty="0" sz="1000" spc="-3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'</a:t>
            </a:r>
            <a:r>
              <a:rPr dirty="0" sz="1000" spc="-3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')/iso"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850026" y="3428987"/>
            <a:ext cx="13652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3.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850034" y="5869441"/>
            <a:ext cx="13652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5.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798954" y="3428987"/>
            <a:ext cx="5120005" cy="4263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1308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Настройка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хост-клавиши</a:t>
            </a:r>
            <a:endParaRPr sz="105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800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495">
                <a:solidFill>
                  <a:srgbClr val="202528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Хост-клавишей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по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умолчанию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является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правый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baseline="-12345" sz="1350" spc="-15">
                <a:solidFill>
                  <a:srgbClr val="E73E8C"/>
                </a:solidFill>
                <a:latin typeface="Tahoma"/>
                <a:cs typeface="Tahoma"/>
              </a:rPr>
              <a:t>Ctrl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 marL="292100" marR="330835" indent="-228600">
              <a:lnSpc>
                <a:spcPts val="2310"/>
              </a:lnSpc>
              <a:spcBef>
                <a:spcPts val="145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40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По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умолчанию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дисплейных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классах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на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клавише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правый </a:t>
            </a:r>
            <a:r>
              <a:rPr dirty="0" baseline="-12345" sz="1350">
                <a:solidFill>
                  <a:srgbClr val="E73E8C"/>
                </a:solidFill>
                <a:latin typeface="Tahoma"/>
                <a:cs typeface="Tahoma"/>
              </a:rPr>
              <a:t>Ctrl</a:t>
            </a:r>
            <a:r>
              <a:rPr dirty="0" baseline="-12345" sz="1350" spc="7">
                <a:solidFill>
                  <a:srgbClr val="E73E8C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находится переключатель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языка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ввода.</a:t>
            </a:r>
            <a:endParaRPr sz="105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275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25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Эти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значения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могут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конфликтовать.</a:t>
            </a:r>
            <a:endParaRPr sz="105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285"/>
              </a:spcBef>
              <a:tabLst>
                <a:tab pos="513080" algn="l"/>
              </a:tabLst>
            </a:pP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4.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	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Графический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интерфейс</a:t>
            </a:r>
            <a:endParaRPr sz="1050">
              <a:latin typeface="Arial"/>
              <a:cs typeface="Arial"/>
            </a:endParaRPr>
          </a:p>
          <a:p>
            <a:pPr marL="1174750">
              <a:lnSpc>
                <a:spcPct val="100000"/>
              </a:lnSpc>
              <a:spcBef>
                <a:spcPts val="290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35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меню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выберите </a:t>
            </a:r>
            <a:r>
              <a:rPr dirty="0" sz="1050" i="1">
                <a:solidFill>
                  <a:srgbClr val="202528"/>
                </a:solidFill>
                <a:latin typeface="Arial"/>
                <a:cs typeface="Arial"/>
              </a:rPr>
              <a:t>Файл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,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202528"/>
                </a:solidFill>
                <a:latin typeface="Arial"/>
                <a:cs typeface="Arial"/>
              </a:rPr>
              <a:t>Настройки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 marL="1174750">
              <a:lnSpc>
                <a:spcPct val="100000"/>
              </a:lnSpc>
              <a:spcBef>
                <a:spcPts val="285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30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Выберите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02528"/>
                </a:solidFill>
                <a:latin typeface="Arial"/>
                <a:cs typeface="Arial"/>
              </a:rPr>
              <a:t>Ввод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,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вкладка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202528"/>
                </a:solidFill>
                <a:latin typeface="Arial"/>
                <a:cs typeface="Arial"/>
              </a:rPr>
              <a:t>Виртуальная</a:t>
            </a:r>
            <a:r>
              <a:rPr dirty="0" sz="1050" spc="-15" i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202528"/>
                </a:solidFill>
                <a:latin typeface="Arial"/>
                <a:cs typeface="Arial"/>
              </a:rPr>
              <a:t>машина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 marL="1174750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25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Выберите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202528"/>
                </a:solidFill>
                <a:latin typeface="Arial"/>
                <a:cs typeface="Arial"/>
              </a:rPr>
              <a:t>Сочетание</a:t>
            </a:r>
            <a:r>
              <a:rPr dirty="0" sz="1050" spc="-15" i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02528"/>
                </a:solidFill>
                <a:latin typeface="Arial"/>
                <a:cs typeface="Arial"/>
              </a:rPr>
              <a:t>клавиш</a:t>
            </a:r>
            <a:r>
              <a:rPr dirty="0" sz="1050" spc="-15" i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строке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202528"/>
                </a:solidFill>
                <a:latin typeface="Arial"/>
                <a:cs typeface="Arial"/>
              </a:rPr>
              <a:t>Хост-комбинация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 marL="1174750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35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Нажмите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новое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сочетание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клавиш.</a:t>
            </a:r>
            <a:endParaRPr sz="1050">
              <a:latin typeface="Arial"/>
              <a:cs typeface="Arial"/>
            </a:endParaRPr>
          </a:p>
          <a:p>
            <a:pPr marL="1174750">
              <a:lnSpc>
                <a:spcPct val="100000"/>
              </a:lnSpc>
              <a:spcBef>
                <a:spcPts val="285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40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Нажмите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 ОК,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чтобы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сохранить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изменения.</a:t>
            </a:r>
            <a:endParaRPr sz="1050">
              <a:latin typeface="Arial"/>
              <a:cs typeface="Arial"/>
            </a:endParaRPr>
          </a:p>
          <a:p>
            <a:pPr marL="513715">
              <a:lnSpc>
                <a:spcPct val="100000"/>
              </a:lnSpc>
              <a:spcBef>
                <a:spcPts val="290"/>
              </a:spcBef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Командная</a:t>
            </a:r>
            <a:r>
              <a:rPr dirty="0" sz="1050" spc="-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строка</a:t>
            </a:r>
            <a:endParaRPr sz="1050">
              <a:latin typeface="Arial"/>
              <a:cs typeface="Arial"/>
            </a:endParaRPr>
          </a:p>
          <a:p>
            <a:pPr marL="520700">
              <a:lnSpc>
                <a:spcPct val="100000"/>
              </a:lnSpc>
              <a:spcBef>
                <a:spcPts val="290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40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Проверьте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текущую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комбинацию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для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хост-клавиши:</a:t>
            </a:r>
            <a:endParaRPr sz="1050">
              <a:latin typeface="Arial"/>
              <a:cs typeface="Arial"/>
            </a:endParaRPr>
          </a:p>
          <a:p>
            <a:pPr marL="520700">
              <a:lnSpc>
                <a:spcPct val="100000"/>
              </a:lnSpc>
              <a:spcBef>
                <a:spcPts val="420"/>
              </a:spcBef>
            </a:pPr>
            <a:r>
              <a:rPr dirty="0" sz="1000" spc="2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229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VBoxManage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getextradata</a:t>
            </a:r>
            <a:r>
              <a:rPr dirty="0" sz="1000" spc="-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global</a:t>
            </a:r>
            <a:r>
              <a:rPr dirty="0" sz="1000" spc="-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GUI/Input/HostKeyCombination</a:t>
            </a:r>
            <a:endParaRPr sz="1000">
              <a:latin typeface="Tahoma"/>
              <a:cs typeface="Tahoma"/>
            </a:endParaRPr>
          </a:p>
          <a:p>
            <a:pPr marL="520700">
              <a:lnSpc>
                <a:spcPct val="100000"/>
              </a:lnSpc>
              <a:spcBef>
                <a:spcPts val="459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60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По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умолчанию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установлена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комбинация</a:t>
            </a:r>
            <a:r>
              <a:rPr dirty="0" sz="1050" spc="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73E8C"/>
                </a:solidFill>
                <a:latin typeface="Tahoma"/>
                <a:cs typeface="Tahoma"/>
              </a:rPr>
              <a:t>65508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,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соответствующая</a:t>
            </a:r>
            <a:endParaRPr sz="1050">
              <a:latin typeface="Arial"/>
              <a:cs typeface="Arial"/>
            </a:endParaRPr>
          </a:p>
          <a:p>
            <a:pPr marL="749300">
              <a:lnSpc>
                <a:spcPct val="100000"/>
              </a:lnSpc>
              <a:spcBef>
                <a:spcPts val="630"/>
              </a:spcBef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правой</a:t>
            </a:r>
            <a:r>
              <a:rPr dirty="0" sz="1050" spc="-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клавише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baseline="-12345" sz="1350" spc="-30">
                <a:solidFill>
                  <a:srgbClr val="E73E8C"/>
                </a:solidFill>
                <a:latin typeface="Tahoma"/>
                <a:cs typeface="Tahoma"/>
              </a:rPr>
              <a:t>Ctrl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 marL="520700">
              <a:lnSpc>
                <a:spcPct val="100000"/>
              </a:lnSpc>
              <a:spcBef>
                <a:spcPts val="330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35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Установите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нужную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клавишу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(в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примере клавиша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202528"/>
                </a:solidFill>
                <a:latin typeface="Arial"/>
                <a:cs typeface="Arial"/>
              </a:rPr>
              <a:t>Menu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):</a:t>
            </a:r>
            <a:endParaRPr sz="1050">
              <a:latin typeface="Arial"/>
              <a:cs typeface="Arial"/>
            </a:endParaRPr>
          </a:p>
          <a:p>
            <a:pPr marL="520700">
              <a:lnSpc>
                <a:spcPct val="100000"/>
              </a:lnSpc>
              <a:spcBef>
                <a:spcPts val="425"/>
              </a:spcBef>
            </a:pPr>
            <a:r>
              <a:rPr dirty="0" sz="1000" spc="2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240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VBoxManage</a:t>
            </a:r>
            <a:r>
              <a:rPr dirty="0" sz="1000" spc="1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setextradata</a:t>
            </a:r>
            <a:r>
              <a:rPr dirty="0" sz="1000" spc="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global</a:t>
            </a:r>
            <a:r>
              <a:rPr dirty="0" sz="1000" spc="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GUI/Input/HostKeyCombination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65383</a:t>
            </a:r>
            <a:endParaRPr sz="1000">
              <a:latin typeface="Tahoma"/>
              <a:cs typeface="Tahoma"/>
            </a:endParaRPr>
          </a:p>
          <a:p>
            <a:pPr marL="749935" marR="386080" indent="-229235">
              <a:lnSpc>
                <a:spcPct val="104600"/>
              </a:lnSpc>
              <a:spcBef>
                <a:spcPts val="260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35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Комбинации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клавиш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можно,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например, посмотреть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на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странице </a:t>
            </a:r>
            <a:r>
              <a:rPr dirty="0" u="sng" sz="1050" spc="-1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Arial"/>
                <a:cs typeface="Arial"/>
                <a:hlinkClick r:id="rId2"/>
              </a:rPr>
              <a:t>https://pythonhosted.org/pyglet/api/pyglet.window.keymodule.html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  <a:hlinkClick r:id="rId2"/>
              </a:rPr>
              <a:t>.</a:t>
            </a:r>
            <a:endParaRPr sz="10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93419" y="7621972"/>
            <a:ext cx="6052185" cy="2179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11200" marR="310515" indent="-685800">
              <a:lnSpc>
                <a:spcPct val="146100"/>
              </a:lnSpc>
              <a:spcBef>
                <a:spcPts val="100"/>
              </a:spcBef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Создание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виртуальной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 машины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 spc="-45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Для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использования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графического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интерфейса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запустите менеджер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виртуальных</a:t>
            </a:r>
            <a:r>
              <a:rPr dirty="0" sz="1050" spc="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машин,</a:t>
            </a:r>
            <a:r>
              <a:rPr dirty="0" sz="1050" spc="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введя</a:t>
            </a:r>
            <a:r>
              <a:rPr dirty="0" sz="1050" spc="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командной</a:t>
            </a:r>
            <a:r>
              <a:rPr dirty="0" sz="1050" spc="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строке:</a:t>
            </a:r>
            <a:r>
              <a:rPr dirty="0" sz="1050" spc="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 spc="-310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VirtualBox</a:t>
            </a:r>
            <a:r>
              <a:rPr dirty="0" sz="1000" spc="-4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50">
                <a:solidFill>
                  <a:srgbClr val="202528"/>
                </a:solidFill>
                <a:latin typeface="Tahoma"/>
                <a:cs typeface="Tahoma"/>
              </a:rPr>
              <a:t>&amp;</a:t>
            </a:r>
            <a:r>
              <a:rPr dirty="0" sz="1000" spc="26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  <a:p>
            <a:pPr marL="710565" marR="618490" indent="204470">
              <a:lnSpc>
                <a:spcPct val="131000"/>
              </a:lnSpc>
              <a:spcBef>
                <a:spcPts val="135"/>
              </a:spcBef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Создайте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новую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виртуальную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машину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графическом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интерфейсе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или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50">
                <a:solidFill>
                  <a:srgbClr val="202528"/>
                </a:solidFill>
                <a:latin typeface="Arial"/>
                <a:cs typeface="Arial"/>
              </a:rPr>
              <a:t>в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командной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строке.</a:t>
            </a:r>
            <a:endParaRPr sz="1050">
              <a:latin typeface="Arial"/>
              <a:cs typeface="Arial"/>
            </a:endParaRPr>
          </a:p>
          <a:p>
            <a:pPr marL="1626235">
              <a:lnSpc>
                <a:spcPct val="100000"/>
              </a:lnSpc>
              <a:spcBef>
                <a:spcPts val="390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50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командной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строке:</a:t>
            </a:r>
            <a:endParaRPr sz="1050">
              <a:latin typeface="Arial"/>
              <a:cs typeface="Arial"/>
            </a:endParaRPr>
          </a:p>
          <a:p>
            <a:pPr marL="1626235">
              <a:lnSpc>
                <a:spcPct val="100000"/>
              </a:lnSpc>
              <a:spcBef>
                <a:spcPts val="420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305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vboxmanage</a:t>
            </a:r>
            <a:r>
              <a:rPr dirty="0" sz="1000" spc="4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createvm</a:t>
            </a:r>
            <a:r>
              <a:rPr dirty="0" sz="1000" spc="4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--name</a:t>
            </a:r>
            <a:r>
              <a:rPr dirty="0" sz="1000" spc="4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"$(id</a:t>
            </a:r>
            <a:r>
              <a:rPr dirty="0" sz="1000" spc="4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-un)_os-intro"</a:t>
            </a:r>
            <a:r>
              <a:rPr dirty="0" sz="1000" spc="4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--ostype</a:t>
            </a:r>
            <a:r>
              <a:rPr dirty="0" sz="1000" spc="4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Fedora_64</a:t>
            </a:r>
            <a:r>
              <a:rPr dirty="0" sz="1000" spc="4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Tahoma"/>
                <a:cs typeface="Tahoma"/>
              </a:rPr>
              <a:t>-</a:t>
            </a:r>
            <a:endParaRPr sz="1000">
              <a:latin typeface="Tahoma"/>
              <a:cs typeface="Tahoma"/>
            </a:endParaRPr>
          </a:p>
          <a:p>
            <a:pPr marL="1397635">
              <a:lnSpc>
                <a:spcPct val="100000"/>
              </a:lnSpc>
              <a:spcBef>
                <a:spcPts val="455"/>
              </a:spcBef>
            </a:pP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register</a:t>
            </a:r>
            <a:endParaRPr sz="1000">
              <a:latin typeface="Tahoma"/>
              <a:cs typeface="Tahoma"/>
            </a:endParaRPr>
          </a:p>
          <a:p>
            <a:pPr marL="711835">
              <a:lnSpc>
                <a:spcPct val="100000"/>
              </a:lnSpc>
              <a:spcBef>
                <a:spcPts val="330"/>
              </a:spcBef>
              <a:tabLst>
                <a:tab pos="939800" algn="l"/>
              </a:tabLst>
            </a:pPr>
            <a:r>
              <a:rPr dirty="0" sz="1100" spc="-50">
                <a:latin typeface="Calibri"/>
                <a:cs typeface="Calibri"/>
              </a:rPr>
              <a:t>o</a:t>
            </a:r>
            <a:r>
              <a:rPr dirty="0" sz="1100">
                <a:latin typeface="Calibri"/>
                <a:cs typeface="Calibri"/>
              </a:rPr>
              <a:t>	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Укажите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имя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виртуальной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машины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(ваш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логин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дисплейном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классе),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тип</a:t>
            </a:r>
            <a:endParaRPr sz="1050">
              <a:latin typeface="Arial"/>
              <a:cs typeface="Arial"/>
            </a:endParaRPr>
          </a:p>
          <a:p>
            <a:pPr marL="940435" marR="360680">
              <a:lnSpc>
                <a:spcPts val="1630"/>
              </a:lnSpc>
              <a:spcBef>
                <a:spcPts val="105"/>
              </a:spcBef>
              <a:tabLst>
                <a:tab pos="4062095" algn="l"/>
              </a:tabLst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операционной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системы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—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Linux,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Fedora.</a:t>
            </a:r>
            <a:r>
              <a:rPr dirty="0" sz="1050" spc="254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baseline="-11111" sz="1500" spc="-75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baseline="-11111" sz="1500">
                <a:solidFill>
                  <a:srgbClr val="202528"/>
                </a:solidFill>
                <a:latin typeface="Courier New"/>
                <a:cs typeface="Courier New"/>
              </a:rPr>
              <a:t>	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Укажите</a:t>
            </a:r>
            <a:r>
              <a:rPr dirty="0" sz="1050" spc="-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размер</a:t>
            </a:r>
            <a:r>
              <a:rPr dirty="0" sz="1050" spc="-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основной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памяти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виртуальной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машины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—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от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2048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МБ.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79855" y="651725"/>
            <a:ext cx="5535930" cy="8982075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482600">
              <a:lnSpc>
                <a:spcPct val="100000"/>
              </a:lnSpc>
              <a:spcBef>
                <a:spcPts val="540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45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командной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строке:</a:t>
            </a:r>
            <a:endParaRPr sz="1050">
              <a:latin typeface="Arial"/>
              <a:cs typeface="Arial"/>
            </a:endParaRPr>
          </a:p>
          <a:p>
            <a:pPr marL="482600">
              <a:lnSpc>
                <a:spcPct val="100000"/>
              </a:lnSpc>
              <a:spcBef>
                <a:spcPts val="425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290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vboxmanage</a:t>
            </a:r>
            <a:r>
              <a:rPr dirty="0" sz="1000" spc="4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modifyvm</a:t>
            </a:r>
            <a:r>
              <a:rPr dirty="0" sz="1000" spc="4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"$(id</a:t>
            </a:r>
            <a:r>
              <a:rPr dirty="0" sz="1000" spc="3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-un)_os-intro"</a:t>
            </a:r>
            <a:r>
              <a:rPr dirty="0" sz="1000" spc="4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--memory</a:t>
            </a:r>
            <a:r>
              <a:rPr dirty="0" sz="1000" spc="3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2048</a:t>
            </a:r>
            <a:r>
              <a:rPr dirty="0" sz="1000" spc="4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--acpi</a:t>
            </a:r>
            <a:r>
              <a:rPr dirty="0" sz="1000" spc="3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50">
                <a:solidFill>
                  <a:srgbClr val="202528"/>
                </a:solidFill>
                <a:latin typeface="Tahoma"/>
                <a:cs typeface="Tahoma"/>
              </a:rPr>
              <a:t>on</a:t>
            </a:r>
            <a:r>
              <a:rPr dirty="0" sz="1000" spc="3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nic1</a:t>
            </a:r>
            <a:r>
              <a:rPr dirty="0" sz="1000" spc="4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02528"/>
                </a:solidFill>
                <a:latin typeface="Tahoma"/>
                <a:cs typeface="Tahoma"/>
              </a:rPr>
              <a:t>nat</a:t>
            </a:r>
            <a:endParaRPr sz="1000">
              <a:latin typeface="Tahoma"/>
              <a:cs typeface="Tahoma"/>
            </a:endParaRPr>
          </a:p>
          <a:p>
            <a:pPr marL="254000" marR="94615" indent="-228600">
              <a:lnSpc>
                <a:spcPts val="1960"/>
              </a:lnSpc>
              <a:spcBef>
                <a:spcPts val="35"/>
              </a:spcBef>
              <a:buClr>
                <a:srgbClr val="000000"/>
              </a:buClr>
              <a:buSzPct val="104761"/>
              <a:buFont typeface="Calibri"/>
              <a:buChar char="o"/>
              <a:tabLst>
                <a:tab pos="254000" algn="l"/>
                <a:tab pos="2926080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Задайте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конфигурацию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жёсткого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диска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—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загрузочный,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VDI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(VirtualBox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Disk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Image), динамический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виртуальный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 диск.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	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Задайте</a:t>
            </a:r>
            <a:r>
              <a:rPr dirty="0" sz="1050" spc="-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размер</a:t>
            </a:r>
            <a:r>
              <a:rPr dirty="0" sz="1050" spc="-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диска</a:t>
            </a:r>
            <a:r>
              <a:rPr dirty="0" sz="1050" spc="-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—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80</a:t>
            </a:r>
            <a:r>
              <a:rPr dirty="0" sz="1050" spc="-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ГБ</a:t>
            </a:r>
            <a:r>
              <a:rPr dirty="0" sz="1050" spc="-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(или</a:t>
            </a:r>
            <a:endParaRPr sz="1050">
              <a:latin typeface="Arial"/>
              <a:cs typeface="Arial"/>
            </a:endParaRPr>
          </a:p>
          <a:p>
            <a:pPr marL="254000">
              <a:lnSpc>
                <a:spcPct val="100000"/>
              </a:lnSpc>
              <a:spcBef>
                <a:spcPts val="650"/>
              </a:spcBef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больше),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его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расположение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—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данном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случае</a:t>
            </a:r>
            <a:endParaRPr sz="1050">
              <a:latin typeface="Arial"/>
              <a:cs typeface="Arial"/>
            </a:endParaRPr>
          </a:p>
          <a:p>
            <a:pPr marL="254000">
              <a:lnSpc>
                <a:spcPct val="100000"/>
              </a:lnSpc>
              <a:spcBef>
                <a:spcPts val="705"/>
              </a:spcBef>
            </a:pPr>
            <a:r>
              <a:rPr dirty="0" sz="900" spc="-10">
                <a:solidFill>
                  <a:srgbClr val="E73E8C"/>
                </a:solidFill>
                <a:latin typeface="Tahoma"/>
                <a:cs typeface="Tahoma"/>
              </a:rPr>
              <a:t>/var/tmp/имя_пользователя/имя_машины/имя_машины.vdi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 marL="482600">
              <a:lnSpc>
                <a:spcPct val="100000"/>
              </a:lnSpc>
              <a:spcBef>
                <a:spcPts val="345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45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командной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строке:</a:t>
            </a:r>
            <a:endParaRPr sz="1050">
              <a:latin typeface="Arial"/>
              <a:cs typeface="Arial"/>
            </a:endParaRPr>
          </a:p>
          <a:p>
            <a:pPr marL="711200" marR="229870" indent="-228600">
              <a:lnSpc>
                <a:spcPct val="128099"/>
              </a:lnSpc>
              <a:spcBef>
                <a:spcPts val="85"/>
              </a:spcBef>
            </a:pPr>
            <a:r>
              <a:rPr dirty="0" sz="1000" spc="2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229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vboxmanage</a:t>
            </a:r>
            <a:r>
              <a:rPr dirty="0" sz="1000" spc="-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createhd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Tahoma"/>
                <a:cs typeface="Tahoma"/>
              </a:rPr>
              <a:t>--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filename</a:t>
            </a:r>
            <a:r>
              <a:rPr dirty="0" sz="1000" spc="-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"$(vboxmanage</a:t>
            </a:r>
            <a:r>
              <a:rPr dirty="0" sz="1000" spc="-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list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systemproperties</a:t>
            </a:r>
            <a:r>
              <a:rPr dirty="0" sz="1000" spc="-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160">
                <a:solidFill>
                  <a:srgbClr val="202528"/>
                </a:solidFill>
                <a:latin typeface="Tahoma"/>
                <a:cs typeface="Tahoma"/>
              </a:rPr>
              <a:t>|</a:t>
            </a:r>
            <a:r>
              <a:rPr dirty="0" sz="1000" spc="-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Tahoma"/>
                <a:cs typeface="Tahoma"/>
              </a:rPr>
              <a:t>grep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'Default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machine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folder:'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160">
                <a:solidFill>
                  <a:srgbClr val="202528"/>
                </a:solidFill>
                <a:latin typeface="Tahoma"/>
                <a:cs typeface="Tahoma"/>
              </a:rPr>
              <a:t>|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cut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02528"/>
                </a:solidFill>
                <a:latin typeface="Tahoma"/>
                <a:cs typeface="Tahoma"/>
              </a:rPr>
              <a:t>-</a:t>
            </a:r>
            <a:r>
              <a:rPr dirty="0" sz="1000" spc="-20">
                <a:solidFill>
                  <a:srgbClr val="202528"/>
                </a:solidFill>
                <a:latin typeface="Tahoma"/>
                <a:cs typeface="Tahoma"/>
              </a:rPr>
              <a:t>d':'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-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f2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160">
                <a:solidFill>
                  <a:srgbClr val="202528"/>
                </a:solidFill>
                <a:latin typeface="Tahoma"/>
                <a:cs typeface="Tahoma"/>
              </a:rPr>
              <a:t>|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tr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-d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'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02528"/>
                </a:solidFill>
                <a:latin typeface="Tahoma"/>
                <a:cs typeface="Tahoma"/>
              </a:rPr>
              <a:t>')/$(id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un)_os-intro/$(id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02528"/>
                </a:solidFill>
                <a:latin typeface="Tahoma"/>
                <a:cs typeface="Tahoma"/>
              </a:rPr>
              <a:t>-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un)_os-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intro.vdi"</a:t>
            </a:r>
            <a:r>
              <a:rPr dirty="0" sz="1000" spc="5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--size</a:t>
            </a:r>
            <a:r>
              <a:rPr dirty="0" sz="1000" spc="5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80000</a:t>
            </a:r>
            <a:endParaRPr sz="1000">
              <a:latin typeface="Tahoma"/>
              <a:cs typeface="Tahoma"/>
            </a:endParaRPr>
          </a:p>
          <a:p>
            <a:pPr marL="254000" marR="496570" indent="-228600">
              <a:lnSpc>
                <a:spcPct val="104800"/>
              </a:lnSpc>
              <a:spcBef>
                <a:spcPts val="270"/>
              </a:spcBef>
              <a:buClr>
                <a:srgbClr val="000000"/>
              </a:buClr>
              <a:buSzPct val="104761"/>
              <a:buFont typeface="Calibri"/>
              <a:buChar char="o"/>
              <a:tabLst>
                <a:tab pos="254000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Выберите</a:t>
            </a:r>
            <a:r>
              <a:rPr dirty="0" sz="1050" spc="-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VirtualBox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Вашей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виртуальной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машины.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Добавьте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новый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привод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оптических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дисков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выберите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образ.</a:t>
            </a:r>
            <a:endParaRPr sz="1050">
              <a:latin typeface="Arial"/>
              <a:cs typeface="Arial"/>
            </a:endParaRPr>
          </a:p>
          <a:p>
            <a:pPr marL="939800">
              <a:lnSpc>
                <a:spcPct val="100000"/>
              </a:lnSpc>
              <a:spcBef>
                <a:spcPts val="285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50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командной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строке:</a:t>
            </a:r>
            <a:endParaRPr sz="1050">
              <a:latin typeface="Arial"/>
              <a:cs typeface="Arial"/>
            </a:endParaRPr>
          </a:p>
          <a:p>
            <a:pPr marL="939800">
              <a:lnSpc>
                <a:spcPct val="100000"/>
              </a:lnSpc>
              <a:spcBef>
                <a:spcPts val="290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45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Подключите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загрузку с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DVD:</a:t>
            </a:r>
            <a:endParaRPr sz="1050">
              <a:latin typeface="Arial"/>
              <a:cs typeface="Arial"/>
            </a:endParaRPr>
          </a:p>
          <a:p>
            <a:pPr marL="1168400" marR="327660" indent="-229235">
              <a:lnSpc>
                <a:spcPct val="115399"/>
              </a:lnSpc>
              <a:spcBef>
                <a:spcPts val="175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295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vboxmanage</a:t>
            </a:r>
            <a:r>
              <a:rPr dirty="0" sz="1000" spc="4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modifyvm</a:t>
            </a:r>
            <a:r>
              <a:rPr dirty="0" sz="1000" spc="4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"$(id</a:t>
            </a:r>
            <a:r>
              <a:rPr dirty="0" sz="1000" spc="3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-un)_os-intro"</a:t>
            </a:r>
            <a:r>
              <a:rPr dirty="0" sz="1000" spc="4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--boot1</a:t>
            </a:r>
            <a:r>
              <a:rPr dirty="0" sz="1000" spc="4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dvd</a:t>
            </a:r>
            <a:r>
              <a:rPr dirty="0" sz="1000" spc="6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25">
                <a:solidFill>
                  <a:srgbClr val="202528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Добавьте IDE-контроллер:</a:t>
            </a:r>
            <a:endParaRPr sz="1050">
              <a:latin typeface="Arial"/>
              <a:cs typeface="Arial"/>
            </a:endParaRPr>
          </a:p>
          <a:p>
            <a:pPr marL="1455420" marR="1106805" indent="-516255">
              <a:lnSpc>
                <a:spcPts val="1650"/>
              </a:lnSpc>
              <a:spcBef>
                <a:spcPts val="35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305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vboxmanage</a:t>
            </a:r>
            <a:r>
              <a:rPr dirty="0" sz="1000" spc="4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storagectl</a:t>
            </a:r>
            <a:r>
              <a:rPr dirty="0" sz="1000" spc="4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"$(id</a:t>
            </a:r>
            <a:r>
              <a:rPr dirty="0" sz="1000" spc="4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-un)_os-intro"</a:t>
            </a:r>
            <a:r>
              <a:rPr dirty="0" sz="1000" spc="4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--name</a:t>
            </a:r>
            <a:r>
              <a:rPr dirty="0" sz="1000" spc="4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Tahoma"/>
                <a:cs typeface="Tahoma"/>
              </a:rPr>
              <a:t>"IDE </a:t>
            </a:r>
            <a:r>
              <a:rPr dirty="0" sz="1000" spc="10">
                <a:solidFill>
                  <a:srgbClr val="202528"/>
                </a:solidFill>
                <a:latin typeface="Tahoma"/>
                <a:cs typeface="Tahoma"/>
              </a:rPr>
              <a:t>Controller"</a:t>
            </a:r>
            <a:r>
              <a:rPr dirty="0" sz="1000" spc="5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--</a:t>
            </a:r>
            <a:r>
              <a:rPr dirty="0" sz="1000" spc="10">
                <a:solidFill>
                  <a:srgbClr val="202528"/>
                </a:solidFill>
                <a:latin typeface="Tahoma"/>
                <a:cs typeface="Tahoma"/>
              </a:rPr>
              <a:t>add</a:t>
            </a:r>
            <a:r>
              <a:rPr dirty="0" sz="1000" spc="5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Tahoma"/>
                <a:cs typeface="Tahoma"/>
              </a:rPr>
              <a:t>ide</a:t>
            </a:r>
            <a:r>
              <a:rPr dirty="0" sz="1000" spc="5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Tahoma"/>
                <a:cs typeface="Tahoma"/>
              </a:rPr>
              <a:t>--controller</a:t>
            </a:r>
            <a:r>
              <a:rPr dirty="0" sz="1000" spc="5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PIIX4</a:t>
            </a:r>
            <a:endParaRPr sz="1000">
              <a:latin typeface="Tahoma"/>
              <a:cs typeface="Tahoma"/>
            </a:endParaRPr>
          </a:p>
          <a:p>
            <a:pPr marL="1169035" marR="727075" indent="-229235">
              <a:lnSpc>
                <a:spcPct val="105800"/>
              </a:lnSpc>
              <a:spcBef>
                <a:spcPts val="110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25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Установите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созданный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вами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файл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VDI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качестве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первого виртуального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жесткого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диска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новой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виртуальной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машины:</a:t>
            </a:r>
            <a:endParaRPr sz="1050">
              <a:latin typeface="Arial"/>
              <a:cs typeface="Arial"/>
            </a:endParaRPr>
          </a:p>
          <a:p>
            <a:pPr marL="939800">
              <a:lnSpc>
                <a:spcPct val="100000"/>
              </a:lnSpc>
              <a:spcBef>
                <a:spcPts val="420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320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vboxmanage</a:t>
            </a:r>
            <a:r>
              <a:rPr dirty="0" sz="1000" spc="5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storageattach</a:t>
            </a:r>
            <a:r>
              <a:rPr dirty="0" sz="1000" spc="5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"$(id</a:t>
            </a:r>
            <a:r>
              <a:rPr dirty="0" sz="1000" spc="5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-un)_os-intro"</a:t>
            </a:r>
            <a:r>
              <a:rPr dirty="0" sz="1000" spc="5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--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storagectl</a:t>
            </a:r>
            <a:endParaRPr sz="1000">
              <a:latin typeface="Tahoma"/>
              <a:cs typeface="Tahoma"/>
            </a:endParaRPr>
          </a:p>
          <a:p>
            <a:pPr marL="1174750" marR="31115" indent="-6350">
              <a:lnSpc>
                <a:spcPct val="128099"/>
              </a:lnSpc>
              <a:spcBef>
                <a:spcPts val="114"/>
              </a:spcBef>
            </a:pPr>
            <a:r>
              <a:rPr dirty="0" sz="1000" spc="-20">
                <a:solidFill>
                  <a:srgbClr val="202528"/>
                </a:solidFill>
                <a:latin typeface="Tahoma"/>
                <a:cs typeface="Tahoma"/>
              </a:rPr>
              <a:t>"IDE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Controller"</a:t>
            </a:r>
            <a:r>
              <a:rPr dirty="0" sz="1000" spc="2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--port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0</a:t>
            </a:r>
            <a:r>
              <a:rPr dirty="0" sz="1000" spc="2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--device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0</a:t>
            </a:r>
            <a:r>
              <a:rPr dirty="0" sz="1000" spc="2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--type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50">
                <a:solidFill>
                  <a:srgbClr val="202528"/>
                </a:solidFill>
                <a:latin typeface="Tahoma"/>
                <a:cs typeface="Tahoma"/>
              </a:rPr>
              <a:t>hdd</a:t>
            </a:r>
            <a:r>
              <a:rPr dirty="0" sz="1000" spc="2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--medium</a:t>
            </a:r>
            <a:r>
              <a:rPr dirty="0" sz="1000" spc="40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"$(vboxmanage</a:t>
            </a:r>
            <a:r>
              <a:rPr dirty="0" sz="1000" spc="50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list</a:t>
            </a:r>
            <a:r>
              <a:rPr dirty="0" sz="1000" spc="5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systemproperties</a:t>
            </a:r>
            <a:r>
              <a:rPr dirty="0" sz="1000" spc="6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160">
                <a:solidFill>
                  <a:srgbClr val="202528"/>
                </a:solidFill>
                <a:latin typeface="Tahoma"/>
                <a:cs typeface="Tahoma"/>
              </a:rPr>
              <a:t>|</a:t>
            </a:r>
            <a:r>
              <a:rPr dirty="0" sz="1000" spc="6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grep</a:t>
            </a:r>
            <a:r>
              <a:rPr dirty="0" sz="1000" spc="6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'Default</a:t>
            </a:r>
            <a:r>
              <a:rPr dirty="0" sz="1000" spc="5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machine</a:t>
            </a:r>
            <a:r>
              <a:rPr dirty="0" sz="1000" spc="6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folder:'</a:t>
            </a:r>
            <a:r>
              <a:rPr dirty="0" sz="1000" spc="6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160">
                <a:solidFill>
                  <a:srgbClr val="202528"/>
                </a:solidFill>
                <a:latin typeface="Tahoma"/>
                <a:cs typeface="Tahoma"/>
              </a:rPr>
              <a:t>|</a:t>
            </a:r>
            <a:r>
              <a:rPr dirty="0" sz="1000" spc="6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cut</a:t>
            </a:r>
            <a:r>
              <a:rPr dirty="0" sz="1000" spc="6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02528"/>
                </a:solidFill>
                <a:latin typeface="Tahoma"/>
                <a:cs typeface="Tahoma"/>
              </a:rPr>
              <a:t>-</a:t>
            </a:r>
            <a:r>
              <a:rPr dirty="0" sz="1000" spc="-20">
                <a:solidFill>
                  <a:srgbClr val="202528"/>
                </a:solidFill>
                <a:latin typeface="Tahoma"/>
                <a:cs typeface="Tahoma"/>
              </a:rPr>
              <a:t>d':'</a:t>
            </a:r>
            <a:r>
              <a:rPr dirty="0" sz="1000" spc="5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-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f2</a:t>
            </a:r>
            <a:r>
              <a:rPr dirty="0" sz="1000" spc="6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160">
                <a:solidFill>
                  <a:srgbClr val="202528"/>
                </a:solidFill>
                <a:latin typeface="Tahoma"/>
                <a:cs typeface="Tahoma"/>
              </a:rPr>
              <a:t>|</a:t>
            </a:r>
            <a:r>
              <a:rPr dirty="0" sz="1000" spc="6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tr</a:t>
            </a:r>
            <a:r>
              <a:rPr dirty="0" sz="1000" spc="6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-d</a:t>
            </a:r>
            <a:r>
              <a:rPr dirty="0" sz="1000" spc="5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Tahoma"/>
                <a:cs typeface="Tahoma"/>
              </a:rPr>
              <a:t>' </a:t>
            </a:r>
            <a:r>
              <a:rPr dirty="0" sz="1000" spc="-25">
                <a:solidFill>
                  <a:srgbClr val="202528"/>
                </a:solidFill>
                <a:latin typeface="Tahoma"/>
                <a:cs typeface="Tahoma"/>
              </a:rPr>
              <a:t>')/$(id</a:t>
            </a:r>
            <a:r>
              <a:rPr dirty="0" sz="1000" spc="1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-un)_os-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intro/$(id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-un)_os-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intro.vdi"</a:t>
            </a:r>
            <a:endParaRPr sz="1000">
              <a:latin typeface="Tahoma"/>
              <a:cs typeface="Tahoma"/>
            </a:endParaRPr>
          </a:p>
          <a:p>
            <a:pPr marL="939800">
              <a:lnSpc>
                <a:spcPct val="100000"/>
              </a:lnSpc>
              <a:spcBef>
                <a:spcPts val="500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50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Подключите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 к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виртуальной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машине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ISO-файл:</a:t>
            </a:r>
            <a:endParaRPr sz="1050">
              <a:latin typeface="Arial"/>
              <a:cs typeface="Arial"/>
            </a:endParaRPr>
          </a:p>
          <a:p>
            <a:pPr marL="1168400" marR="831850" indent="-228600">
              <a:lnSpc>
                <a:spcPct val="128099"/>
              </a:lnSpc>
              <a:spcBef>
                <a:spcPts val="85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320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vboxmanage</a:t>
            </a:r>
            <a:r>
              <a:rPr dirty="0" sz="1000" spc="5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storageattach</a:t>
            </a:r>
            <a:r>
              <a:rPr dirty="0" sz="1000" spc="5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"$(id</a:t>
            </a:r>
            <a:r>
              <a:rPr dirty="0" sz="1000" spc="5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-un)_os-intro"</a:t>
            </a:r>
            <a:r>
              <a:rPr dirty="0" sz="1000" spc="5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--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storagectl </a:t>
            </a:r>
            <a:r>
              <a:rPr dirty="0" sz="1000" spc="-20">
                <a:solidFill>
                  <a:srgbClr val="202528"/>
                </a:solidFill>
                <a:latin typeface="Tahoma"/>
                <a:cs typeface="Tahoma"/>
              </a:rPr>
              <a:t>"IDE</a:t>
            </a:r>
            <a:r>
              <a:rPr dirty="0" sz="1000" spc="5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Controller"</a:t>
            </a:r>
            <a:r>
              <a:rPr dirty="0" sz="1000" spc="5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--port</a:t>
            </a:r>
            <a:r>
              <a:rPr dirty="0" sz="1000" spc="5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0</a:t>
            </a:r>
            <a:r>
              <a:rPr dirty="0" sz="1000" spc="5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--device</a:t>
            </a:r>
            <a:r>
              <a:rPr dirty="0" sz="1000" spc="5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1</a:t>
            </a:r>
            <a:r>
              <a:rPr dirty="0" sz="1000" spc="5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--type</a:t>
            </a:r>
            <a:r>
              <a:rPr dirty="0" sz="1000" spc="5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dvddrive</a:t>
            </a:r>
            <a:r>
              <a:rPr dirty="0" sz="1000" spc="5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--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medium</a:t>
            </a:r>
            <a:endParaRPr sz="1000">
              <a:latin typeface="Tahoma"/>
              <a:cs typeface="Tahoma"/>
            </a:endParaRPr>
          </a:p>
          <a:p>
            <a:pPr marL="1174750" marR="166370">
              <a:lnSpc>
                <a:spcPct val="128099"/>
              </a:lnSpc>
            </a:pP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"$(vboxmanage</a:t>
            </a:r>
            <a:r>
              <a:rPr dirty="0" sz="1000" spc="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list</a:t>
            </a:r>
            <a:r>
              <a:rPr dirty="0" sz="1000" spc="1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systemproperties</a:t>
            </a:r>
            <a:r>
              <a:rPr dirty="0" sz="1000" spc="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160">
                <a:solidFill>
                  <a:srgbClr val="202528"/>
                </a:solidFill>
                <a:latin typeface="Tahoma"/>
                <a:cs typeface="Tahoma"/>
              </a:rPr>
              <a:t>|</a:t>
            </a:r>
            <a:r>
              <a:rPr dirty="0" sz="1000" spc="1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grep</a:t>
            </a:r>
            <a:r>
              <a:rPr dirty="0" sz="1000" spc="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'Default</a:t>
            </a:r>
            <a:r>
              <a:rPr dirty="0" sz="1000" spc="1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machine</a:t>
            </a:r>
            <a:r>
              <a:rPr dirty="0" sz="1000" spc="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folder:'</a:t>
            </a:r>
            <a:r>
              <a:rPr dirty="0" sz="1000" spc="1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110">
                <a:solidFill>
                  <a:srgbClr val="202528"/>
                </a:solidFill>
                <a:latin typeface="Tahoma"/>
                <a:cs typeface="Tahoma"/>
              </a:rPr>
              <a:t>|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cut</a:t>
            </a:r>
            <a:r>
              <a:rPr dirty="0" sz="1000" spc="-25">
                <a:solidFill>
                  <a:srgbClr val="202528"/>
                </a:solidFill>
                <a:latin typeface="Tahoma"/>
                <a:cs typeface="Tahoma"/>
              </a:rPr>
              <a:t> -</a:t>
            </a:r>
            <a:r>
              <a:rPr dirty="0" sz="1000" spc="-20">
                <a:solidFill>
                  <a:srgbClr val="202528"/>
                </a:solidFill>
                <a:latin typeface="Tahoma"/>
                <a:cs typeface="Tahoma"/>
              </a:rPr>
              <a:t>d':'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-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f2</a:t>
            </a:r>
            <a:r>
              <a:rPr dirty="0" sz="1000" spc="-2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160">
                <a:solidFill>
                  <a:srgbClr val="202528"/>
                </a:solidFill>
                <a:latin typeface="Tahoma"/>
                <a:cs typeface="Tahoma"/>
              </a:rPr>
              <a:t>|</a:t>
            </a:r>
            <a:r>
              <a:rPr dirty="0" sz="1000" spc="-2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tr</a:t>
            </a:r>
            <a:r>
              <a:rPr dirty="0" sz="1000" spc="-2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-d</a:t>
            </a:r>
            <a:r>
              <a:rPr dirty="0" sz="1000" spc="-2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'</a:t>
            </a:r>
            <a:r>
              <a:rPr dirty="0" sz="1000" spc="-2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')/iso/Fedora-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Sway-</a:t>
            </a:r>
            <a:endParaRPr sz="1000">
              <a:latin typeface="Tahoma"/>
              <a:cs typeface="Tahoma"/>
            </a:endParaRPr>
          </a:p>
          <a:p>
            <a:pPr marL="1176020">
              <a:lnSpc>
                <a:spcPct val="100000"/>
              </a:lnSpc>
              <a:spcBef>
                <a:spcPts val="450"/>
              </a:spcBef>
            </a:pP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Livex86_64-39-1.5.iso"</a:t>
            </a:r>
            <a:endParaRPr sz="1000">
              <a:latin typeface="Tahoma"/>
              <a:cs typeface="Tahoma"/>
            </a:endParaRPr>
          </a:p>
          <a:p>
            <a:pPr marL="254000" marR="944244" indent="-228600">
              <a:lnSpc>
                <a:spcPct val="104800"/>
              </a:lnSpc>
              <a:spcBef>
                <a:spcPts val="270"/>
              </a:spcBef>
              <a:buClr>
                <a:srgbClr val="000000"/>
              </a:buClr>
              <a:buSzPct val="104761"/>
              <a:buFont typeface="Calibri"/>
              <a:buChar char="o"/>
              <a:tabLst>
                <a:tab pos="254000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При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установке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на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собственной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технике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используйте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скачанный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образ операционной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системы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Fedora.</a:t>
            </a:r>
            <a:endParaRPr sz="1050">
              <a:latin typeface="Arial"/>
              <a:cs typeface="Arial"/>
            </a:endParaRPr>
          </a:p>
          <a:p>
            <a:pPr marL="253365" indent="-227965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SzPct val="104761"/>
              <a:buFont typeface="Calibri"/>
              <a:buChar char="o"/>
              <a:tabLst>
                <a:tab pos="2533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качестве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графического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контроллера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поставьте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VMSVGA.</a:t>
            </a:r>
            <a:endParaRPr sz="1050">
              <a:latin typeface="Arial"/>
              <a:cs typeface="Arial"/>
            </a:endParaRPr>
          </a:p>
          <a:p>
            <a:pPr marL="482600">
              <a:lnSpc>
                <a:spcPct val="100000"/>
              </a:lnSpc>
              <a:spcBef>
                <a:spcPts val="280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45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командной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строке:</a:t>
            </a:r>
            <a:endParaRPr sz="1050">
              <a:latin typeface="Arial"/>
              <a:cs typeface="Arial"/>
            </a:endParaRPr>
          </a:p>
          <a:p>
            <a:pPr marL="482600">
              <a:lnSpc>
                <a:spcPct val="100000"/>
              </a:lnSpc>
              <a:spcBef>
                <a:spcPts val="465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365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vboxmanage</a:t>
            </a:r>
            <a:r>
              <a:rPr dirty="0" sz="1000" spc="8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modifyvm</a:t>
            </a:r>
            <a:r>
              <a:rPr dirty="0" sz="1000" spc="8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"$(id</a:t>
            </a:r>
            <a:r>
              <a:rPr dirty="0" sz="1000" spc="8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-un)_os-intro"</a:t>
            </a:r>
            <a:r>
              <a:rPr dirty="0" sz="1000" spc="8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--graphicscontroller=vmsvga</a:t>
            </a:r>
            <a:r>
              <a:rPr dirty="0" sz="1000" spc="114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baseline="-11111" sz="1500" spc="-75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endParaRPr baseline="-11111" sz="1500">
              <a:latin typeface="Courier New"/>
              <a:cs typeface="Courier New"/>
            </a:endParaRPr>
          </a:p>
          <a:p>
            <a:pPr marL="710565">
              <a:lnSpc>
                <a:spcPct val="100000"/>
              </a:lnSpc>
              <a:spcBef>
                <a:spcPts val="80"/>
              </a:spcBef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Включите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ускорение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3D.</a:t>
            </a:r>
            <a:endParaRPr sz="1050">
              <a:latin typeface="Arial"/>
              <a:cs typeface="Arial"/>
            </a:endParaRPr>
          </a:p>
          <a:p>
            <a:pPr marL="482600">
              <a:lnSpc>
                <a:spcPct val="100000"/>
              </a:lnSpc>
              <a:spcBef>
                <a:spcPts val="65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45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командной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строке:</a:t>
            </a:r>
            <a:endParaRPr sz="1050">
              <a:latin typeface="Arial"/>
              <a:cs typeface="Arial"/>
            </a:endParaRPr>
          </a:p>
          <a:p>
            <a:pPr marL="711200" marR="387985" indent="-228600">
              <a:lnSpc>
                <a:spcPts val="1710"/>
              </a:lnSpc>
              <a:spcBef>
                <a:spcPts val="55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270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vboxmanage</a:t>
            </a:r>
            <a:r>
              <a:rPr dirty="0" sz="1000" spc="2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modifyvm</a:t>
            </a:r>
            <a:r>
              <a:rPr dirty="0" sz="1000" spc="2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"$(id</a:t>
            </a:r>
            <a:r>
              <a:rPr dirty="0" sz="1000" spc="2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-un)_os-intro"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--accelerate-3d=on</a:t>
            </a:r>
            <a:r>
              <a:rPr dirty="0" sz="1000" spc="6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 spc="-240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Если</a:t>
            </a:r>
            <a:r>
              <a:rPr dirty="0" sz="105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есть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проблемы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при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отображении,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загрузитесь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режиме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базовой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графики.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  <a:p>
            <a:pPr marL="711200" marR="165100">
              <a:lnSpc>
                <a:spcPts val="1580"/>
              </a:lnSpc>
              <a:spcBef>
                <a:spcPts val="70"/>
              </a:spcBef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Включите</a:t>
            </a:r>
            <a:r>
              <a:rPr dirty="0" sz="1050" spc="-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общий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буфер</a:t>
            </a:r>
            <a:r>
              <a:rPr dirty="0" sz="1050" spc="-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обмена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перетаскивание</a:t>
            </a:r>
            <a:r>
              <a:rPr dirty="0" sz="1050" spc="-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объектов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между</a:t>
            </a:r>
            <a:r>
              <a:rPr dirty="0" sz="1050" spc="-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хостом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гостевой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ОС.</a:t>
            </a:r>
            <a:endParaRPr sz="1050">
              <a:latin typeface="Arial"/>
              <a:cs typeface="Arial"/>
            </a:endParaRPr>
          </a:p>
          <a:p>
            <a:pPr marL="482600">
              <a:lnSpc>
                <a:spcPct val="100000"/>
              </a:lnSpc>
              <a:spcBef>
                <a:spcPts val="215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45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командной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строке:</a:t>
            </a:r>
            <a:endParaRPr sz="1050">
              <a:latin typeface="Arial"/>
              <a:cs typeface="Arial"/>
            </a:endParaRPr>
          </a:p>
          <a:p>
            <a:pPr marL="711200" marR="81280" indent="-228600">
              <a:lnSpc>
                <a:spcPct val="128099"/>
              </a:lnSpc>
              <a:spcBef>
                <a:spcPts val="85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440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vboxmanage</a:t>
            </a:r>
            <a:r>
              <a:rPr dirty="0" sz="1000" spc="14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modifyvm</a:t>
            </a:r>
            <a:r>
              <a:rPr dirty="0" sz="1000" spc="13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"$(id</a:t>
            </a:r>
            <a:r>
              <a:rPr dirty="0" sz="1000" spc="13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-un)_os-intro"</a:t>
            </a:r>
            <a:r>
              <a:rPr dirty="0" sz="1000" spc="13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-clipboardmode=bidirectional</a:t>
            </a:r>
            <a:r>
              <a:rPr dirty="0" sz="1000" spc="13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--drag-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and-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drop=bidirectional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62305" y="679361"/>
            <a:ext cx="6263640" cy="8956040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algn="r" marR="3601085">
              <a:lnSpc>
                <a:spcPct val="100000"/>
              </a:lnSpc>
              <a:spcBef>
                <a:spcPts val="335"/>
              </a:spcBef>
              <a:tabLst>
                <a:tab pos="227965" algn="l"/>
              </a:tabLst>
            </a:pPr>
            <a:r>
              <a:rPr dirty="0" sz="1100" spc="-50">
                <a:latin typeface="Calibri"/>
                <a:cs typeface="Calibri"/>
              </a:rPr>
              <a:t>o</a:t>
            </a:r>
            <a:r>
              <a:rPr dirty="0" sz="1100">
                <a:latin typeface="Calibri"/>
                <a:cs typeface="Calibri"/>
              </a:rPr>
              <a:t>	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Включите</a:t>
            </a:r>
            <a:r>
              <a:rPr dirty="0" sz="1050" spc="-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поддержку</a:t>
            </a:r>
            <a:r>
              <a:rPr dirty="0" sz="1050" spc="-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UEFI.</a:t>
            </a:r>
            <a:endParaRPr sz="1050">
              <a:latin typeface="Arial"/>
              <a:cs typeface="Arial"/>
            </a:endParaRPr>
          </a:p>
          <a:p>
            <a:pPr algn="r" marR="3547110">
              <a:lnSpc>
                <a:spcPct val="100000"/>
              </a:lnSpc>
              <a:spcBef>
                <a:spcPts val="280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45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командной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строке:</a:t>
            </a:r>
            <a:endParaRPr sz="1050">
              <a:latin typeface="Arial"/>
              <a:cs typeface="Arial"/>
            </a:endParaRPr>
          </a:p>
          <a:p>
            <a:pPr marL="1200150">
              <a:lnSpc>
                <a:spcPct val="100000"/>
              </a:lnSpc>
              <a:spcBef>
                <a:spcPts val="420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315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vboxmanage</a:t>
            </a:r>
            <a:r>
              <a:rPr dirty="0" sz="1000" spc="6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modifyvm</a:t>
            </a:r>
            <a:r>
              <a:rPr dirty="0" sz="1000" spc="5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"$(id</a:t>
            </a:r>
            <a:r>
              <a:rPr dirty="0" sz="1000" spc="5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-un)_os-intro"</a:t>
            </a:r>
            <a:r>
              <a:rPr dirty="0" sz="1000" spc="5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--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firmware=efi</a:t>
            </a:r>
            <a:endParaRPr sz="1000">
              <a:latin typeface="Tahoma"/>
              <a:cs typeface="Tahoma"/>
            </a:endParaRPr>
          </a:p>
          <a:p>
            <a:pPr marL="266700">
              <a:lnSpc>
                <a:spcPct val="100000"/>
              </a:lnSpc>
              <a:spcBef>
                <a:spcPts val="484"/>
              </a:spcBef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3.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После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установки виртуальной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машины</a:t>
            </a:r>
            <a:endParaRPr sz="1050">
              <a:latin typeface="Arial"/>
              <a:cs typeface="Arial"/>
            </a:endParaRPr>
          </a:p>
          <a:p>
            <a:pPr marL="968375" indent="-225425">
              <a:lnSpc>
                <a:spcPct val="100000"/>
              </a:lnSpc>
              <a:spcBef>
                <a:spcPts val="290"/>
              </a:spcBef>
              <a:buAutoNum type="arabicPeriod"/>
              <a:tabLst>
                <a:tab pos="968375" algn="l"/>
              </a:tabLst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Установка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драйверов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для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VirtualBox</a:t>
            </a:r>
            <a:endParaRPr sz="1050">
              <a:latin typeface="Arial"/>
              <a:cs typeface="Arial"/>
            </a:endParaRPr>
          </a:p>
          <a:p>
            <a:pPr marL="1200150">
              <a:lnSpc>
                <a:spcPct val="100000"/>
              </a:lnSpc>
              <a:spcBef>
                <a:spcPts val="285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30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Войдите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ОС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под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заданной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вами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при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установке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учётной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записью.</a:t>
            </a:r>
            <a:endParaRPr sz="1050">
              <a:latin typeface="Arial"/>
              <a:cs typeface="Arial"/>
            </a:endParaRPr>
          </a:p>
          <a:p>
            <a:pPr marL="1200150">
              <a:lnSpc>
                <a:spcPct val="100000"/>
              </a:lnSpc>
              <a:spcBef>
                <a:spcPts val="290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465">
                <a:solidFill>
                  <a:srgbClr val="202528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Нажмите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комбинацию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02528"/>
                </a:solidFill>
                <a:latin typeface="Arial"/>
                <a:cs typeface="Arial"/>
              </a:rPr>
              <a:t>Win+Enter</a:t>
            </a:r>
            <a:r>
              <a:rPr dirty="0" sz="1050" spc="-25" i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для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запуска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терминала.</a:t>
            </a:r>
            <a:endParaRPr sz="1050">
              <a:latin typeface="Arial"/>
              <a:cs typeface="Arial"/>
            </a:endParaRPr>
          </a:p>
          <a:p>
            <a:pPr marL="1200150">
              <a:lnSpc>
                <a:spcPct val="100000"/>
              </a:lnSpc>
              <a:spcBef>
                <a:spcPts val="290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40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Запустите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терминальный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мультиплексор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202528"/>
                </a:solidFill>
                <a:latin typeface="Arial"/>
                <a:cs typeface="Arial"/>
              </a:rPr>
              <a:t>tmux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:</a:t>
            </a:r>
            <a:endParaRPr sz="1050">
              <a:latin typeface="Arial"/>
              <a:cs typeface="Arial"/>
            </a:endParaRPr>
          </a:p>
          <a:p>
            <a:pPr marL="1200150">
              <a:lnSpc>
                <a:spcPct val="100000"/>
              </a:lnSpc>
              <a:spcBef>
                <a:spcPts val="420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50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00" spc="-20">
                <a:solidFill>
                  <a:srgbClr val="202528"/>
                </a:solidFill>
                <a:latin typeface="Tahoma"/>
                <a:cs typeface="Tahoma"/>
              </a:rPr>
              <a:t>tmux</a:t>
            </a:r>
            <a:endParaRPr sz="1000">
              <a:latin typeface="Tahoma"/>
              <a:cs typeface="Tahoma"/>
            </a:endParaRPr>
          </a:p>
          <a:p>
            <a:pPr marL="1200150">
              <a:lnSpc>
                <a:spcPct val="100000"/>
              </a:lnSpc>
              <a:spcBef>
                <a:spcPts val="490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50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Переключитесь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на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роль 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супер-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пользователя:</a:t>
            </a:r>
            <a:endParaRPr sz="1050">
              <a:latin typeface="Arial"/>
              <a:cs typeface="Arial"/>
            </a:endParaRPr>
          </a:p>
          <a:p>
            <a:pPr marL="1200150">
              <a:lnSpc>
                <a:spcPct val="100000"/>
              </a:lnSpc>
              <a:spcBef>
                <a:spcPts val="420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220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sudo </a:t>
            </a:r>
            <a:r>
              <a:rPr dirty="0" sz="1000" spc="-25">
                <a:solidFill>
                  <a:srgbClr val="202528"/>
                </a:solidFill>
                <a:latin typeface="Tahoma"/>
                <a:cs typeface="Tahoma"/>
              </a:rPr>
              <a:t>-</a:t>
            </a:r>
            <a:r>
              <a:rPr dirty="0" sz="1000" spc="-50">
                <a:solidFill>
                  <a:srgbClr val="202528"/>
                </a:solidFill>
                <a:latin typeface="Tahoma"/>
                <a:cs typeface="Tahoma"/>
              </a:rPr>
              <a:t>i</a:t>
            </a:r>
            <a:endParaRPr sz="1000">
              <a:latin typeface="Tahoma"/>
              <a:cs typeface="Tahoma"/>
            </a:endParaRPr>
          </a:p>
          <a:p>
            <a:pPr marL="1200150">
              <a:lnSpc>
                <a:spcPct val="100000"/>
              </a:lnSpc>
              <a:spcBef>
                <a:spcPts val="540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270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Установите</a:t>
            </a:r>
            <a:r>
              <a:rPr dirty="0" sz="1050" spc="9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средства</a:t>
            </a:r>
            <a:r>
              <a:rPr dirty="0" sz="1050" spc="9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разработки:</a:t>
            </a:r>
            <a:r>
              <a:rPr dirty="0" sz="1050" spc="10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10">
                <a:solidFill>
                  <a:srgbClr val="202528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dnf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02528"/>
                </a:solidFill>
                <a:latin typeface="Tahoma"/>
                <a:cs typeface="Tahoma"/>
              </a:rPr>
              <a:t>-y</a:t>
            </a:r>
            <a:r>
              <a:rPr dirty="0" sz="1000" spc="2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group</a:t>
            </a:r>
            <a:r>
              <a:rPr dirty="0" sz="1000" spc="2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install</a:t>
            </a:r>
            <a:r>
              <a:rPr dirty="0" sz="1000" spc="2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developmenttools</a:t>
            </a:r>
            <a:r>
              <a:rPr dirty="0" sz="1000" spc="3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endParaRPr sz="1000">
              <a:latin typeface="Webdings"/>
              <a:cs typeface="Webdings"/>
            </a:endParaRPr>
          </a:p>
          <a:p>
            <a:pPr marL="1428750">
              <a:lnSpc>
                <a:spcPct val="100000"/>
              </a:lnSpc>
              <a:spcBef>
                <a:spcPts val="160"/>
              </a:spcBef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Установите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пакет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20" i="1">
                <a:solidFill>
                  <a:srgbClr val="202528"/>
                </a:solidFill>
                <a:latin typeface="Arial"/>
                <a:cs typeface="Arial"/>
              </a:rPr>
              <a:t>DKMS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:</a:t>
            </a:r>
            <a:endParaRPr sz="1050">
              <a:latin typeface="Arial"/>
              <a:cs typeface="Arial"/>
            </a:endParaRPr>
          </a:p>
          <a:p>
            <a:pPr marL="1200150">
              <a:lnSpc>
                <a:spcPct val="100000"/>
              </a:lnSpc>
              <a:spcBef>
                <a:spcPts val="420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225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dnf</a:t>
            </a:r>
            <a:r>
              <a:rPr dirty="0" sz="1000" spc="-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02528"/>
                </a:solidFill>
                <a:latin typeface="Tahoma"/>
                <a:cs typeface="Tahoma"/>
              </a:rPr>
              <a:t>-y</a:t>
            </a:r>
            <a:r>
              <a:rPr dirty="0" sz="1000" spc="-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install</a:t>
            </a:r>
            <a:r>
              <a:rPr dirty="0" sz="1000" spc="-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Tahoma"/>
                <a:cs typeface="Tahoma"/>
              </a:rPr>
              <a:t>dkms</a:t>
            </a:r>
            <a:endParaRPr sz="1000">
              <a:latin typeface="Tahoma"/>
              <a:cs typeface="Tahoma"/>
            </a:endParaRPr>
          </a:p>
          <a:p>
            <a:pPr marL="1428750" marR="636905" indent="-228600">
              <a:lnSpc>
                <a:spcPct val="105800"/>
              </a:lnSpc>
              <a:spcBef>
                <a:spcPts val="245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30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меню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виртуальной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машины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подключите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образ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диска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дополнений гостевой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ОС.</a:t>
            </a:r>
            <a:endParaRPr sz="1050">
              <a:latin typeface="Arial"/>
              <a:cs typeface="Arial"/>
            </a:endParaRPr>
          </a:p>
          <a:p>
            <a:pPr marL="1200150">
              <a:lnSpc>
                <a:spcPct val="100000"/>
              </a:lnSpc>
              <a:spcBef>
                <a:spcPts val="375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70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Подмонтируйте</a:t>
            </a:r>
            <a:r>
              <a:rPr dirty="0" sz="1050" spc="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диск: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45">
                <a:solidFill>
                  <a:srgbClr val="202528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202528"/>
                </a:solidFill>
                <a:latin typeface="Tahoma"/>
                <a:cs typeface="Tahoma"/>
              </a:rPr>
              <a:t>mount</a:t>
            </a:r>
            <a:r>
              <a:rPr dirty="0" sz="1000" spc="-4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/dev/sr0</a:t>
            </a:r>
            <a:r>
              <a:rPr dirty="0" sz="1000" spc="-4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/media</a:t>
            </a:r>
            <a:r>
              <a:rPr dirty="0" sz="1000" spc="-3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40">
                <a:solidFill>
                  <a:srgbClr val="202528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Установите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драйвера:</a:t>
            </a:r>
            <a:endParaRPr sz="1050">
              <a:latin typeface="Arial"/>
              <a:cs typeface="Arial"/>
            </a:endParaRPr>
          </a:p>
          <a:p>
            <a:pPr marL="1200150">
              <a:lnSpc>
                <a:spcPct val="100000"/>
              </a:lnSpc>
              <a:spcBef>
                <a:spcPts val="455"/>
              </a:spcBef>
              <a:tabLst>
                <a:tab pos="3643629" algn="l"/>
              </a:tabLst>
            </a:pPr>
            <a:r>
              <a:rPr dirty="0" sz="1000" spc="2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229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/media/VBoxLinuxAdditions.run</a:t>
            </a:r>
            <a:r>
              <a:rPr dirty="0" sz="1000" spc="3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>
                <a:solidFill>
                  <a:srgbClr val="202528"/>
                </a:solidFill>
                <a:latin typeface="Times New Roman"/>
                <a:cs typeface="Times New Roman"/>
              </a:rPr>
              <a:t>	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Перегрузите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виртуальную</a:t>
            </a:r>
            <a:r>
              <a:rPr dirty="0" sz="1050" spc="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машину:</a:t>
            </a:r>
            <a:endParaRPr sz="1050">
              <a:latin typeface="Arial"/>
              <a:cs typeface="Arial"/>
            </a:endParaRPr>
          </a:p>
          <a:p>
            <a:pPr marL="1200150">
              <a:lnSpc>
                <a:spcPct val="100000"/>
              </a:lnSpc>
              <a:spcBef>
                <a:spcPts val="509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40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reboot</a:t>
            </a:r>
            <a:endParaRPr sz="1000">
              <a:latin typeface="Tahoma"/>
              <a:cs typeface="Tahoma"/>
            </a:endParaRPr>
          </a:p>
          <a:p>
            <a:pPr marL="968375" indent="-225425">
              <a:lnSpc>
                <a:spcPct val="100000"/>
              </a:lnSpc>
              <a:spcBef>
                <a:spcPts val="475"/>
              </a:spcBef>
              <a:buAutoNum type="arabicPeriod" startAt="2"/>
              <a:tabLst>
                <a:tab pos="968375" algn="l"/>
              </a:tabLst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Подключение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общей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папки</a:t>
            </a:r>
            <a:endParaRPr sz="1050">
              <a:latin typeface="Arial"/>
              <a:cs typeface="Arial"/>
            </a:endParaRPr>
          </a:p>
          <a:p>
            <a:pPr marL="1200150">
              <a:lnSpc>
                <a:spcPct val="100000"/>
              </a:lnSpc>
              <a:spcBef>
                <a:spcPts val="800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265">
                <a:solidFill>
                  <a:srgbClr val="202528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Внутри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виртуальной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машины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добавьте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своего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пользователя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группу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baseline="-12345" sz="1350" spc="-15">
                <a:solidFill>
                  <a:srgbClr val="E73E8C"/>
                </a:solidFill>
                <a:latin typeface="Tahoma"/>
                <a:cs typeface="Tahoma"/>
              </a:rPr>
              <a:t>vboxsf</a:t>
            </a:r>
            <a:endParaRPr baseline="-12345" sz="1350">
              <a:latin typeface="Tahoma"/>
              <a:cs typeface="Tahoma"/>
            </a:endParaRPr>
          </a:p>
          <a:p>
            <a:pPr marL="1428750">
              <a:lnSpc>
                <a:spcPct val="100000"/>
              </a:lnSpc>
              <a:spcBef>
                <a:spcPts val="844"/>
              </a:spcBef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(вместо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baseline="-12345" sz="1350" spc="15">
                <a:solidFill>
                  <a:srgbClr val="E73E8C"/>
                </a:solidFill>
                <a:latin typeface="Tahoma"/>
                <a:cs typeface="Tahoma"/>
              </a:rPr>
              <a:t>username</a:t>
            </a:r>
            <a:r>
              <a:rPr dirty="0" baseline="-12345" sz="1350" spc="30">
                <a:solidFill>
                  <a:srgbClr val="E73E8C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укажите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 ваш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логин):</a:t>
            </a:r>
            <a:endParaRPr sz="1050">
              <a:latin typeface="Arial"/>
              <a:cs typeface="Arial"/>
            </a:endParaRPr>
          </a:p>
          <a:p>
            <a:pPr marL="1200150">
              <a:lnSpc>
                <a:spcPct val="100000"/>
              </a:lnSpc>
              <a:spcBef>
                <a:spcPts val="465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35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gpasswd</a:t>
            </a:r>
            <a:r>
              <a:rPr dirty="0" sz="1000" spc="5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Tahoma"/>
                <a:cs typeface="Tahoma"/>
              </a:rPr>
              <a:t>-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a</a:t>
            </a:r>
            <a:r>
              <a:rPr dirty="0" sz="1000" spc="5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username</a:t>
            </a:r>
            <a:r>
              <a:rPr dirty="0" sz="1000" spc="5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vboxsf</a:t>
            </a:r>
            <a:endParaRPr sz="1000">
              <a:latin typeface="Tahoma"/>
              <a:cs typeface="Tahoma"/>
            </a:endParaRPr>
          </a:p>
          <a:p>
            <a:pPr marL="1200150">
              <a:lnSpc>
                <a:spcPct val="100000"/>
              </a:lnSpc>
              <a:spcBef>
                <a:spcPts val="484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260">
                <a:solidFill>
                  <a:srgbClr val="202528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хостовой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системе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подключите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разделяемую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папку:</a:t>
            </a:r>
            <a:endParaRPr sz="1050">
              <a:latin typeface="Arial"/>
              <a:cs typeface="Arial"/>
            </a:endParaRPr>
          </a:p>
          <a:p>
            <a:pPr marL="1200150">
              <a:lnSpc>
                <a:spcPct val="100000"/>
              </a:lnSpc>
              <a:spcBef>
                <a:spcPts val="425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80">
                <a:solidFill>
                  <a:srgbClr val="202528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vboxmanage</a:t>
            </a:r>
            <a:r>
              <a:rPr dirty="0" sz="1000" spc="10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sharedfolder</a:t>
            </a:r>
            <a:r>
              <a:rPr dirty="0" sz="1000" spc="9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add</a:t>
            </a:r>
            <a:r>
              <a:rPr dirty="0" sz="1000" spc="9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"$(id</a:t>
            </a:r>
            <a:r>
              <a:rPr dirty="0" sz="1000" spc="9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-un)_os-intro"</a:t>
            </a:r>
            <a:r>
              <a:rPr dirty="0" sz="1000" spc="9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--name=work</a:t>
            </a:r>
            <a:r>
              <a:rPr dirty="0" sz="1000" spc="9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hostpath=work</a:t>
            </a:r>
            <a:r>
              <a:rPr dirty="0" sz="1000" spc="10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Tahoma"/>
                <a:cs typeface="Tahoma"/>
              </a:rPr>
              <a:t>-</a:t>
            </a:r>
            <a:endParaRPr sz="1000">
              <a:latin typeface="Tahoma"/>
              <a:cs typeface="Tahoma"/>
            </a:endParaRPr>
          </a:p>
          <a:p>
            <a:pPr marL="1200150">
              <a:lnSpc>
                <a:spcPct val="100000"/>
              </a:lnSpc>
              <a:spcBef>
                <a:spcPts val="480"/>
              </a:spcBef>
            </a:pP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-automount</a:t>
            </a:r>
            <a:r>
              <a:rPr dirty="0" sz="1000" spc="37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100">
                <a:solidFill>
                  <a:srgbClr val="202528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Перегрузите</a:t>
            </a:r>
            <a:r>
              <a:rPr dirty="0" sz="1050" spc="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виртуальную</a:t>
            </a:r>
            <a:r>
              <a:rPr dirty="0" sz="105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машину:</a:t>
            </a:r>
            <a:endParaRPr sz="1050">
              <a:latin typeface="Arial"/>
              <a:cs typeface="Arial"/>
            </a:endParaRPr>
          </a:p>
          <a:p>
            <a:pPr marL="1200150">
              <a:lnSpc>
                <a:spcPct val="100000"/>
              </a:lnSpc>
              <a:spcBef>
                <a:spcPts val="520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295">
                <a:solidFill>
                  <a:srgbClr val="202528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reboot</a:t>
            </a:r>
            <a:endParaRPr sz="1000">
              <a:latin typeface="Tahoma"/>
              <a:cs typeface="Tahoma"/>
            </a:endParaRPr>
          </a:p>
          <a:p>
            <a:pPr marL="1200150">
              <a:lnSpc>
                <a:spcPct val="100000"/>
              </a:lnSpc>
              <a:spcBef>
                <a:spcPts val="1075"/>
              </a:spcBef>
            </a:pPr>
            <a:r>
              <a:rPr dirty="0" sz="1000">
                <a:solidFill>
                  <a:srgbClr val="202528"/>
                </a:solidFill>
                <a:latin typeface="Webdings"/>
                <a:cs typeface="Webdings"/>
              </a:rPr>
              <a:t></a:t>
            </a:r>
            <a:r>
              <a:rPr dirty="0" sz="1000" spc="290">
                <a:solidFill>
                  <a:srgbClr val="202528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Папка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будет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монтироваться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baseline="-12345" sz="1350" spc="-15">
                <a:solidFill>
                  <a:srgbClr val="E73E8C"/>
                </a:solidFill>
                <a:latin typeface="Tahoma"/>
                <a:cs typeface="Tahoma"/>
              </a:rPr>
              <a:t>/media/sf_work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0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dirty="0" sz="1650" b="1">
                <a:solidFill>
                  <a:srgbClr val="282C3D"/>
                </a:solidFill>
                <a:latin typeface="Arial"/>
                <a:cs typeface="Arial"/>
              </a:rPr>
              <a:t>Установка</a:t>
            </a:r>
            <a:r>
              <a:rPr dirty="0" sz="1650" spc="-80" b="1">
                <a:solidFill>
                  <a:srgbClr val="282C3D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282C3D"/>
                </a:solidFill>
                <a:latin typeface="Arial"/>
                <a:cs typeface="Arial"/>
              </a:rPr>
              <a:t>операционной</a:t>
            </a:r>
            <a:r>
              <a:rPr dirty="0" sz="1650" spc="-80" b="1">
                <a:solidFill>
                  <a:srgbClr val="282C3D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282C3D"/>
                </a:solidFill>
                <a:latin typeface="Arial"/>
                <a:cs typeface="Arial"/>
              </a:rPr>
              <a:t>системы</a:t>
            </a:r>
            <a:endParaRPr sz="16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869"/>
              </a:spcBef>
            </a:pPr>
            <a:r>
              <a:rPr dirty="0" sz="1200" b="1">
                <a:solidFill>
                  <a:srgbClr val="202528"/>
                </a:solidFill>
                <a:latin typeface="Arial"/>
                <a:cs typeface="Arial"/>
              </a:rPr>
              <a:t>Запуск</a:t>
            </a:r>
            <a:r>
              <a:rPr dirty="0" sz="1200" spc="-40" b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02528"/>
                </a:solidFill>
                <a:latin typeface="Arial"/>
                <a:cs typeface="Arial"/>
              </a:rPr>
              <a:t>приложения</a:t>
            </a:r>
            <a:r>
              <a:rPr dirty="0" sz="1200" spc="-40" b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02528"/>
                </a:solidFill>
                <a:latin typeface="Arial"/>
                <a:cs typeface="Arial"/>
              </a:rPr>
              <a:t>для</a:t>
            </a:r>
            <a:r>
              <a:rPr dirty="0" sz="1200" spc="-40" b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02528"/>
                </a:solidFill>
                <a:latin typeface="Arial"/>
                <a:cs typeface="Arial"/>
              </a:rPr>
              <a:t>установки</a:t>
            </a:r>
            <a:r>
              <a:rPr dirty="0" sz="1200" spc="-40" b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202528"/>
                </a:solidFill>
                <a:latin typeface="Arial"/>
                <a:cs typeface="Arial"/>
              </a:rPr>
              <a:t>системы</a:t>
            </a:r>
            <a:endParaRPr sz="1200">
              <a:latin typeface="Arial"/>
              <a:cs typeface="Arial"/>
            </a:endParaRPr>
          </a:p>
          <a:p>
            <a:pPr marL="494665" indent="-227965">
              <a:lnSpc>
                <a:spcPct val="100000"/>
              </a:lnSpc>
              <a:spcBef>
                <a:spcPts val="1240"/>
              </a:spcBef>
              <a:buSzPct val="95238"/>
              <a:buChar char="•"/>
              <a:tabLst>
                <a:tab pos="494665" algn="l"/>
              </a:tabLst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Загрузите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LiveCD.</a:t>
            </a:r>
            <a:endParaRPr sz="1050">
              <a:latin typeface="Arial"/>
              <a:cs typeface="Arial"/>
            </a:endParaRPr>
          </a:p>
          <a:p>
            <a:pPr marL="494665" indent="-227965">
              <a:lnSpc>
                <a:spcPct val="100000"/>
              </a:lnSpc>
              <a:spcBef>
                <a:spcPts val="290"/>
              </a:spcBef>
              <a:buSzPct val="95238"/>
              <a:buChar char="•"/>
              <a:tabLst>
                <a:tab pos="4946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Появится</a:t>
            </a:r>
            <a:r>
              <a:rPr dirty="0" sz="1050" spc="-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интерфейс</a:t>
            </a:r>
            <a:r>
              <a:rPr dirty="0" sz="1050" spc="-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начальной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конфигурации.</a:t>
            </a:r>
            <a:endParaRPr sz="1050">
              <a:latin typeface="Arial"/>
              <a:cs typeface="Arial"/>
            </a:endParaRPr>
          </a:p>
          <a:p>
            <a:pPr marL="494665" indent="-227965">
              <a:lnSpc>
                <a:spcPct val="100000"/>
              </a:lnSpc>
              <a:spcBef>
                <a:spcPts val="285"/>
              </a:spcBef>
              <a:buSzPct val="95238"/>
              <a:buChar char="•"/>
              <a:tabLst>
                <a:tab pos="494665" algn="l"/>
              </a:tabLst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Нажмите </a:t>
            </a:r>
            <a:r>
              <a:rPr dirty="0" sz="1050" i="1">
                <a:solidFill>
                  <a:srgbClr val="202528"/>
                </a:solidFill>
                <a:latin typeface="Arial"/>
                <a:cs typeface="Arial"/>
              </a:rPr>
              <a:t>Enter</a:t>
            </a:r>
            <a:r>
              <a:rPr dirty="0" sz="1050" spc="-5" i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для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создания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конфигурации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по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умолчанию.</a:t>
            </a:r>
            <a:endParaRPr sz="1050">
              <a:latin typeface="Arial"/>
              <a:cs typeface="Arial"/>
            </a:endParaRPr>
          </a:p>
          <a:p>
            <a:pPr marL="494665" indent="-227965">
              <a:lnSpc>
                <a:spcPct val="100000"/>
              </a:lnSpc>
              <a:spcBef>
                <a:spcPts val="290"/>
              </a:spcBef>
              <a:buSzPct val="95238"/>
              <a:buChar char="•"/>
              <a:tabLst>
                <a:tab pos="494665" algn="l"/>
              </a:tabLst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Нажмите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02528"/>
                </a:solidFill>
                <a:latin typeface="Arial"/>
                <a:cs typeface="Arial"/>
              </a:rPr>
              <a:t>Enter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,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чтобы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выбрать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качестве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модификатора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клавишу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02528"/>
                </a:solidFill>
                <a:latin typeface="Arial"/>
                <a:cs typeface="Arial"/>
              </a:rPr>
              <a:t>Win</a:t>
            </a:r>
            <a:r>
              <a:rPr dirty="0" sz="1050" spc="-20" i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(она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же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клавиша</a:t>
            </a:r>
            <a:endParaRPr sz="1050">
              <a:latin typeface="Arial"/>
              <a:cs typeface="Arial"/>
            </a:endParaRPr>
          </a:p>
          <a:p>
            <a:pPr marL="495300">
              <a:lnSpc>
                <a:spcPct val="100000"/>
              </a:lnSpc>
              <a:spcBef>
                <a:spcPts val="75"/>
              </a:spcBef>
            </a:pPr>
            <a:r>
              <a:rPr dirty="0" sz="1050" spc="-10" i="1">
                <a:solidFill>
                  <a:srgbClr val="202528"/>
                </a:solidFill>
                <a:latin typeface="Arial"/>
                <a:cs typeface="Arial"/>
              </a:rPr>
              <a:t>Super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).</a:t>
            </a:r>
            <a:endParaRPr sz="1050">
              <a:latin typeface="Arial"/>
              <a:cs typeface="Arial"/>
            </a:endParaRPr>
          </a:p>
          <a:p>
            <a:pPr marL="494665" indent="-227965">
              <a:lnSpc>
                <a:spcPct val="100000"/>
              </a:lnSpc>
              <a:spcBef>
                <a:spcPts val="795"/>
              </a:spcBef>
              <a:buSzPct val="95238"/>
              <a:buChar char="•"/>
              <a:tabLst>
                <a:tab pos="4946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файле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конфигурации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эта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клавиша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будет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обозначена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как </a:t>
            </a:r>
            <a:r>
              <a:rPr dirty="0" baseline="-12345" sz="1350" spc="-15">
                <a:solidFill>
                  <a:srgbClr val="E73E8C"/>
                </a:solidFill>
                <a:latin typeface="Tahoma"/>
                <a:cs typeface="Tahoma"/>
              </a:rPr>
              <a:t>$Mod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 marL="494665" indent="-227965">
              <a:lnSpc>
                <a:spcPct val="100000"/>
              </a:lnSpc>
              <a:spcBef>
                <a:spcPts val="335"/>
              </a:spcBef>
              <a:buSzPct val="95238"/>
              <a:buChar char="•"/>
              <a:tabLst>
                <a:tab pos="494665" algn="l"/>
              </a:tabLst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Нажмите</a:t>
            </a:r>
            <a:r>
              <a:rPr dirty="0" sz="1050" spc="-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комбинацию</a:t>
            </a:r>
            <a:r>
              <a:rPr dirty="0" sz="1050" spc="-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02528"/>
                </a:solidFill>
                <a:latin typeface="Arial"/>
                <a:cs typeface="Arial"/>
              </a:rPr>
              <a:t>Win+Enter</a:t>
            </a:r>
            <a:r>
              <a:rPr dirty="0" sz="1050" spc="-40" i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для</a:t>
            </a:r>
            <a:r>
              <a:rPr dirty="0" sz="1050" spc="-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запуска</a:t>
            </a:r>
            <a:r>
              <a:rPr dirty="0" sz="1050" spc="-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терминала.</a:t>
            </a:r>
            <a:endParaRPr sz="1050">
              <a:latin typeface="Arial"/>
              <a:cs typeface="Arial"/>
            </a:endParaRPr>
          </a:p>
          <a:p>
            <a:pPr marL="494665" indent="-227965">
              <a:lnSpc>
                <a:spcPct val="100000"/>
              </a:lnSpc>
              <a:spcBef>
                <a:spcPts val="800"/>
              </a:spcBef>
              <a:buSzPct val="95238"/>
              <a:buChar char="•"/>
              <a:tabLst>
                <a:tab pos="4946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терминале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запустите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baseline="-12345" sz="1350" spc="-15">
                <a:solidFill>
                  <a:srgbClr val="E73E8C"/>
                </a:solidFill>
                <a:latin typeface="Tahoma"/>
                <a:cs typeface="Tahoma"/>
              </a:rPr>
              <a:t>liveinst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 marL="494665" indent="-227965">
              <a:lnSpc>
                <a:spcPct val="100000"/>
              </a:lnSpc>
              <a:spcBef>
                <a:spcPts val="335"/>
              </a:spcBef>
              <a:buSzPct val="95238"/>
              <a:buChar char="•"/>
              <a:tabLst>
                <a:tab pos="4946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Для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перехода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раскладке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окон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табами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нажмите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202528"/>
                </a:solidFill>
                <a:latin typeface="Arial"/>
                <a:cs typeface="Arial"/>
              </a:rPr>
              <a:t>Win+w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75005" y="706831"/>
            <a:ext cx="6239510" cy="2458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202528"/>
                </a:solidFill>
                <a:latin typeface="Arial"/>
                <a:cs typeface="Arial"/>
              </a:rPr>
              <a:t>Установка</a:t>
            </a:r>
            <a:r>
              <a:rPr dirty="0" sz="1200" spc="-15" b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02528"/>
                </a:solidFill>
                <a:latin typeface="Arial"/>
                <a:cs typeface="Arial"/>
              </a:rPr>
              <a:t>системы</a:t>
            </a:r>
            <a:r>
              <a:rPr dirty="0" sz="1200" spc="-15" b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02528"/>
                </a:solidFill>
                <a:latin typeface="Arial"/>
                <a:cs typeface="Arial"/>
              </a:rPr>
              <a:t>на</a:t>
            </a:r>
            <a:r>
              <a:rPr dirty="0" sz="1200" spc="-10" b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202528"/>
                </a:solidFill>
                <a:latin typeface="Arial"/>
                <a:cs typeface="Arial"/>
              </a:rPr>
              <a:t>диск</a:t>
            </a:r>
            <a:endParaRPr sz="1200">
              <a:latin typeface="Arial"/>
              <a:cs typeface="Arial"/>
            </a:endParaRPr>
          </a:p>
          <a:p>
            <a:pPr marL="481965" marR="81280" indent="-228600">
              <a:lnSpc>
                <a:spcPct val="105800"/>
              </a:lnSpc>
              <a:spcBef>
                <a:spcPts val="1200"/>
              </a:spcBef>
              <a:buSzPct val="95238"/>
              <a:buChar char="•"/>
              <a:tabLst>
                <a:tab pos="4819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Выберите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язык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интерфейса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перейдите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настройкам установки операционной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системы.</a:t>
            </a:r>
            <a:r>
              <a:rPr dirty="0" sz="1050" spc="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При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необходимости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скорректируйте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часовой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пояс,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раскладку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клавиатуры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(рекомендуется</a:t>
            </a:r>
            <a:r>
              <a:rPr dirty="0" sz="1050" spc="500">
                <a:solidFill>
                  <a:srgbClr val="202528"/>
                </a:solidFill>
                <a:latin typeface="Arial"/>
                <a:cs typeface="Arial"/>
              </a:rPr>
              <a:t> 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качестве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языка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по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умолчанию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указать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английский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язык).</a:t>
            </a:r>
            <a:endParaRPr sz="1050">
              <a:latin typeface="Arial"/>
              <a:cs typeface="Arial"/>
            </a:endParaRPr>
          </a:p>
          <a:p>
            <a:pPr marL="481965" indent="-227965">
              <a:lnSpc>
                <a:spcPct val="100000"/>
              </a:lnSpc>
              <a:spcBef>
                <a:spcPts val="285"/>
              </a:spcBef>
              <a:buSzPct val="95238"/>
              <a:buChar char="•"/>
              <a:tabLst>
                <a:tab pos="4819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Место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установки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ОС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оставьте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без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изменения.</a:t>
            </a:r>
            <a:endParaRPr sz="1050">
              <a:latin typeface="Arial"/>
              <a:cs typeface="Arial"/>
            </a:endParaRPr>
          </a:p>
          <a:p>
            <a:pPr marL="481965" indent="-227965">
              <a:lnSpc>
                <a:spcPct val="100000"/>
              </a:lnSpc>
              <a:spcBef>
                <a:spcPts val="800"/>
              </a:spcBef>
              <a:buSzPct val="95238"/>
              <a:buChar char="•"/>
              <a:tabLst>
                <a:tab pos="4819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Установите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имя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пароль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для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пользователя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baseline="-12345" sz="1350" spc="-15">
                <a:solidFill>
                  <a:srgbClr val="E73E8C"/>
                </a:solidFill>
                <a:latin typeface="Tahoma"/>
                <a:cs typeface="Tahoma"/>
              </a:rPr>
              <a:t>root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 marL="481965" indent="-227965">
              <a:lnSpc>
                <a:spcPct val="100000"/>
              </a:lnSpc>
              <a:spcBef>
                <a:spcPts val="335"/>
              </a:spcBef>
              <a:buSzPct val="95238"/>
              <a:buChar char="•"/>
              <a:tabLst>
                <a:tab pos="4819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Установите</a:t>
            </a:r>
            <a:r>
              <a:rPr dirty="0" sz="1050" spc="-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имя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пароль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для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Вашего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пользователя.</a:t>
            </a:r>
            <a:endParaRPr sz="1050">
              <a:latin typeface="Arial"/>
              <a:cs typeface="Arial"/>
            </a:endParaRPr>
          </a:p>
          <a:p>
            <a:pPr marL="481965" indent="-227965">
              <a:lnSpc>
                <a:spcPct val="100000"/>
              </a:lnSpc>
              <a:spcBef>
                <a:spcPts val="290"/>
              </a:spcBef>
              <a:buSzPct val="95238"/>
              <a:buChar char="•"/>
              <a:tabLst>
                <a:tab pos="4819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Задайте</a:t>
            </a:r>
            <a:r>
              <a:rPr dirty="0" sz="1050" spc="-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сетевое</a:t>
            </a:r>
            <a:r>
              <a:rPr dirty="0" sz="1050" spc="-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имя</a:t>
            </a:r>
            <a:r>
              <a:rPr dirty="0" sz="1050" spc="-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Вашего</a:t>
            </a:r>
            <a:r>
              <a:rPr dirty="0" sz="1050" spc="-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компьютера.</a:t>
            </a:r>
            <a:endParaRPr sz="1050">
              <a:latin typeface="Arial"/>
              <a:cs typeface="Arial"/>
            </a:endParaRPr>
          </a:p>
          <a:p>
            <a:pPr marL="482600" marR="815975" indent="-228600">
              <a:lnSpc>
                <a:spcPct val="105800"/>
              </a:lnSpc>
              <a:spcBef>
                <a:spcPts val="215"/>
              </a:spcBef>
              <a:buSzPct val="95238"/>
              <a:buChar char="•"/>
              <a:tabLst>
                <a:tab pos="482600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После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завершения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установки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операционной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системы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корректно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перезапустите виртуальную</a:t>
            </a:r>
            <a:r>
              <a:rPr dirty="0" sz="1050" spc="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машину.</a:t>
            </a:r>
            <a:endParaRPr sz="1050">
              <a:latin typeface="Arial"/>
              <a:cs typeface="Arial"/>
            </a:endParaRPr>
          </a:p>
          <a:p>
            <a:pPr marL="482600" marR="704215" indent="-228600">
              <a:lnSpc>
                <a:spcPct val="105800"/>
              </a:lnSpc>
              <a:spcBef>
                <a:spcPts val="215"/>
              </a:spcBef>
              <a:buSzPct val="95238"/>
              <a:buChar char="•"/>
              <a:tabLst>
                <a:tab pos="482600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VirtualBox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оптический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диск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должен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отключиться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автоматически,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но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если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это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не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произошло,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то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необходимо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отключить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носитель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информации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образом.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87705" y="3540586"/>
            <a:ext cx="179705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b="1">
                <a:solidFill>
                  <a:srgbClr val="282C3D"/>
                </a:solidFill>
                <a:latin typeface="Arial"/>
                <a:cs typeface="Arial"/>
              </a:rPr>
              <a:t>После</a:t>
            </a:r>
            <a:r>
              <a:rPr dirty="0" sz="1650" spc="-35" b="1">
                <a:solidFill>
                  <a:srgbClr val="282C3D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282C3D"/>
                </a:solidFill>
                <a:latin typeface="Arial"/>
                <a:cs typeface="Arial"/>
              </a:rPr>
              <a:t>установки</a:t>
            </a:r>
            <a:endParaRPr sz="16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75005" y="3821467"/>
            <a:ext cx="4693920" cy="206692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481965" indent="-227965">
              <a:lnSpc>
                <a:spcPct val="100000"/>
              </a:lnSpc>
              <a:spcBef>
                <a:spcPts val="385"/>
              </a:spcBef>
              <a:buSzPct val="95238"/>
              <a:buChar char="•"/>
              <a:tabLst>
                <a:tab pos="4819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Войдите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ОС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под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заданной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вами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при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установке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учётной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записью.</a:t>
            </a:r>
            <a:endParaRPr sz="1050">
              <a:latin typeface="Arial"/>
              <a:cs typeface="Arial"/>
            </a:endParaRPr>
          </a:p>
          <a:p>
            <a:pPr marL="481965" indent="-227965">
              <a:lnSpc>
                <a:spcPct val="100000"/>
              </a:lnSpc>
              <a:spcBef>
                <a:spcPts val="290"/>
              </a:spcBef>
              <a:buSzPct val="95238"/>
              <a:buChar char="•"/>
              <a:tabLst>
                <a:tab pos="481965" algn="l"/>
              </a:tabLst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Нажмите</a:t>
            </a:r>
            <a:r>
              <a:rPr dirty="0" sz="1050" spc="-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комбинацию</a:t>
            </a:r>
            <a:r>
              <a:rPr dirty="0" sz="1050" spc="-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02528"/>
                </a:solidFill>
                <a:latin typeface="Arial"/>
                <a:cs typeface="Arial"/>
              </a:rPr>
              <a:t>Win+Enter</a:t>
            </a:r>
            <a:r>
              <a:rPr dirty="0" sz="1050" spc="-40" i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для</a:t>
            </a:r>
            <a:r>
              <a:rPr dirty="0" sz="1050" spc="-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запуска</a:t>
            </a:r>
            <a:r>
              <a:rPr dirty="0" sz="1050" spc="-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терминала.</a:t>
            </a:r>
            <a:endParaRPr sz="1050">
              <a:latin typeface="Arial"/>
              <a:cs typeface="Arial"/>
            </a:endParaRPr>
          </a:p>
          <a:p>
            <a:pPr marL="481965" indent="-227965">
              <a:lnSpc>
                <a:spcPct val="100000"/>
              </a:lnSpc>
              <a:spcBef>
                <a:spcPts val="290"/>
              </a:spcBef>
              <a:buSzPct val="95238"/>
              <a:buChar char="•"/>
              <a:tabLst>
                <a:tab pos="481965" algn="l"/>
              </a:tabLst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Переключитесь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 на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роль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супер-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пользователя:</a:t>
            </a:r>
            <a:endParaRPr sz="1050">
              <a:latin typeface="Arial"/>
              <a:cs typeface="Arial"/>
            </a:endParaRPr>
          </a:p>
          <a:p>
            <a:pPr marL="481965" indent="-227965">
              <a:lnSpc>
                <a:spcPct val="100000"/>
              </a:lnSpc>
              <a:spcBef>
                <a:spcPts val="615"/>
              </a:spcBef>
              <a:buFont typeface="Arial"/>
              <a:buChar char="•"/>
              <a:tabLst>
                <a:tab pos="481965" algn="l"/>
              </a:tabLst>
            </a:pPr>
            <a:r>
              <a:rPr dirty="0" baseline="-36111" sz="1500">
                <a:solidFill>
                  <a:srgbClr val="202528"/>
                </a:solidFill>
                <a:latin typeface="Tahoma"/>
                <a:cs typeface="Tahoma"/>
              </a:rPr>
              <a:t>sudo</a:t>
            </a:r>
            <a:r>
              <a:rPr dirty="0" baseline="-36111" sz="1500" spc="6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baseline="-36111" sz="1500" spc="-37">
                <a:solidFill>
                  <a:srgbClr val="202528"/>
                </a:solidFill>
                <a:latin typeface="Tahoma"/>
                <a:cs typeface="Tahoma"/>
              </a:rPr>
              <a:t>-</a:t>
            </a:r>
            <a:r>
              <a:rPr dirty="0" baseline="-36111" sz="1500">
                <a:solidFill>
                  <a:srgbClr val="202528"/>
                </a:solidFill>
                <a:latin typeface="Tahoma"/>
                <a:cs typeface="Tahoma"/>
              </a:rPr>
              <a:t>i</a:t>
            </a:r>
            <a:r>
              <a:rPr dirty="0" baseline="-36111" sz="1500" spc="6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202528"/>
                </a:solidFill>
                <a:latin typeface="Arial"/>
                <a:cs typeface="Arial"/>
              </a:rPr>
              <a:t>Обновления</a:t>
            </a:r>
            <a:endParaRPr sz="1200">
              <a:latin typeface="Arial"/>
              <a:cs typeface="Arial"/>
            </a:endParaRPr>
          </a:p>
          <a:p>
            <a:pPr marL="481965" indent="-227965">
              <a:lnSpc>
                <a:spcPct val="100000"/>
              </a:lnSpc>
              <a:spcBef>
                <a:spcPts val="900"/>
              </a:spcBef>
              <a:buSzPct val="95238"/>
              <a:buChar char="•"/>
              <a:tabLst>
                <a:tab pos="4819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Установите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средства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разработки:</a:t>
            </a:r>
            <a:endParaRPr sz="1050">
              <a:latin typeface="Arial"/>
              <a:cs typeface="Arial"/>
            </a:endParaRPr>
          </a:p>
          <a:p>
            <a:pPr marL="481965" indent="-227965">
              <a:lnSpc>
                <a:spcPct val="100000"/>
              </a:lnSpc>
              <a:spcBef>
                <a:spcPts val="425"/>
              </a:spcBef>
              <a:buFont typeface="Arial"/>
              <a:buChar char="•"/>
              <a:tabLst>
                <a:tab pos="481965" algn="l"/>
              </a:tabLst>
            </a:pP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sudo</a:t>
            </a:r>
            <a:r>
              <a:rPr dirty="0" sz="1000" spc="16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dnf</a:t>
            </a:r>
            <a:r>
              <a:rPr dirty="0" sz="1000" spc="16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02528"/>
                </a:solidFill>
                <a:latin typeface="Tahoma"/>
                <a:cs typeface="Tahoma"/>
              </a:rPr>
              <a:t>-y</a:t>
            </a:r>
            <a:r>
              <a:rPr dirty="0" sz="1000" spc="16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group</a:t>
            </a:r>
            <a:r>
              <a:rPr dirty="0" sz="1000" spc="16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install</a:t>
            </a:r>
            <a:r>
              <a:rPr dirty="0" sz="1000" spc="16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development-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tools</a:t>
            </a:r>
            <a:endParaRPr sz="1000">
              <a:latin typeface="Tahoma"/>
              <a:cs typeface="Tahoma"/>
            </a:endParaRPr>
          </a:p>
          <a:p>
            <a:pPr marL="481965" indent="-227965">
              <a:lnSpc>
                <a:spcPct val="100000"/>
              </a:lnSpc>
              <a:spcBef>
                <a:spcPts val="320"/>
              </a:spcBef>
              <a:buSzPct val="95238"/>
              <a:buChar char="•"/>
              <a:tabLst>
                <a:tab pos="4819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Обновить</a:t>
            </a:r>
            <a:r>
              <a:rPr dirty="0" sz="1050" spc="-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все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пакеты</a:t>
            </a:r>
            <a:endParaRPr sz="1050">
              <a:latin typeface="Arial"/>
              <a:cs typeface="Arial"/>
            </a:endParaRPr>
          </a:p>
          <a:p>
            <a:pPr marL="481965" indent="-227965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481965" algn="l"/>
              </a:tabLst>
            </a:pP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sudo</a:t>
            </a:r>
            <a:r>
              <a:rPr dirty="0" sz="1000" spc="5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dnf</a:t>
            </a:r>
            <a:r>
              <a:rPr dirty="0" sz="1000" spc="5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02528"/>
                </a:solidFill>
                <a:latin typeface="Tahoma"/>
                <a:cs typeface="Tahoma"/>
              </a:rPr>
              <a:t>-y</a:t>
            </a:r>
            <a:r>
              <a:rPr dirty="0" sz="1000" spc="5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update</a:t>
            </a:r>
            <a:endParaRPr sz="10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944"/>
              </a:spcBef>
            </a:pPr>
            <a:r>
              <a:rPr dirty="0" sz="1200" b="1">
                <a:solidFill>
                  <a:srgbClr val="202528"/>
                </a:solidFill>
                <a:latin typeface="Arial"/>
                <a:cs typeface="Arial"/>
              </a:rPr>
              <a:t>Повышение</a:t>
            </a:r>
            <a:r>
              <a:rPr dirty="0" sz="1200" spc="-60" b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02528"/>
                </a:solidFill>
                <a:latin typeface="Arial"/>
                <a:cs typeface="Arial"/>
              </a:rPr>
              <a:t>комфорта</a:t>
            </a:r>
            <a:r>
              <a:rPr dirty="0" sz="1200" spc="-60" b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202528"/>
                </a:solidFill>
                <a:latin typeface="Arial"/>
                <a:cs typeface="Arial"/>
              </a:rPr>
              <a:t>работы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54430" y="6437973"/>
            <a:ext cx="704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54430" y="6666382"/>
            <a:ext cx="70485" cy="109283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54430" y="7846377"/>
            <a:ext cx="704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29030" y="5833478"/>
            <a:ext cx="5071110" cy="219583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488315" indent="-450215">
              <a:lnSpc>
                <a:spcPct val="100000"/>
              </a:lnSpc>
              <a:spcBef>
                <a:spcPts val="475"/>
              </a:spcBef>
              <a:buSzPct val="95238"/>
              <a:buChar char="•"/>
              <a:tabLst>
                <a:tab pos="488315" algn="l"/>
              </a:tabLst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Программы</a:t>
            </a:r>
            <a:r>
              <a:rPr dirty="0" sz="1050" spc="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для</a:t>
            </a:r>
            <a:r>
              <a:rPr dirty="0" sz="1050" spc="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удобства</a:t>
            </a:r>
            <a:r>
              <a:rPr dirty="0" sz="1050" spc="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работы</a:t>
            </a:r>
            <a:r>
              <a:rPr dirty="0" sz="1050" spc="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консоли:</a:t>
            </a:r>
            <a:r>
              <a:rPr dirty="0" sz="1050" spc="6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r>
              <a:rPr dirty="0" sz="1000" spc="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sudo</a:t>
            </a:r>
            <a:r>
              <a:rPr dirty="0" sz="1000" spc="-1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dnf</a:t>
            </a:r>
            <a:r>
              <a:rPr dirty="0" sz="1000" spc="-1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02528"/>
                </a:solidFill>
                <a:latin typeface="Tahoma"/>
                <a:cs typeface="Tahoma"/>
              </a:rPr>
              <a:t>-y</a:t>
            </a:r>
            <a:r>
              <a:rPr dirty="0" sz="1000" spc="-1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install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tmux</a:t>
            </a:r>
            <a:r>
              <a:rPr dirty="0" sz="1000" spc="-1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02528"/>
                </a:solidFill>
                <a:latin typeface="Tahoma"/>
                <a:cs typeface="Tahoma"/>
              </a:rPr>
              <a:t>mc</a:t>
            </a:r>
            <a:endParaRPr sz="1000">
              <a:latin typeface="Tahoma"/>
              <a:cs typeface="Tahoma"/>
            </a:endParaRPr>
          </a:p>
          <a:p>
            <a:pPr marL="488315" indent="-450215">
              <a:lnSpc>
                <a:spcPct val="100000"/>
              </a:lnSpc>
              <a:spcBef>
                <a:spcPts val="375"/>
              </a:spcBef>
              <a:buSzPct val="95238"/>
              <a:buChar char="•"/>
              <a:tabLst>
                <a:tab pos="48831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Другой</a:t>
            </a:r>
            <a:r>
              <a:rPr dirty="0" sz="1050" spc="-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вариант</a:t>
            </a:r>
            <a:r>
              <a:rPr dirty="0" sz="1050" spc="-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консоли:</a:t>
            </a:r>
            <a:endParaRPr sz="1050">
              <a:latin typeface="Arial"/>
              <a:cs typeface="Arial"/>
            </a:endParaRPr>
          </a:p>
          <a:p>
            <a:pPr marL="488950">
              <a:lnSpc>
                <a:spcPct val="100000"/>
              </a:lnSpc>
              <a:spcBef>
                <a:spcPts val="640"/>
              </a:spcBef>
            </a:pPr>
            <a:r>
              <a:rPr dirty="0" baseline="-36111" sz="1500">
                <a:solidFill>
                  <a:srgbClr val="202528"/>
                </a:solidFill>
                <a:latin typeface="Tahoma"/>
                <a:cs typeface="Tahoma"/>
              </a:rPr>
              <a:t>sudo</a:t>
            </a:r>
            <a:r>
              <a:rPr dirty="0" baseline="-36111" sz="1500" spc="3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baseline="-36111" sz="1500">
                <a:solidFill>
                  <a:srgbClr val="202528"/>
                </a:solidFill>
                <a:latin typeface="Tahoma"/>
                <a:cs typeface="Tahoma"/>
              </a:rPr>
              <a:t>dnf</a:t>
            </a:r>
            <a:r>
              <a:rPr dirty="0" baseline="-36111" sz="1500" spc="37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baseline="-36111" sz="1500" spc="-44">
                <a:solidFill>
                  <a:srgbClr val="202528"/>
                </a:solidFill>
                <a:latin typeface="Tahoma"/>
                <a:cs typeface="Tahoma"/>
              </a:rPr>
              <a:t>-y</a:t>
            </a:r>
            <a:r>
              <a:rPr dirty="0" baseline="-36111" sz="1500" spc="3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baseline="-36111" sz="1500">
                <a:solidFill>
                  <a:srgbClr val="202528"/>
                </a:solidFill>
                <a:latin typeface="Tahoma"/>
                <a:cs typeface="Tahoma"/>
              </a:rPr>
              <a:t>install</a:t>
            </a:r>
            <a:r>
              <a:rPr dirty="0" baseline="-36111" sz="1500" spc="37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baseline="-36111" sz="1500">
                <a:solidFill>
                  <a:srgbClr val="202528"/>
                </a:solidFill>
                <a:latin typeface="Tahoma"/>
                <a:cs typeface="Tahoma"/>
              </a:rPr>
              <a:t>kitty</a:t>
            </a:r>
            <a:r>
              <a:rPr dirty="0" baseline="-36111" sz="1500" spc="52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200" b="1">
                <a:solidFill>
                  <a:srgbClr val="202528"/>
                </a:solidFill>
                <a:latin typeface="Arial"/>
                <a:cs typeface="Arial"/>
              </a:rPr>
              <a:t>Автоматическое</a:t>
            </a:r>
            <a:r>
              <a:rPr dirty="0" sz="1200" spc="100" b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202528"/>
                </a:solidFill>
                <a:latin typeface="Arial"/>
                <a:cs typeface="Arial"/>
              </a:rPr>
              <a:t>обновление</a:t>
            </a:r>
            <a:endParaRPr sz="1200">
              <a:latin typeface="Arial"/>
              <a:cs typeface="Arial"/>
            </a:endParaRPr>
          </a:p>
          <a:p>
            <a:pPr marL="488950" marR="161290">
              <a:lnSpc>
                <a:spcPct val="122900"/>
              </a:lnSpc>
              <a:spcBef>
                <a:spcPts val="1215"/>
              </a:spcBef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При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необходимости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можно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использовать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автоматическое обновление. Установка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программного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обеспечения:</a:t>
            </a:r>
            <a:endParaRPr sz="1050">
              <a:latin typeface="Arial"/>
              <a:cs typeface="Arial"/>
            </a:endParaRPr>
          </a:p>
          <a:p>
            <a:pPr marL="488950">
              <a:lnSpc>
                <a:spcPct val="100000"/>
              </a:lnSpc>
              <a:spcBef>
                <a:spcPts val="425"/>
              </a:spcBef>
            </a:pP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sudo</a:t>
            </a:r>
            <a:r>
              <a:rPr dirty="0" sz="1000" spc="9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dnf</a:t>
            </a:r>
            <a:r>
              <a:rPr dirty="0" sz="1000" spc="9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02528"/>
                </a:solidFill>
                <a:latin typeface="Tahoma"/>
                <a:cs typeface="Tahoma"/>
              </a:rPr>
              <a:t>-y</a:t>
            </a:r>
            <a:r>
              <a:rPr dirty="0" sz="1000" spc="9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install</a:t>
            </a:r>
            <a:r>
              <a:rPr dirty="0" sz="1000" spc="9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dnf-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automatic</a:t>
            </a:r>
            <a:endParaRPr sz="1000">
              <a:latin typeface="Tahoma"/>
              <a:cs typeface="Tahoma"/>
            </a:endParaRPr>
          </a:p>
          <a:p>
            <a:pPr marL="488950" marR="336550">
              <a:lnSpc>
                <a:spcPct val="126499"/>
              </a:lnSpc>
              <a:spcBef>
                <a:spcPts val="495"/>
              </a:spcBef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Задаёте</a:t>
            </a:r>
            <a:r>
              <a:rPr dirty="0" sz="1050" spc="-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необходимую</a:t>
            </a:r>
            <a:r>
              <a:rPr dirty="0" sz="1050" spc="-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конфигурацию</a:t>
            </a:r>
            <a:r>
              <a:rPr dirty="0" sz="1050" spc="-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-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файле</a:t>
            </a:r>
            <a:r>
              <a:rPr dirty="0" sz="1050" spc="-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baseline="-12345" sz="1350" spc="-15">
                <a:solidFill>
                  <a:srgbClr val="E73E8C"/>
                </a:solidFill>
                <a:latin typeface="Tahoma"/>
                <a:cs typeface="Tahoma"/>
              </a:rPr>
              <a:t>/etc/dnf/automatic.conf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.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Запустите</a:t>
            </a:r>
            <a:r>
              <a:rPr dirty="0" sz="1050" spc="-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таймер:</a:t>
            </a:r>
            <a:endParaRPr sz="1050">
              <a:latin typeface="Arial"/>
              <a:cs typeface="Arial"/>
            </a:endParaRPr>
          </a:p>
          <a:p>
            <a:pPr marL="488950">
              <a:lnSpc>
                <a:spcPct val="100000"/>
              </a:lnSpc>
              <a:spcBef>
                <a:spcPts val="680"/>
              </a:spcBef>
            </a:pPr>
            <a:r>
              <a:rPr dirty="0" sz="1000" spc="10">
                <a:solidFill>
                  <a:srgbClr val="202528"/>
                </a:solidFill>
                <a:latin typeface="Tahoma"/>
                <a:cs typeface="Tahoma"/>
              </a:rPr>
              <a:t>sudo</a:t>
            </a:r>
            <a:r>
              <a:rPr dirty="0" sz="1000" spc="5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Tahoma"/>
                <a:cs typeface="Tahoma"/>
              </a:rPr>
              <a:t>systemctl</a:t>
            </a:r>
            <a:r>
              <a:rPr dirty="0" sz="1000" spc="6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Tahoma"/>
                <a:cs typeface="Tahoma"/>
              </a:rPr>
              <a:t>enable</a:t>
            </a:r>
            <a:r>
              <a:rPr dirty="0" sz="1000" spc="6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--</a:t>
            </a:r>
            <a:r>
              <a:rPr dirty="0" sz="1000" spc="10">
                <a:solidFill>
                  <a:srgbClr val="202528"/>
                </a:solidFill>
                <a:latin typeface="Tahoma"/>
                <a:cs typeface="Tahoma"/>
              </a:rPr>
              <a:t>now</a:t>
            </a:r>
            <a:r>
              <a:rPr dirty="0" sz="1000" spc="6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Tahoma"/>
                <a:cs typeface="Tahoma"/>
              </a:rPr>
              <a:t>dnf-automatic.timer</a:t>
            </a:r>
            <a:r>
              <a:rPr dirty="0" sz="1000" spc="8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200" b="1">
                <a:solidFill>
                  <a:srgbClr val="202528"/>
                </a:solidFill>
                <a:latin typeface="Arial"/>
                <a:cs typeface="Arial"/>
              </a:rPr>
              <a:t>Отключение</a:t>
            </a:r>
            <a:r>
              <a:rPr dirty="0" sz="1200" spc="150" b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202528"/>
                </a:solidFill>
                <a:latin typeface="Arial"/>
                <a:cs typeface="Arial"/>
              </a:rPr>
              <a:t>SELinux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54430" y="8164004"/>
            <a:ext cx="704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605280" y="8148362"/>
            <a:ext cx="4866640" cy="5607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100"/>
              </a:spcBef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данном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курсе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мы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не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будем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рассматривать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работу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системой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безопасности SELinux.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Поэтому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отключим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его.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154430" y="8529942"/>
            <a:ext cx="704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116330" y="8784844"/>
            <a:ext cx="3357245" cy="810895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501015" indent="-450215">
              <a:lnSpc>
                <a:spcPct val="100000"/>
              </a:lnSpc>
              <a:spcBef>
                <a:spcPts val="515"/>
              </a:spcBef>
              <a:buSzPct val="95238"/>
              <a:buChar char="•"/>
              <a:tabLst>
                <a:tab pos="50101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файле</a:t>
            </a:r>
            <a:r>
              <a:rPr dirty="0" sz="1050" spc="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baseline="-12345" sz="1350">
                <a:solidFill>
                  <a:srgbClr val="E73E8C"/>
                </a:solidFill>
                <a:latin typeface="Tahoma"/>
                <a:cs typeface="Tahoma"/>
              </a:rPr>
              <a:t>/etc/selinux/config</a:t>
            </a:r>
            <a:r>
              <a:rPr dirty="0" baseline="-12345" sz="1350" spc="112">
                <a:solidFill>
                  <a:srgbClr val="E73E8C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замените</a:t>
            </a:r>
            <a:r>
              <a:rPr dirty="0" sz="1050" spc="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значение</a:t>
            </a:r>
            <a:endParaRPr sz="1050">
              <a:latin typeface="Arial"/>
              <a:cs typeface="Arial"/>
            </a:endParaRPr>
          </a:p>
          <a:p>
            <a:pPr marL="501015" indent="-450215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501015" algn="l"/>
              </a:tabLst>
            </a:pP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SELINUX=enforcing</a:t>
            </a:r>
            <a:r>
              <a:rPr dirty="0" sz="1000" spc="30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на</a:t>
            </a:r>
            <a:r>
              <a:rPr dirty="0" sz="1050" spc="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значение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000">
              <a:latin typeface="Arial"/>
              <a:cs typeface="Arial"/>
            </a:endParaRPr>
          </a:p>
          <a:p>
            <a:pPr marL="60325">
              <a:lnSpc>
                <a:spcPct val="100000"/>
              </a:lnSpc>
            </a:pP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SELINUX=permissive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154430" y="9641666"/>
            <a:ext cx="704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605280" y="9635316"/>
            <a:ext cx="221043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Перегрузите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виртуальную</a:t>
            </a:r>
            <a:r>
              <a:rPr dirty="0" sz="1050" spc="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машину: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87705" y="725030"/>
            <a:ext cx="3570604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29640" indent="-45021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929640" algn="l"/>
              </a:tabLst>
            </a:pP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sudo</a:t>
            </a:r>
            <a:r>
              <a:rPr dirty="0" sz="1000" spc="14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systemctl</a:t>
            </a:r>
            <a:r>
              <a:rPr dirty="0" sz="1000" spc="14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reboot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50" b="1">
                <a:solidFill>
                  <a:srgbClr val="282C3D"/>
                </a:solidFill>
                <a:latin typeface="Arial"/>
                <a:cs typeface="Arial"/>
              </a:rPr>
              <a:t>Настройка</a:t>
            </a:r>
            <a:r>
              <a:rPr dirty="0" sz="1650" spc="-45" b="1">
                <a:solidFill>
                  <a:srgbClr val="282C3D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282C3D"/>
                </a:solidFill>
                <a:latin typeface="Arial"/>
                <a:cs typeface="Arial"/>
              </a:rPr>
              <a:t>раскладки</a:t>
            </a:r>
            <a:r>
              <a:rPr dirty="0" sz="1650" spc="-40" b="1">
                <a:solidFill>
                  <a:srgbClr val="282C3D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282C3D"/>
                </a:solidFill>
                <a:latin typeface="Arial"/>
                <a:cs typeface="Arial"/>
              </a:rPr>
              <a:t>клавиатуры</a:t>
            </a:r>
            <a:endParaRPr sz="16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16305" y="1392796"/>
            <a:ext cx="70485" cy="102235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63955" y="1394066"/>
            <a:ext cx="5690235" cy="4850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33119" marR="713740">
              <a:lnSpc>
                <a:spcPct val="122900"/>
              </a:lnSpc>
              <a:spcBef>
                <a:spcPts val="100"/>
              </a:spcBef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Войдите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ОС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под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заданной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вами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при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установке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учётной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записью. Нажмите</a:t>
            </a:r>
            <a:r>
              <a:rPr dirty="0" sz="1050" spc="-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комбинацию</a:t>
            </a:r>
            <a:r>
              <a:rPr dirty="0" sz="1050" spc="-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02528"/>
                </a:solidFill>
                <a:latin typeface="Arial"/>
                <a:cs typeface="Arial"/>
              </a:rPr>
              <a:t>Win+Enter</a:t>
            </a:r>
            <a:r>
              <a:rPr dirty="0" sz="1050" spc="-40" i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для</a:t>
            </a:r>
            <a:r>
              <a:rPr dirty="0" sz="1050" spc="-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запуска</a:t>
            </a:r>
            <a:r>
              <a:rPr dirty="0" sz="1050" spc="-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терминала.</a:t>
            </a:r>
            <a:endParaRPr sz="1050">
              <a:latin typeface="Arial"/>
              <a:cs typeface="Arial"/>
            </a:endParaRPr>
          </a:p>
          <a:p>
            <a:pPr marL="833119">
              <a:lnSpc>
                <a:spcPct val="100000"/>
              </a:lnSpc>
              <a:spcBef>
                <a:spcPts val="285"/>
              </a:spcBef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Запустите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терминальный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мультиплексор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202528"/>
                </a:solidFill>
                <a:latin typeface="Arial"/>
                <a:cs typeface="Arial"/>
              </a:rPr>
              <a:t>tmux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:</a:t>
            </a:r>
            <a:endParaRPr sz="1050">
              <a:latin typeface="Arial"/>
              <a:cs typeface="Arial"/>
            </a:endParaRPr>
          </a:p>
          <a:p>
            <a:pPr marL="833119">
              <a:lnSpc>
                <a:spcPct val="100000"/>
              </a:lnSpc>
              <a:spcBef>
                <a:spcPts val="425"/>
              </a:spcBef>
            </a:pPr>
            <a:r>
              <a:rPr dirty="0" sz="1000" spc="-20">
                <a:solidFill>
                  <a:srgbClr val="202528"/>
                </a:solidFill>
                <a:latin typeface="Tahoma"/>
                <a:cs typeface="Tahoma"/>
              </a:rPr>
              <a:t>tmux</a:t>
            </a:r>
            <a:endParaRPr sz="1000">
              <a:latin typeface="Tahoma"/>
              <a:cs typeface="Tahoma"/>
            </a:endParaRPr>
          </a:p>
          <a:p>
            <a:pPr marL="833119" marR="756285" indent="-635">
              <a:lnSpc>
                <a:spcPts val="1689"/>
              </a:lnSpc>
              <a:spcBef>
                <a:spcPts val="15"/>
              </a:spcBef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Создайте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конфигурационный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файл</a:t>
            </a:r>
            <a:r>
              <a:rPr dirty="0" sz="1050" spc="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73E8C"/>
                </a:solidFill>
                <a:latin typeface="Tahoma"/>
                <a:cs typeface="Tahoma"/>
              </a:rPr>
              <a:t>~/.config/sway/config.d/95-</a:t>
            </a:r>
            <a:r>
              <a:rPr dirty="0" sz="900" spc="-10">
                <a:solidFill>
                  <a:srgbClr val="E73E8C"/>
                </a:solidFill>
                <a:latin typeface="Tahoma"/>
                <a:cs typeface="Tahoma"/>
              </a:rPr>
              <a:t>system- keyboardconfig.conf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:</a:t>
            </a:r>
            <a:endParaRPr sz="1050">
              <a:latin typeface="Arial"/>
              <a:cs typeface="Arial"/>
            </a:endParaRPr>
          </a:p>
          <a:p>
            <a:pPr marL="833119">
              <a:lnSpc>
                <a:spcPct val="100000"/>
              </a:lnSpc>
              <a:spcBef>
                <a:spcPts val="430"/>
              </a:spcBef>
            </a:pP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mkdir</a:t>
            </a:r>
            <a:r>
              <a:rPr dirty="0" sz="1000" spc="6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-p</a:t>
            </a:r>
            <a:r>
              <a:rPr dirty="0" sz="1000" spc="6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~/.config/sway</a:t>
            </a:r>
            <a:endParaRPr sz="1000">
              <a:latin typeface="Tahoma"/>
              <a:cs typeface="Tahoma"/>
            </a:endParaRPr>
          </a:p>
          <a:p>
            <a:pPr marL="833119" marR="5080">
              <a:lnSpc>
                <a:spcPct val="115399"/>
              </a:lnSpc>
              <a:spcBef>
                <a:spcPts val="210"/>
              </a:spcBef>
            </a:pP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touch</a:t>
            </a:r>
            <a:r>
              <a:rPr dirty="0" sz="1000" spc="9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~/.config/sway/config.d/95-system-keyboard-config.conf</a:t>
            </a:r>
            <a:r>
              <a:rPr dirty="0" sz="1000" spc="160">
                <a:solidFill>
                  <a:srgbClr val="202528"/>
                </a:solidFill>
                <a:latin typeface="Tahoma"/>
                <a:cs typeface="Tahoma"/>
              </a:rPr>
              <a:t> 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r>
              <a:rPr dirty="0" sz="1000" spc="16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Отредактируйте конфигурационный</a:t>
            </a:r>
            <a:r>
              <a:rPr dirty="0" sz="1050" spc="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файл</a:t>
            </a:r>
            <a:r>
              <a:rPr dirty="0" sz="1050" spc="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73E8C"/>
                </a:solidFill>
                <a:latin typeface="Tahoma"/>
                <a:cs typeface="Tahoma"/>
              </a:rPr>
              <a:t>~/.config/sway/config.d/95-</a:t>
            </a:r>
            <a:r>
              <a:rPr dirty="0" sz="900" spc="-10">
                <a:solidFill>
                  <a:srgbClr val="E73E8C"/>
                </a:solidFill>
                <a:latin typeface="Tahoma"/>
                <a:cs typeface="Tahoma"/>
              </a:rPr>
              <a:t>system-</a:t>
            </a:r>
            <a:endParaRPr sz="900">
              <a:latin typeface="Tahoma"/>
              <a:cs typeface="Tahoma"/>
            </a:endParaRPr>
          </a:p>
          <a:p>
            <a:pPr marL="833755">
              <a:lnSpc>
                <a:spcPct val="100000"/>
              </a:lnSpc>
              <a:spcBef>
                <a:spcPts val="500"/>
              </a:spcBef>
            </a:pPr>
            <a:r>
              <a:rPr dirty="0" sz="900" spc="-10">
                <a:solidFill>
                  <a:srgbClr val="E73E8C"/>
                </a:solidFill>
                <a:latin typeface="Tahoma"/>
                <a:cs typeface="Tahoma"/>
              </a:rPr>
              <a:t>keyboardconfig.conf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:</a:t>
            </a:r>
            <a:endParaRPr sz="1050">
              <a:latin typeface="Arial"/>
              <a:cs typeface="Arial"/>
            </a:endParaRPr>
          </a:p>
          <a:p>
            <a:pPr marL="833119">
              <a:lnSpc>
                <a:spcPct val="100000"/>
              </a:lnSpc>
              <a:spcBef>
                <a:spcPts val="560"/>
              </a:spcBef>
            </a:pP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exec_always</a:t>
            </a:r>
            <a:r>
              <a:rPr dirty="0" sz="1000" spc="41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/usr/libexec/sway-systemd/locale1-xkb-config</a:t>
            </a:r>
            <a:r>
              <a:rPr dirty="0" sz="1000" spc="41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--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oneshot</a:t>
            </a:r>
            <a:endParaRPr sz="1000">
              <a:latin typeface="Tahoma"/>
              <a:cs typeface="Tahoma"/>
            </a:endParaRPr>
          </a:p>
          <a:p>
            <a:pPr marL="833119">
              <a:lnSpc>
                <a:spcPct val="100000"/>
              </a:lnSpc>
              <a:spcBef>
                <a:spcPts val="320"/>
              </a:spcBef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Переключитесь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 на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роль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супер-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пользователя:</a:t>
            </a:r>
            <a:endParaRPr sz="1050">
              <a:latin typeface="Arial"/>
              <a:cs typeface="Arial"/>
            </a:endParaRPr>
          </a:p>
          <a:p>
            <a:pPr marL="833119">
              <a:lnSpc>
                <a:spcPct val="100000"/>
              </a:lnSpc>
              <a:spcBef>
                <a:spcPts val="420"/>
              </a:spcBef>
            </a:pP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sudo</a:t>
            </a:r>
            <a:r>
              <a:rPr dirty="0" sz="1000" spc="14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02528"/>
                </a:solidFill>
                <a:latin typeface="Tahoma"/>
                <a:cs typeface="Tahoma"/>
              </a:rPr>
              <a:t>-</a:t>
            </a:r>
            <a:r>
              <a:rPr dirty="0" sz="1000" spc="-50">
                <a:solidFill>
                  <a:srgbClr val="202528"/>
                </a:solidFill>
                <a:latin typeface="Tahoma"/>
                <a:cs typeface="Tahoma"/>
              </a:rPr>
              <a:t>i</a:t>
            </a:r>
            <a:endParaRPr sz="1000">
              <a:latin typeface="Tahoma"/>
              <a:cs typeface="Tahoma"/>
            </a:endParaRPr>
          </a:p>
          <a:p>
            <a:pPr marL="833119">
              <a:lnSpc>
                <a:spcPct val="100000"/>
              </a:lnSpc>
              <a:spcBef>
                <a:spcPts val="320"/>
              </a:spcBef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Отредактируйте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конфигурационный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файл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E73E8C"/>
                </a:solidFill>
                <a:latin typeface="Tahoma"/>
                <a:cs typeface="Tahoma"/>
              </a:rPr>
              <a:t>/etc/X11/xorg.conf.d/00-</a:t>
            </a:r>
            <a:endParaRPr sz="900">
              <a:latin typeface="Tahoma"/>
              <a:cs typeface="Tahoma"/>
            </a:endParaRPr>
          </a:p>
          <a:p>
            <a:pPr marL="833755">
              <a:lnSpc>
                <a:spcPct val="100000"/>
              </a:lnSpc>
              <a:spcBef>
                <a:spcPts val="540"/>
              </a:spcBef>
            </a:pPr>
            <a:r>
              <a:rPr dirty="0" sz="900" spc="-10">
                <a:solidFill>
                  <a:srgbClr val="E73E8C"/>
                </a:solidFill>
                <a:latin typeface="Tahoma"/>
                <a:cs typeface="Tahoma"/>
              </a:rPr>
              <a:t>keyboard.conf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:</a:t>
            </a:r>
            <a:endParaRPr sz="1050">
              <a:latin typeface="Arial"/>
              <a:cs typeface="Arial"/>
            </a:endParaRPr>
          </a:p>
          <a:p>
            <a:pPr marL="833119" marR="3161665">
              <a:lnSpc>
                <a:spcPct val="137700"/>
              </a:lnSpc>
              <a:spcBef>
                <a:spcPts val="110"/>
              </a:spcBef>
            </a:pP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Section</a:t>
            </a:r>
            <a:r>
              <a:rPr dirty="0" sz="1000" spc="10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"InputClass"</a:t>
            </a:r>
            <a:r>
              <a:rPr dirty="0" sz="1000" spc="50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Identifier</a:t>
            </a:r>
            <a:r>
              <a:rPr dirty="0" sz="1000" spc="25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"system-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keyboard" </a:t>
            </a:r>
            <a:r>
              <a:rPr dirty="0" sz="1000" spc="10">
                <a:solidFill>
                  <a:srgbClr val="202528"/>
                </a:solidFill>
                <a:latin typeface="Tahoma"/>
                <a:cs typeface="Tahoma"/>
              </a:rPr>
              <a:t>MatchIsKeyboard</a:t>
            </a:r>
            <a:r>
              <a:rPr dirty="0" sz="1000" spc="18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Tahoma"/>
                <a:cs typeface="Tahoma"/>
              </a:rPr>
              <a:t>"on"</a:t>
            </a:r>
            <a:r>
              <a:rPr dirty="0" sz="1000" spc="50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Option</a:t>
            </a:r>
            <a:r>
              <a:rPr dirty="0" sz="1000" spc="17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"XkbLayout"</a:t>
            </a:r>
            <a:r>
              <a:rPr dirty="0" sz="1000" spc="17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"us,ru"</a:t>
            </a:r>
            <a:endParaRPr sz="1000">
              <a:latin typeface="Tahoma"/>
              <a:cs typeface="Tahoma"/>
            </a:endParaRPr>
          </a:p>
          <a:p>
            <a:pPr marL="833119" marR="3029585">
              <a:lnSpc>
                <a:spcPct val="137700"/>
              </a:lnSpc>
            </a:pP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Option</a:t>
            </a:r>
            <a:r>
              <a:rPr dirty="0" sz="1000" spc="17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"XkbVariant"</a:t>
            </a:r>
            <a:r>
              <a:rPr dirty="0" sz="1000" spc="17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",winkeys"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Option</a:t>
            </a:r>
            <a:r>
              <a:rPr dirty="0" sz="1000" spc="18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"XkbOptions"</a:t>
            </a:r>
            <a:endParaRPr sz="1000">
              <a:latin typeface="Tahoma"/>
              <a:cs typeface="Tahoma"/>
            </a:endParaRPr>
          </a:p>
          <a:p>
            <a:pPr marL="833119" marR="2491105" indent="-820419">
              <a:lnSpc>
                <a:spcPts val="1800"/>
              </a:lnSpc>
            </a:pP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"grp:rctrl_toggle,compose:ralt,terminate:ctrl_alt_bksp"</a:t>
            </a:r>
            <a:r>
              <a:rPr dirty="0" sz="1000" spc="50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EndSection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16305" y="2618523"/>
            <a:ext cx="70485" cy="44577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16305" y="3472180"/>
            <a:ext cx="70485" cy="830580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16305" y="4520641"/>
            <a:ext cx="70485" cy="128524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16305" y="6065837"/>
            <a:ext cx="704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16305" y="6376378"/>
            <a:ext cx="704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958975" y="6327021"/>
            <a:ext cx="4675505" cy="638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625" marR="30480" indent="-10160">
              <a:lnSpc>
                <a:spcPct val="126899"/>
              </a:lnSpc>
              <a:spcBef>
                <a:spcPts val="100"/>
              </a:spcBef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Для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этого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можно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использовать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файловый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менеджер </a:t>
            </a:r>
            <a:r>
              <a:rPr dirty="0" baseline="-12345" sz="1350">
                <a:solidFill>
                  <a:srgbClr val="E73E8C"/>
                </a:solidFill>
                <a:latin typeface="Tahoma"/>
                <a:cs typeface="Tahoma"/>
              </a:rPr>
              <a:t>mc</a:t>
            </a:r>
            <a:r>
              <a:rPr dirty="0" baseline="-12345" sz="1350" spc="-7">
                <a:solidFill>
                  <a:srgbClr val="E73E8C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его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встроенный редактор.</a:t>
            </a:r>
            <a:endParaRPr sz="10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70"/>
              </a:spcBef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Перегрузите</a:t>
            </a:r>
            <a:r>
              <a:rPr dirty="0" sz="1050" spc="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виртуальную</a:t>
            </a:r>
            <a:r>
              <a:rPr dirty="0" sz="1050" spc="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машину:</a:t>
            </a:r>
            <a:r>
              <a:rPr dirty="0" sz="1050" spc="9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sudo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systemctl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reboot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16305" y="6786689"/>
            <a:ext cx="704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87705" y="6983223"/>
            <a:ext cx="5188585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b="1">
                <a:solidFill>
                  <a:srgbClr val="282C3D"/>
                </a:solidFill>
                <a:latin typeface="Arial"/>
                <a:cs typeface="Arial"/>
              </a:rPr>
              <a:t>Установка</a:t>
            </a:r>
            <a:r>
              <a:rPr dirty="0" sz="1650" spc="-45" b="1">
                <a:solidFill>
                  <a:srgbClr val="282C3D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282C3D"/>
                </a:solidFill>
                <a:latin typeface="Arial"/>
                <a:cs typeface="Arial"/>
              </a:rPr>
              <a:t>имени</a:t>
            </a:r>
            <a:r>
              <a:rPr dirty="0" sz="1650" spc="-40" b="1">
                <a:solidFill>
                  <a:srgbClr val="282C3D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282C3D"/>
                </a:solidFill>
                <a:latin typeface="Arial"/>
                <a:cs typeface="Arial"/>
              </a:rPr>
              <a:t>пользователя</a:t>
            </a:r>
            <a:r>
              <a:rPr dirty="0" sz="1650" spc="-40" b="1">
                <a:solidFill>
                  <a:srgbClr val="282C3D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282C3D"/>
                </a:solidFill>
                <a:latin typeface="Arial"/>
                <a:cs typeface="Arial"/>
              </a:rPr>
              <a:t>и</a:t>
            </a:r>
            <a:r>
              <a:rPr dirty="0" sz="1650" spc="-45" b="1">
                <a:solidFill>
                  <a:srgbClr val="282C3D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282C3D"/>
                </a:solidFill>
                <a:latin typeface="Arial"/>
                <a:cs typeface="Arial"/>
              </a:rPr>
              <a:t>названия</a:t>
            </a:r>
            <a:r>
              <a:rPr dirty="0" sz="1650" spc="-40" b="1">
                <a:solidFill>
                  <a:srgbClr val="282C3D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282C3D"/>
                </a:solidFill>
                <a:latin typeface="Arial"/>
                <a:cs typeface="Arial"/>
              </a:rPr>
              <a:t>хоста</a:t>
            </a:r>
            <a:endParaRPr sz="165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78205" y="7291391"/>
            <a:ext cx="5897880" cy="2094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9400" marR="17780" indent="-228600">
              <a:lnSpc>
                <a:spcPct val="105800"/>
              </a:lnSpc>
              <a:spcBef>
                <a:spcPts val="100"/>
              </a:spcBef>
              <a:buSzPct val="95238"/>
              <a:buChar char="•"/>
              <a:tabLst>
                <a:tab pos="279400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Если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при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установке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виртуальной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машины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вы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задали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имя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пользователя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или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имя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хоста,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не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удовлетворяющее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соглашению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об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именовании,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то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вам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необходимо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исправить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это.</a:t>
            </a:r>
            <a:endParaRPr sz="1050">
              <a:latin typeface="Arial"/>
              <a:cs typeface="Arial"/>
            </a:endParaRPr>
          </a:p>
          <a:p>
            <a:pPr marL="278765" indent="-227965">
              <a:lnSpc>
                <a:spcPct val="100000"/>
              </a:lnSpc>
              <a:spcBef>
                <a:spcPts val="285"/>
              </a:spcBef>
              <a:buSzPct val="95238"/>
              <a:buChar char="•"/>
              <a:tabLst>
                <a:tab pos="2787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Запустите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виртуальную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машину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залогиньтесь.</a:t>
            </a:r>
            <a:endParaRPr sz="1050">
              <a:latin typeface="Arial"/>
              <a:cs typeface="Arial"/>
            </a:endParaRPr>
          </a:p>
          <a:p>
            <a:pPr marL="278765" indent="-227965">
              <a:lnSpc>
                <a:spcPct val="100000"/>
              </a:lnSpc>
              <a:spcBef>
                <a:spcPts val="290"/>
              </a:spcBef>
              <a:buSzPct val="95238"/>
              <a:buChar char="•"/>
              <a:tabLst>
                <a:tab pos="278765" algn="l"/>
              </a:tabLst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Нажмите</a:t>
            </a:r>
            <a:r>
              <a:rPr dirty="0" sz="1050" spc="-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комбинацию</a:t>
            </a:r>
            <a:r>
              <a:rPr dirty="0" sz="1050" spc="-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02528"/>
                </a:solidFill>
                <a:latin typeface="Arial"/>
                <a:cs typeface="Arial"/>
              </a:rPr>
              <a:t>Win+Enter</a:t>
            </a:r>
            <a:r>
              <a:rPr dirty="0" sz="1050" spc="-40" i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для</a:t>
            </a:r>
            <a:r>
              <a:rPr dirty="0" sz="1050" spc="-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запуска</a:t>
            </a:r>
            <a:r>
              <a:rPr dirty="0" sz="1050" spc="-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терминала.</a:t>
            </a:r>
            <a:endParaRPr sz="1050">
              <a:latin typeface="Arial"/>
              <a:cs typeface="Arial"/>
            </a:endParaRPr>
          </a:p>
          <a:p>
            <a:pPr marL="278765" indent="-227965">
              <a:lnSpc>
                <a:spcPct val="100000"/>
              </a:lnSpc>
              <a:spcBef>
                <a:spcPts val="290"/>
              </a:spcBef>
              <a:buSzPct val="95238"/>
              <a:buChar char="•"/>
              <a:tabLst>
                <a:tab pos="2787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Запустите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терминальный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мультиплексор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202528"/>
                </a:solidFill>
                <a:latin typeface="Arial"/>
                <a:cs typeface="Arial"/>
              </a:rPr>
              <a:t>tmux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:</a:t>
            </a:r>
            <a:endParaRPr sz="1050">
              <a:latin typeface="Arial"/>
              <a:cs typeface="Arial"/>
            </a:endParaRPr>
          </a:p>
          <a:p>
            <a:pPr marL="278765" indent="-227965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278765" algn="l"/>
              </a:tabLst>
            </a:pPr>
            <a:r>
              <a:rPr dirty="0" sz="1000" spc="-20">
                <a:solidFill>
                  <a:srgbClr val="202528"/>
                </a:solidFill>
                <a:latin typeface="Tahoma"/>
                <a:cs typeface="Tahoma"/>
              </a:rPr>
              <a:t>tmux</a:t>
            </a:r>
            <a:endParaRPr sz="1000">
              <a:latin typeface="Tahoma"/>
              <a:cs typeface="Tahoma"/>
            </a:endParaRPr>
          </a:p>
          <a:p>
            <a:pPr marL="278765" indent="-227965">
              <a:lnSpc>
                <a:spcPct val="100000"/>
              </a:lnSpc>
              <a:spcBef>
                <a:spcPts val="320"/>
              </a:spcBef>
              <a:buSzPct val="95238"/>
              <a:buChar char="•"/>
              <a:tabLst>
                <a:tab pos="278765" algn="l"/>
              </a:tabLst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Переключитесь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 на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роль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супер-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пользователя:</a:t>
            </a:r>
            <a:endParaRPr sz="1050">
              <a:latin typeface="Arial"/>
              <a:cs typeface="Arial"/>
            </a:endParaRPr>
          </a:p>
          <a:p>
            <a:pPr marL="278765" indent="-227965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278765" algn="l"/>
              </a:tabLst>
            </a:pP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sudo</a:t>
            </a:r>
            <a:r>
              <a:rPr dirty="0" sz="1000" spc="14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02528"/>
                </a:solidFill>
                <a:latin typeface="Tahoma"/>
                <a:cs typeface="Tahoma"/>
              </a:rPr>
              <a:t>-</a:t>
            </a:r>
            <a:r>
              <a:rPr dirty="0" sz="1000" spc="-50">
                <a:solidFill>
                  <a:srgbClr val="202528"/>
                </a:solidFill>
                <a:latin typeface="Tahoma"/>
                <a:cs typeface="Tahoma"/>
              </a:rPr>
              <a:t>i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202528"/>
              </a:buClr>
              <a:buFont typeface="Arial"/>
              <a:buChar char="•"/>
            </a:pPr>
            <a:endParaRPr sz="1000">
              <a:latin typeface="Tahoma"/>
              <a:cs typeface="Tahoma"/>
            </a:endParaRPr>
          </a:p>
          <a:p>
            <a:pPr marL="278765" indent="-227965">
              <a:lnSpc>
                <a:spcPct val="100000"/>
              </a:lnSpc>
              <a:buSzPct val="95238"/>
              <a:buChar char="•"/>
              <a:tabLst>
                <a:tab pos="278765" algn="l"/>
              </a:tabLst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Создайте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пользователя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(вместо</a:t>
            </a:r>
            <a:r>
              <a:rPr dirty="0" sz="1050" spc="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baseline="-12345" sz="1350">
                <a:solidFill>
                  <a:srgbClr val="E73E8C"/>
                </a:solidFill>
                <a:latin typeface="Tahoma"/>
                <a:cs typeface="Tahoma"/>
              </a:rPr>
              <a:t>username</a:t>
            </a:r>
            <a:r>
              <a:rPr dirty="0" baseline="-12345" sz="1350" spc="30">
                <a:solidFill>
                  <a:srgbClr val="E73E8C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укажите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ваш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логин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дисплейном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классе):</a:t>
            </a:r>
            <a:endParaRPr sz="1050">
              <a:latin typeface="Arial"/>
              <a:cs typeface="Arial"/>
            </a:endParaRPr>
          </a:p>
          <a:p>
            <a:pPr marL="278765" indent="-227965">
              <a:lnSpc>
                <a:spcPct val="100000"/>
              </a:lnSpc>
              <a:spcBef>
                <a:spcPts val="475"/>
              </a:spcBef>
              <a:buFont typeface="Arial"/>
              <a:buChar char="•"/>
              <a:tabLst>
                <a:tab pos="278765" algn="l"/>
              </a:tabLst>
            </a:pP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adduser</a:t>
            </a:r>
            <a:r>
              <a:rPr dirty="0" sz="1000" spc="8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-G</a:t>
            </a:r>
            <a:r>
              <a:rPr dirty="0" sz="1000" spc="9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wheel</a:t>
            </a:r>
            <a:r>
              <a:rPr dirty="0" sz="1000" spc="9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username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65505" y="772972"/>
            <a:ext cx="5732780" cy="1450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1465" indent="-227965">
              <a:lnSpc>
                <a:spcPct val="100000"/>
              </a:lnSpc>
              <a:spcBef>
                <a:spcPts val="100"/>
              </a:spcBef>
              <a:buSzPct val="95238"/>
              <a:buChar char="•"/>
              <a:tabLst>
                <a:tab pos="2914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Задайте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пароль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для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пользователя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(вместо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baseline="-12345" sz="1350">
                <a:solidFill>
                  <a:srgbClr val="E73E8C"/>
                </a:solidFill>
                <a:latin typeface="Tahoma"/>
                <a:cs typeface="Tahoma"/>
              </a:rPr>
              <a:t>username</a:t>
            </a:r>
            <a:r>
              <a:rPr dirty="0" baseline="-12345" sz="1350" spc="7">
                <a:solidFill>
                  <a:srgbClr val="E73E8C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укажите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ваш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логин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дисплейном</a:t>
            </a:r>
            <a:endParaRPr sz="1050">
              <a:latin typeface="Arial"/>
              <a:cs typeface="Arial"/>
            </a:endParaRPr>
          </a:p>
          <a:p>
            <a:pPr marL="292100">
              <a:lnSpc>
                <a:spcPct val="100000"/>
              </a:lnSpc>
              <a:spcBef>
                <a:spcPts val="1030"/>
              </a:spcBef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классе):</a:t>
            </a:r>
            <a:endParaRPr sz="1050">
              <a:latin typeface="Arial"/>
              <a:cs typeface="Arial"/>
            </a:endParaRPr>
          </a:p>
          <a:p>
            <a:pPr marL="291465" indent="-227965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91465" algn="l"/>
              </a:tabLst>
            </a:pP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passwd</a:t>
            </a:r>
            <a:r>
              <a:rPr dirty="0" sz="1000" spc="14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username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202528"/>
              </a:buClr>
              <a:buFont typeface="Arial"/>
              <a:buChar char="•"/>
            </a:pPr>
            <a:endParaRPr sz="1000">
              <a:latin typeface="Tahoma"/>
              <a:cs typeface="Tahoma"/>
            </a:endParaRPr>
          </a:p>
          <a:p>
            <a:pPr marL="291465" indent="-227965">
              <a:lnSpc>
                <a:spcPct val="100000"/>
              </a:lnSpc>
              <a:buSzPct val="95238"/>
              <a:buChar char="•"/>
              <a:tabLst>
                <a:tab pos="2914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Установите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имя хоста (вместо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baseline="-12345" sz="1350">
                <a:solidFill>
                  <a:srgbClr val="E73E8C"/>
                </a:solidFill>
                <a:latin typeface="Tahoma"/>
                <a:cs typeface="Tahoma"/>
              </a:rPr>
              <a:t>username</a:t>
            </a:r>
            <a:r>
              <a:rPr dirty="0" baseline="-12345" sz="1350" spc="15">
                <a:solidFill>
                  <a:srgbClr val="E73E8C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укажите ваш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логин в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дисплейном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классе):</a:t>
            </a:r>
            <a:endParaRPr sz="1050">
              <a:latin typeface="Arial"/>
              <a:cs typeface="Arial"/>
            </a:endParaRPr>
          </a:p>
          <a:p>
            <a:pPr marL="291465" indent="-227965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291465" algn="l"/>
              </a:tabLst>
            </a:pPr>
            <a:r>
              <a:rPr dirty="0" sz="1000" spc="10">
                <a:solidFill>
                  <a:srgbClr val="202528"/>
                </a:solidFill>
                <a:latin typeface="Tahoma"/>
                <a:cs typeface="Tahoma"/>
              </a:rPr>
              <a:t>hostnamectl</a:t>
            </a:r>
            <a:r>
              <a:rPr dirty="0" sz="1000" spc="17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Tahoma"/>
                <a:cs typeface="Tahoma"/>
              </a:rPr>
              <a:t>set-hostname</a:t>
            </a:r>
            <a:r>
              <a:rPr dirty="0" sz="1000" spc="17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username</a:t>
            </a:r>
            <a:endParaRPr sz="1000">
              <a:latin typeface="Tahoma"/>
              <a:cs typeface="Tahoma"/>
            </a:endParaRPr>
          </a:p>
          <a:p>
            <a:pPr marL="291465" indent="-227965">
              <a:lnSpc>
                <a:spcPct val="100000"/>
              </a:lnSpc>
              <a:spcBef>
                <a:spcPts val="405"/>
              </a:spcBef>
              <a:buSzPct val="95238"/>
              <a:buChar char="•"/>
              <a:tabLst>
                <a:tab pos="291465" algn="l"/>
              </a:tabLst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Проверьте,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что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имя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хоста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установлено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верно: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hostnamectl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87705" y="2399919"/>
            <a:ext cx="5534025" cy="53721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9050" marR="5080" indent="-6350">
              <a:lnSpc>
                <a:spcPct val="103400"/>
              </a:lnSpc>
              <a:spcBef>
                <a:spcPts val="30"/>
              </a:spcBef>
            </a:pPr>
            <a:r>
              <a:rPr dirty="0" sz="1650" b="1">
                <a:solidFill>
                  <a:srgbClr val="282C3D"/>
                </a:solidFill>
                <a:latin typeface="Arial"/>
                <a:cs typeface="Arial"/>
              </a:rPr>
              <a:t>Установка</a:t>
            </a:r>
            <a:r>
              <a:rPr dirty="0" sz="1650" spc="-40" b="1">
                <a:solidFill>
                  <a:srgbClr val="282C3D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282C3D"/>
                </a:solidFill>
                <a:latin typeface="Arial"/>
                <a:cs typeface="Arial"/>
              </a:rPr>
              <a:t>программного</a:t>
            </a:r>
            <a:r>
              <a:rPr dirty="0" sz="1650" spc="-35" b="1">
                <a:solidFill>
                  <a:srgbClr val="282C3D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282C3D"/>
                </a:solidFill>
                <a:latin typeface="Arial"/>
                <a:cs typeface="Arial"/>
              </a:rPr>
              <a:t>обеспечения</a:t>
            </a:r>
            <a:r>
              <a:rPr dirty="0" sz="1650" spc="-40" b="1">
                <a:solidFill>
                  <a:srgbClr val="282C3D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282C3D"/>
                </a:solidFill>
                <a:latin typeface="Arial"/>
                <a:cs typeface="Arial"/>
              </a:rPr>
              <a:t>для</a:t>
            </a:r>
            <a:r>
              <a:rPr dirty="0" sz="1650" spc="-35" b="1">
                <a:solidFill>
                  <a:srgbClr val="282C3D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282C3D"/>
                </a:solidFill>
                <a:latin typeface="Arial"/>
                <a:cs typeface="Arial"/>
              </a:rPr>
              <a:t>создания документации</a:t>
            </a:r>
            <a:endParaRPr sz="16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24205" y="2940825"/>
            <a:ext cx="6243320" cy="602805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532765" indent="-227965">
              <a:lnSpc>
                <a:spcPct val="100000"/>
              </a:lnSpc>
              <a:spcBef>
                <a:spcPts val="385"/>
              </a:spcBef>
              <a:buSzPct val="95238"/>
              <a:buChar char="•"/>
              <a:tabLst>
                <a:tab pos="532765" algn="l"/>
              </a:tabLst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Нажмите</a:t>
            </a:r>
            <a:r>
              <a:rPr dirty="0" sz="1050" spc="-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комбинацию</a:t>
            </a:r>
            <a:r>
              <a:rPr dirty="0" sz="1050" spc="-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02528"/>
                </a:solidFill>
                <a:latin typeface="Arial"/>
                <a:cs typeface="Arial"/>
              </a:rPr>
              <a:t>Win+Enter</a:t>
            </a:r>
            <a:r>
              <a:rPr dirty="0" sz="1050" spc="-40" i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для</a:t>
            </a:r>
            <a:r>
              <a:rPr dirty="0" sz="1050" spc="-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запуска</a:t>
            </a:r>
            <a:r>
              <a:rPr dirty="0" sz="1050" spc="-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терминала.</a:t>
            </a:r>
            <a:endParaRPr sz="1050">
              <a:latin typeface="Arial"/>
              <a:cs typeface="Arial"/>
            </a:endParaRPr>
          </a:p>
          <a:p>
            <a:pPr marL="532765" indent="-227965">
              <a:lnSpc>
                <a:spcPct val="100000"/>
              </a:lnSpc>
              <a:spcBef>
                <a:spcPts val="290"/>
              </a:spcBef>
              <a:buSzPct val="95238"/>
              <a:buChar char="•"/>
              <a:tabLst>
                <a:tab pos="5327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Запустите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терминальный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мультиплексор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202528"/>
                </a:solidFill>
                <a:latin typeface="Arial"/>
                <a:cs typeface="Arial"/>
              </a:rPr>
              <a:t>tmux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:</a:t>
            </a:r>
            <a:endParaRPr sz="1050">
              <a:latin typeface="Arial"/>
              <a:cs typeface="Arial"/>
            </a:endParaRPr>
          </a:p>
          <a:p>
            <a:pPr marL="532765" indent="-227965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532765" algn="l"/>
              </a:tabLst>
            </a:pPr>
            <a:r>
              <a:rPr dirty="0" sz="1000" spc="-20">
                <a:solidFill>
                  <a:srgbClr val="202528"/>
                </a:solidFill>
                <a:latin typeface="Tahoma"/>
                <a:cs typeface="Tahoma"/>
              </a:rPr>
              <a:t>tmux</a:t>
            </a:r>
            <a:endParaRPr sz="1000">
              <a:latin typeface="Tahoma"/>
              <a:cs typeface="Tahoma"/>
            </a:endParaRPr>
          </a:p>
          <a:p>
            <a:pPr marL="532765" indent="-227965">
              <a:lnSpc>
                <a:spcPct val="100000"/>
              </a:lnSpc>
              <a:spcBef>
                <a:spcPts val="320"/>
              </a:spcBef>
              <a:buSzPct val="95238"/>
              <a:buChar char="•"/>
              <a:tabLst>
                <a:tab pos="532765" algn="l"/>
              </a:tabLst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Переключитесь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 на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роль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супер-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пользователя:</a:t>
            </a:r>
            <a:endParaRPr sz="1050">
              <a:latin typeface="Arial"/>
              <a:cs typeface="Arial"/>
            </a:endParaRPr>
          </a:p>
          <a:p>
            <a:pPr marL="532765" indent="-227965">
              <a:lnSpc>
                <a:spcPct val="100000"/>
              </a:lnSpc>
              <a:spcBef>
                <a:spcPts val="425"/>
              </a:spcBef>
              <a:buFont typeface="Arial"/>
              <a:buChar char="•"/>
              <a:tabLst>
                <a:tab pos="532765" algn="l"/>
              </a:tabLst>
            </a:pP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sudo</a:t>
            </a:r>
            <a:r>
              <a:rPr dirty="0" sz="1000" spc="14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02528"/>
                </a:solidFill>
                <a:latin typeface="Tahoma"/>
                <a:cs typeface="Tahoma"/>
              </a:rPr>
              <a:t>-</a:t>
            </a:r>
            <a:r>
              <a:rPr dirty="0" sz="1000" spc="-50">
                <a:solidFill>
                  <a:srgbClr val="202528"/>
                </a:solidFill>
                <a:latin typeface="Tahoma"/>
                <a:cs typeface="Tahoma"/>
              </a:rPr>
              <a:t>i</a:t>
            </a:r>
            <a:endParaRPr sz="1000">
              <a:latin typeface="Tahoma"/>
              <a:cs typeface="Tahoma"/>
            </a:endParaRPr>
          </a:p>
          <a:p>
            <a:pPr marL="76200">
              <a:lnSpc>
                <a:spcPct val="100000"/>
              </a:lnSpc>
              <a:spcBef>
                <a:spcPts val="950"/>
              </a:spcBef>
            </a:pPr>
            <a:r>
              <a:rPr dirty="0" sz="1200" b="1">
                <a:solidFill>
                  <a:srgbClr val="202528"/>
                </a:solidFill>
                <a:latin typeface="Arial"/>
                <a:cs typeface="Arial"/>
              </a:rPr>
              <a:t>Работа</a:t>
            </a:r>
            <a:r>
              <a:rPr dirty="0" sz="1200" spc="-30" b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02528"/>
                </a:solidFill>
                <a:latin typeface="Arial"/>
                <a:cs typeface="Arial"/>
              </a:rPr>
              <a:t>с</a:t>
            </a:r>
            <a:r>
              <a:rPr dirty="0" sz="1200" spc="-25" b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02528"/>
                </a:solidFill>
                <a:latin typeface="Arial"/>
                <a:cs typeface="Arial"/>
              </a:rPr>
              <a:t>языком</a:t>
            </a:r>
            <a:r>
              <a:rPr dirty="0" sz="1200" spc="-30" b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02528"/>
                </a:solidFill>
                <a:latin typeface="Arial"/>
                <a:cs typeface="Arial"/>
              </a:rPr>
              <a:t>разметки</a:t>
            </a:r>
            <a:r>
              <a:rPr dirty="0" sz="1200" spc="-25" b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202528"/>
                </a:solidFill>
                <a:latin typeface="Arial"/>
                <a:cs typeface="Arial"/>
              </a:rPr>
              <a:t>Markdown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1200">
              <a:latin typeface="Arial"/>
              <a:cs typeface="Arial"/>
            </a:endParaRPr>
          </a:p>
          <a:p>
            <a:pPr marL="532765" indent="-227965">
              <a:lnSpc>
                <a:spcPct val="100000"/>
              </a:lnSpc>
              <a:buSzPct val="95238"/>
              <a:buChar char="•"/>
              <a:tabLst>
                <a:tab pos="532765" algn="l"/>
              </a:tabLst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Средство</a:t>
            </a:r>
            <a:r>
              <a:rPr dirty="0" sz="1050" spc="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baseline="-12345" sz="1350">
                <a:solidFill>
                  <a:srgbClr val="E73E8C"/>
                </a:solidFill>
                <a:latin typeface="Tahoma"/>
                <a:cs typeface="Tahoma"/>
              </a:rPr>
              <a:t>pandoc</a:t>
            </a:r>
            <a:r>
              <a:rPr dirty="0" baseline="-12345" sz="1350" spc="37">
                <a:solidFill>
                  <a:srgbClr val="E73E8C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для</a:t>
            </a:r>
            <a:r>
              <a:rPr dirty="0" sz="1050" spc="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работы</a:t>
            </a:r>
            <a:r>
              <a:rPr dirty="0" sz="1050" spc="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</a:t>
            </a:r>
            <a:r>
              <a:rPr dirty="0" sz="1050" spc="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языком</a:t>
            </a:r>
            <a:r>
              <a:rPr dirty="0" sz="1050" spc="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разметки</a:t>
            </a:r>
            <a:r>
              <a:rPr dirty="0" sz="1050" spc="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Markdown.</a:t>
            </a:r>
            <a:endParaRPr sz="1050">
              <a:latin typeface="Arial"/>
              <a:cs typeface="Arial"/>
            </a:endParaRPr>
          </a:p>
          <a:p>
            <a:pPr marL="532765" indent="-227965">
              <a:lnSpc>
                <a:spcPct val="100000"/>
              </a:lnSpc>
              <a:spcBef>
                <a:spcPts val="365"/>
              </a:spcBef>
              <a:buSzPct val="95238"/>
              <a:buChar char="•"/>
              <a:tabLst>
                <a:tab pos="532765" algn="l"/>
              </a:tabLst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Установка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помощью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менеджера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пакетов:</a:t>
            </a:r>
            <a:endParaRPr sz="1050">
              <a:latin typeface="Arial"/>
              <a:cs typeface="Arial"/>
            </a:endParaRPr>
          </a:p>
          <a:p>
            <a:pPr marL="532765" indent="-227965">
              <a:lnSpc>
                <a:spcPct val="100000"/>
              </a:lnSpc>
              <a:spcBef>
                <a:spcPts val="425"/>
              </a:spcBef>
              <a:buFont typeface="Arial"/>
              <a:buChar char="•"/>
              <a:tabLst>
                <a:tab pos="532765" algn="l"/>
              </a:tabLst>
            </a:pP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sudo</a:t>
            </a:r>
            <a:r>
              <a:rPr dirty="0" sz="1000" spc="6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dnf</a:t>
            </a:r>
            <a:r>
              <a:rPr dirty="0" sz="1000" spc="7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02528"/>
                </a:solidFill>
                <a:latin typeface="Tahoma"/>
                <a:cs typeface="Tahoma"/>
              </a:rPr>
              <a:t>-y</a:t>
            </a:r>
            <a:r>
              <a:rPr dirty="0" sz="1000" spc="6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install</a:t>
            </a:r>
            <a:r>
              <a:rPr dirty="0" sz="1000" spc="7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pandoc</a:t>
            </a:r>
            <a:endParaRPr sz="1000">
              <a:latin typeface="Tahoma"/>
              <a:cs typeface="Tahoma"/>
            </a:endParaRPr>
          </a:p>
          <a:p>
            <a:pPr marL="532765" indent="-227965">
              <a:lnSpc>
                <a:spcPct val="100000"/>
              </a:lnSpc>
              <a:spcBef>
                <a:spcPts val="315"/>
              </a:spcBef>
              <a:buSzPct val="95238"/>
              <a:buChar char="•"/>
              <a:tabLst>
                <a:tab pos="5327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Для</a:t>
            </a:r>
            <a:r>
              <a:rPr dirty="0" sz="1050" spc="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работы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</a:t>
            </a:r>
            <a:r>
              <a:rPr dirty="0" sz="1050" spc="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перекрёстными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ссылками</a:t>
            </a:r>
            <a:r>
              <a:rPr dirty="0" sz="1050" spc="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мы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используем</a:t>
            </a:r>
            <a:r>
              <a:rPr dirty="0" sz="1050" spc="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пакет</a:t>
            </a:r>
            <a:r>
              <a:rPr dirty="0" sz="1050" spc="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73E8C"/>
                </a:solidFill>
                <a:latin typeface="Tahoma"/>
                <a:cs typeface="Tahoma"/>
              </a:rPr>
              <a:t>pandoc-</a:t>
            </a:r>
            <a:r>
              <a:rPr dirty="0" sz="900" spc="-10">
                <a:solidFill>
                  <a:srgbClr val="E73E8C"/>
                </a:solidFill>
                <a:latin typeface="Tahoma"/>
                <a:cs typeface="Tahoma"/>
              </a:rPr>
              <a:t>crossref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Clr>
                <a:srgbClr val="202528"/>
              </a:buClr>
              <a:buFont typeface="Arial"/>
              <a:buChar char="•"/>
            </a:pPr>
            <a:endParaRPr sz="1050">
              <a:latin typeface="Arial"/>
              <a:cs typeface="Arial"/>
            </a:endParaRPr>
          </a:p>
          <a:p>
            <a:pPr lvl="1" marL="1009650" marR="158115" indent="-229235">
              <a:lnSpc>
                <a:spcPct val="126499"/>
              </a:lnSpc>
              <a:buSzPct val="95238"/>
              <a:buFont typeface="Courier New"/>
              <a:buChar char="o"/>
              <a:tabLst>
                <a:tab pos="1009650" algn="l"/>
                <a:tab pos="5480050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Пакет</a:t>
            </a:r>
            <a:r>
              <a:rPr dirty="0" sz="1050" spc="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73E8C"/>
                </a:solidFill>
                <a:latin typeface="Tahoma"/>
                <a:cs typeface="Tahoma"/>
              </a:rPr>
              <a:t>pandoc-</a:t>
            </a:r>
            <a:r>
              <a:rPr dirty="0" baseline="-12345" sz="1350">
                <a:solidFill>
                  <a:srgbClr val="E73E8C"/>
                </a:solidFill>
                <a:latin typeface="Tahoma"/>
                <a:cs typeface="Tahoma"/>
              </a:rPr>
              <a:t>crossref</a:t>
            </a:r>
            <a:r>
              <a:rPr dirty="0" baseline="-12345" sz="1350" spc="89">
                <a:solidFill>
                  <a:srgbClr val="E73E8C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стандартном</a:t>
            </a:r>
            <a:r>
              <a:rPr dirty="0" sz="1050" spc="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репозитории</a:t>
            </a:r>
            <a:r>
              <a:rPr dirty="0" sz="1050" spc="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отсутствует.</a:t>
            </a:r>
            <a:r>
              <a:rPr dirty="0" sz="1050" spc="6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	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Придётся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ставить</a:t>
            </a:r>
            <a:r>
              <a:rPr dirty="0" sz="1050" spc="-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вручную,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скачав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сайта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u="sng" sz="1050" spc="-1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Arial"/>
                <a:cs typeface="Arial"/>
                <a:hlinkClick r:id="rId2"/>
              </a:rPr>
              <a:t>https://github.com/lierdakil/pandoccrossref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  <a:hlinkClick r:id="rId2"/>
              </a:rPr>
              <a:t>.</a:t>
            </a:r>
            <a:r>
              <a:rPr dirty="0" sz="1050" spc="254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 spc="-170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При</a:t>
            </a:r>
            <a:endParaRPr sz="1050">
              <a:latin typeface="Arial"/>
              <a:cs typeface="Arial"/>
            </a:endParaRPr>
          </a:p>
          <a:p>
            <a:pPr marL="1009650" marR="106680">
              <a:lnSpc>
                <a:spcPct val="126499"/>
              </a:lnSpc>
              <a:spcBef>
                <a:spcPts val="335"/>
              </a:spcBef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установке</a:t>
            </a:r>
            <a:r>
              <a:rPr dirty="0" sz="1050" spc="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73E8C"/>
                </a:solidFill>
                <a:latin typeface="Tahoma"/>
                <a:cs typeface="Tahoma"/>
              </a:rPr>
              <a:t>pandoc-crossref</a:t>
            </a:r>
            <a:r>
              <a:rPr dirty="0" sz="900" spc="65">
                <a:solidFill>
                  <a:srgbClr val="E73E8C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следует</a:t>
            </a:r>
            <a:r>
              <a:rPr dirty="0" sz="1050" spc="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обращать</a:t>
            </a:r>
            <a:r>
              <a:rPr dirty="0" sz="1050" spc="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внимание,</a:t>
            </a:r>
            <a:r>
              <a:rPr dirty="0" sz="1050" spc="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для</a:t>
            </a:r>
            <a:r>
              <a:rPr dirty="0" sz="1050" spc="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какой</a:t>
            </a:r>
            <a:r>
              <a:rPr dirty="0" sz="1050" spc="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версии</a:t>
            </a:r>
            <a:r>
              <a:rPr dirty="0" sz="1050" spc="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baseline="-12345" sz="1350">
                <a:solidFill>
                  <a:srgbClr val="E73E8C"/>
                </a:solidFill>
                <a:latin typeface="Tahoma"/>
                <a:cs typeface="Tahoma"/>
              </a:rPr>
              <a:t>pandoc</a:t>
            </a:r>
            <a:r>
              <a:rPr dirty="0" baseline="-12345" sz="1350" spc="82">
                <a:solidFill>
                  <a:srgbClr val="E73E8C"/>
                </a:solidFill>
                <a:latin typeface="Tahoma"/>
                <a:cs typeface="Tahoma"/>
              </a:rPr>
              <a:t> 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он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скомпилён.</a:t>
            </a:r>
            <a:endParaRPr sz="1050">
              <a:latin typeface="Arial"/>
              <a:cs typeface="Arial"/>
            </a:endParaRPr>
          </a:p>
          <a:p>
            <a:pPr marL="532765" indent="-227965">
              <a:lnSpc>
                <a:spcPct val="100000"/>
              </a:lnSpc>
              <a:spcBef>
                <a:spcPts val="290"/>
              </a:spcBef>
              <a:buSzPct val="95238"/>
              <a:buChar char="•"/>
              <a:tabLst>
                <a:tab pos="5327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Лучше</a:t>
            </a:r>
            <a:r>
              <a:rPr dirty="0" sz="1050" spc="9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установить</a:t>
            </a:r>
            <a:r>
              <a:rPr dirty="0" sz="1050" spc="1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73E8C"/>
                </a:solidFill>
                <a:latin typeface="Tahoma"/>
                <a:cs typeface="Tahoma"/>
              </a:rPr>
              <a:t>pandoc</a:t>
            </a:r>
            <a:r>
              <a:rPr dirty="0" sz="900" spc="105">
                <a:solidFill>
                  <a:srgbClr val="E73E8C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</a:t>
            </a:r>
            <a:r>
              <a:rPr dirty="0" sz="1050" spc="10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73E8C"/>
                </a:solidFill>
                <a:latin typeface="Tahoma"/>
                <a:cs typeface="Tahoma"/>
              </a:rPr>
              <a:t>pandoc-crossref</a:t>
            </a:r>
            <a:r>
              <a:rPr dirty="0" sz="900" spc="120">
                <a:solidFill>
                  <a:srgbClr val="E73E8C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вручную.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4"/>
              </a:spcBef>
              <a:buClr>
                <a:srgbClr val="202528"/>
              </a:buClr>
              <a:buFont typeface="Arial"/>
              <a:buChar char="•"/>
            </a:pPr>
            <a:endParaRPr sz="1050">
              <a:latin typeface="Arial"/>
              <a:cs typeface="Arial"/>
            </a:endParaRPr>
          </a:p>
          <a:p>
            <a:pPr lvl="1" marL="1009015" indent="-227965">
              <a:lnSpc>
                <a:spcPct val="100000"/>
              </a:lnSpc>
              <a:buSzPct val="95238"/>
              <a:buFont typeface="Courier New"/>
              <a:buChar char="o"/>
              <a:tabLst>
                <a:tab pos="1009015" algn="l"/>
              </a:tabLst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Скачайте</a:t>
            </a:r>
            <a:r>
              <a:rPr dirty="0" sz="1050" spc="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необходимую</a:t>
            </a:r>
            <a:r>
              <a:rPr dirty="0" sz="1050" spc="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версию</a:t>
            </a:r>
            <a:r>
              <a:rPr dirty="0" sz="1050" spc="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73E8C"/>
                </a:solidFill>
                <a:latin typeface="Tahoma"/>
                <a:cs typeface="Tahoma"/>
              </a:rPr>
              <a:t>pandoc-</a:t>
            </a:r>
            <a:r>
              <a:rPr dirty="0" sz="900" spc="-10">
                <a:solidFill>
                  <a:srgbClr val="E73E8C"/>
                </a:solidFill>
                <a:latin typeface="Tahoma"/>
                <a:cs typeface="Tahoma"/>
              </a:rPr>
              <a:t>crossref</a:t>
            </a:r>
            <a:endParaRPr sz="900">
              <a:latin typeface="Tahoma"/>
              <a:cs typeface="Tahoma"/>
            </a:endParaRPr>
          </a:p>
          <a:p>
            <a:pPr marL="1000125">
              <a:lnSpc>
                <a:spcPct val="100000"/>
              </a:lnSpc>
              <a:spcBef>
                <a:spcPts val="120"/>
              </a:spcBef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  <a:hlinkClick r:id="rId3"/>
              </a:rPr>
              <a:t>(</a:t>
            </a:r>
            <a:r>
              <a:rPr dirty="0" u="sng" sz="1050" spc="-1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Arial"/>
                <a:cs typeface="Arial"/>
                <a:hlinkClick r:id="rId3"/>
              </a:rPr>
              <a:t>https://github.com/lierdakil/pandoccrossref/releases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  <a:hlinkClick r:id="rId3"/>
              </a:rPr>
              <a:t>).</a:t>
            </a:r>
            <a:r>
              <a:rPr dirty="0" sz="1050" spc="145">
                <a:solidFill>
                  <a:srgbClr val="202528"/>
                </a:solidFill>
                <a:latin typeface="Arial"/>
                <a:cs typeface="Arial"/>
              </a:rPr>
              <a:t>  </a:t>
            </a: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  <a:p>
            <a:pPr marL="771525">
              <a:lnSpc>
                <a:spcPct val="100000"/>
              </a:lnSpc>
              <a:spcBef>
                <a:spcPts val="145"/>
              </a:spcBef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Посмотрите, для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какой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версии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откомпилён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73E8C"/>
                </a:solidFill>
                <a:latin typeface="Tahoma"/>
                <a:cs typeface="Tahoma"/>
              </a:rPr>
              <a:t>pandoc-</a:t>
            </a:r>
            <a:r>
              <a:rPr dirty="0" sz="900" spc="-10">
                <a:solidFill>
                  <a:srgbClr val="E73E8C"/>
                </a:solidFill>
                <a:latin typeface="Tahoma"/>
                <a:cs typeface="Tahoma"/>
              </a:rPr>
              <a:t>crossref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 lvl="1" marL="1009015" indent="-227965">
              <a:lnSpc>
                <a:spcPct val="100000"/>
              </a:lnSpc>
              <a:spcBef>
                <a:spcPts val="270"/>
              </a:spcBef>
              <a:buSzPct val="95238"/>
              <a:buFont typeface="Courier New"/>
              <a:buChar char="o"/>
              <a:tabLst>
                <a:tab pos="1009015" algn="l"/>
              </a:tabLst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Скачайте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соответствующую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версию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E73E8C"/>
                </a:solidFill>
                <a:latin typeface="Tahoma"/>
                <a:cs typeface="Tahoma"/>
              </a:rPr>
              <a:t>pandoc</a:t>
            </a:r>
            <a:endParaRPr sz="900">
              <a:latin typeface="Tahoma"/>
              <a:cs typeface="Tahoma"/>
            </a:endParaRPr>
          </a:p>
          <a:p>
            <a:pPr marL="1009650"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  <a:hlinkClick r:id="rId4"/>
              </a:rPr>
              <a:t>(</a:t>
            </a:r>
            <a:r>
              <a:rPr dirty="0" u="sng" sz="1050" spc="-1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Arial"/>
                <a:cs typeface="Arial"/>
                <a:hlinkClick r:id="rId4"/>
              </a:rPr>
              <a:t>https://github.com/jgm/pandoc/releases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  <a:hlinkClick r:id="rId4"/>
              </a:rPr>
              <a:t>).</a:t>
            </a:r>
            <a:endParaRPr sz="1050">
              <a:latin typeface="Arial"/>
              <a:cs typeface="Arial"/>
            </a:endParaRPr>
          </a:p>
          <a:p>
            <a:pPr lvl="1" marL="1009015" indent="-227965">
              <a:lnSpc>
                <a:spcPct val="100000"/>
              </a:lnSpc>
              <a:spcBef>
                <a:spcPts val="775"/>
              </a:spcBef>
              <a:buSzPct val="95238"/>
              <a:buFont typeface="Courier New"/>
              <a:buChar char="o"/>
              <a:tabLst>
                <a:tab pos="1009015" algn="l"/>
              </a:tabLst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Распакуйте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архивы.</a:t>
            </a:r>
            <a:r>
              <a:rPr dirty="0" sz="1050" spc="2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 spc="-170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Обе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программы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собраны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виде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статически-линкованных</a:t>
            </a:r>
            <a:endParaRPr sz="1050">
              <a:latin typeface="Arial"/>
              <a:cs typeface="Arial"/>
            </a:endParaRPr>
          </a:p>
          <a:p>
            <a:pPr marL="1009650">
              <a:lnSpc>
                <a:spcPct val="100000"/>
              </a:lnSpc>
              <a:spcBef>
                <a:spcPts val="1090"/>
              </a:spcBef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бинарных</a:t>
            </a:r>
            <a:r>
              <a:rPr dirty="0" sz="1050" spc="-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файлов.</a:t>
            </a:r>
            <a:r>
              <a:rPr dirty="0" sz="1050" spc="2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 spc="-170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Поместите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их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каталог</a:t>
            </a:r>
            <a:r>
              <a:rPr dirty="0" sz="105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baseline="-12345" sz="1350" spc="-15">
                <a:solidFill>
                  <a:srgbClr val="E73E8C"/>
                </a:solidFill>
                <a:latin typeface="Tahoma"/>
                <a:cs typeface="Tahoma"/>
              </a:rPr>
              <a:t>/usr/local/bin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 marL="76200">
              <a:lnSpc>
                <a:spcPct val="100000"/>
              </a:lnSpc>
              <a:spcBef>
                <a:spcPts val="1160"/>
              </a:spcBef>
            </a:pPr>
            <a:r>
              <a:rPr dirty="0" sz="1200" spc="-10" b="1">
                <a:solidFill>
                  <a:srgbClr val="202528"/>
                </a:solidFill>
                <a:latin typeface="Arial"/>
                <a:cs typeface="Arial"/>
              </a:rPr>
              <a:t>texlive</a:t>
            </a:r>
            <a:endParaRPr sz="1200">
              <a:latin typeface="Arial"/>
              <a:cs typeface="Arial"/>
            </a:endParaRPr>
          </a:p>
          <a:p>
            <a:pPr marL="384175" indent="-79375">
              <a:lnSpc>
                <a:spcPct val="100000"/>
              </a:lnSpc>
              <a:spcBef>
                <a:spcPts val="145"/>
              </a:spcBef>
              <a:buSzPct val="95238"/>
              <a:buChar char="•"/>
              <a:tabLst>
                <a:tab pos="384175" algn="l"/>
              </a:tabLst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Установим</a:t>
            </a:r>
            <a:r>
              <a:rPr dirty="0" sz="1050" spc="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дистрибутив</a:t>
            </a:r>
            <a:r>
              <a:rPr dirty="0" sz="1050" spc="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TeXlive:</a:t>
            </a:r>
            <a:r>
              <a:rPr dirty="0" sz="1050" spc="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sudo</a:t>
            </a:r>
            <a:r>
              <a:rPr dirty="0" sz="1000" spc="-2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dnf</a:t>
            </a:r>
            <a:r>
              <a:rPr dirty="0" sz="1000" spc="-2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02528"/>
                </a:solidFill>
                <a:latin typeface="Tahoma"/>
                <a:cs typeface="Tahoma"/>
              </a:rPr>
              <a:t>-y</a:t>
            </a:r>
            <a:r>
              <a:rPr dirty="0" sz="1000" spc="-2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Tahoma"/>
                <a:cs typeface="Tahoma"/>
              </a:rPr>
              <a:t>install</a:t>
            </a:r>
            <a:endParaRPr sz="1000">
              <a:latin typeface="Tahoma"/>
              <a:cs typeface="Tahoma"/>
            </a:endParaRPr>
          </a:p>
          <a:p>
            <a:pPr marL="533400">
              <a:lnSpc>
                <a:spcPct val="100000"/>
              </a:lnSpc>
              <a:spcBef>
                <a:spcPts val="1250"/>
              </a:spcBef>
            </a:pP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texlive-scheme-</a:t>
            </a:r>
            <a:r>
              <a:rPr dirty="0" sz="1000" spc="-20">
                <a:solidFill>
                  <a:srgbClr val="202528"/>
                </a:solidFill>
                <a:latin typeface="Tahoma"/>
                <a:cs typeface="Tahoma"/>
              </a:rPr>
              <a:t>full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4055" y="697383"/>
            <a:ext cx="278130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Домашнее</a:t>
            </a:r>
            <a:r>
              <a:rPr dirty="0" spc="-150"/>
              <a:t> </a:t>
            </a:r>
            <a:r>
              <a:rPr dirty="0" spc="-10"/>
              <a:t>задание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78205" y="1076950"/>
            <a:ext cx="6002655" cy="142938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78765" marR="55880" indent="-228600">
              <a:lnSpc>
                <a:spcPct val="107600"/>
              </a:lnSpc>
              <a:spcBef>
                <a:spcPts val="75"/>
              </a:spcBef>
              <a:buSzPct val="95238"/>
              <a:buChar char="•"/>
              <a:tabLst>
                <a:tab pos="278765" algn="l"/>
              </a:tabLst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Дождитесь загрузки графического окружения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откройте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терминал.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окне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терминала проанализируйте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последовательность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загрузки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системы,</a:t>
            </a:r>
            <a:r>
              <a:rPr dirty="0" sz="1050" spc="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выполнив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команду</a:t>
            </a:r>
            <a:r>
              <a:rPr dirty="0" sz="1050" spc="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73E8C"/>
                </a:solidFill>
                <a:latin typeface="Tahoma"/>
                <a:cs typeface="Tahoma"/>
              </a:rPr>
              <a:t>dmesg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.</a:t>
            </a:r>
            <a:r>
              <a:rPr dirty="0" sz="1050" spc="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Можно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просто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просмотреть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вывод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этой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команды:</a:t>
            </a:r>
            <a:endParaRPr sz="1050">
              <a:latin typeface="Arial"/>
              <a:cs typeface="Arial"/>
            </a:endParaRPr>
          </a:p>
          <a:p>
            <a:pPr marL="278765" indent="-227965">
              <a:lnSpc>
                <a:spcPct val="100000"/>
              </a:lnSpc>
              <a:spcBef>
                <a:spcPts val="425"/>
              </a:spcBef>
              <a:buFont typeface="Arial"/>
              <a:buChar char="•"/>
              <a:tabLst>
                <a:tab pos="278765" algn="l"/>
              </a:tabLst>
            </a:pP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dmesg</a:t>
            </a:r>
            <a:r>
              <a:rPr dirty="0" sz="1000" spc="3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160">
                <a:solidFill>
                  <a:srgbClr val="202528"/>
                </a:solidFill>
                <a:latin typeface="Tahoma"/>
                <a:cs typeface="Tahoma"/>
              </a:rPr>
              <a:t>|</a:t>
            </a:r>
            <a:r>
              <a:rPr dirty="0" sz="1000" spc="4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Tahoma"/>
                <a:cs typeface="Tahoma"/>
              </a:rPr>
              <a:t>less</a:t>
            </a:r>
            <a:endParaRPr sz="1000">
              <a:latin typeface="Tahoma"/>
              <a:cs typeface="Tahoma"/>
            </a:endParaRPr>
          </a:p>
          <a:p>
            <a:pPr marL="278765" indent="-227965">
              <a:lnSpc>
                <a:spcPct val="100000"/>
              </a:lnSpc>
              <a:spcBef>
                <a:spcPts val="830"/>
              </a:spcBef>
              <a:buSzPct val="95238"/>
              <a:buChar char="•"/>
              <a:tabLst>
                <a:tab pos="2787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Можно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использовать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поиск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помощью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baseline="-12345" sz="1350" spc="-15">
                <a:solidFill>
                  <a:srgbClr val="E73E8C"/>
                </a:solidFill>
                <a:latin typeface="Tahoma"/>
                <a:cs typeface="Tahoma"/>
              </a:rPr>
              <a:t>grep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:</a:t>
            </a:r>
            <a:endParaRPr sz="1050">
              <a:latin typeface="Arial"/>
              <a:cs typeface="Arial"/>
            </a:endParaRPr>
          </a:p>
          <a:p>
            <a:pPr marL="278765" indent="-227965">
              <a:lnSpc>
                <a:spcPct val="100000"/>
              </a:lnSpc>
              <a:spcBef>
                <a:spcPts val="465"/>
              </a:spcBef>
              <a:buFont typeface="Arial"/>
              <a:buChar char="•"/>
              <a:tabLst>
                <a:tab pos="278765" algn="l"/>
              </a:tabLst>
            </a:pP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dmesg</a:t>
            </a:r>
            <a:r>
              <a:rPr dirty="0" sz="1000" spc="1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160">
                <a:solidFill>
                  <a:srgbClr val="202528"/>
                </a:solidFill>
                <a:latin typeface="Tahoma"/>
                <a:cs typeface="Tahoma"/>
              </a:rPr>
              <a:t>|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grep</a:t>
            </a:r>
            <a:r>
              <a:rPr dirty="0" sz="1000" spc="1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02528"/>
                </a:solidFill>
                <a:latin typeface="Tahoma"/>
                <a:cs typeface="Tahoma"/>
              </a:rPr>
              <a:t>-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i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"то,</a:t>
            </a:r>
            <a:r>
              <a:rPr dirty="0" sz="1000" spc="15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02528"/>
                </a:solidFill>
                <a:latin typeface="Tahoma"/>
                <a:cs typeface="Tahoma"/>
              </a:rPr>
              <a:t>что</a:t>
            </a:r>
            <a:r>
              <a:rPr dirty="0" sz="1000" spc="20">
                <a:solidFill>
                  <a:srgbClr val="202528"/>
                </a:solidFill>
                <a:latin typeface="Tahoma"/>
                <a:cs typeface="Tahoma"/>
              </a:rPr>
              <a:t> </a:t>
            </a:r>
            <a:r>
              <a:rPr dirty="0" sz="1000" spc="30">
                <a:solidFill>
                  <a:srgbClr val="202528"/>
                </a:solidFill>
                <a:latin typeface="Tahoma"/>
                <a:cs typeface="Tahoma"/>
              </a:rPr>
              <a:t>ищем"</a:t>
            </a:r>
            <a:endParaRPr sz="1000">
              <a:latin typeface="Tahoma"/>
              <a:cs typeface="Tahoma"/>
            </a:endParaRPr>
          </a:p>
          <a:p>
            <a:pPr marL="278765" indent="-227965">
              <a:lnSpc>
                <a:spcPct val="100000"/>
              </a:lnSpc>
              <a:spcBef>
                <a:spcPts val="365"/>
              </a:spcBef>
              <a:buSzPct val="95238"/>
              <a:buChar char="•"/>
              <a:tabLst>
                <a:tab pos="2787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Получите</a:t>
            </a:r>
            <a:r>
              <a:rPr dirty="0" sz="1050" spc="-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следующую</a:t>
            </a:r>
            <a:r>
              <a:rPr dirty="0" sz="1050" spc="-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информацию.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392555" y="2426046"/>
            <a:ext cx="2702560" cy="527685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  <a:tabLst>
                <a:tab pos="240665" algn="l"/>
              </a:tabLst>
            </a:pP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	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Версия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ядра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Linux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(Linux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version).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715"/>
              </a:spcBef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процессора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(Detected</a:t>
            </a:r>
            <a:r>
              <a:rPr dirty="0" sz="105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Mhz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processor).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293875" y="2426046"/>
            <a:ext cx="525780" cy="5276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6800"/>
              </a:lnSpc>
              <a:spcBef>
                <a:spcPts val="100"/>
              </a:spcBef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Частота Модель</a:t>
            </a:r>
            <a:endParaRPr sz="10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392555" y="2927941"/>
            <a:ext cx="3775075" cy="1292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645795">
              <a:lnSpc>
                <a:spcPct val="156800"/>
              </a:lnSpc>
              <a:spcBef>
                <a:spcPts val="100"/>
              </a:spcBef>
              <a:tabLst>
                <a:tab pos="2014220" algn="l"/>
              </a:tabLst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процессора</a:t>
            </a:r>
            <a:r>
              <a:rPr dirty="0" sz="1050" spc="-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(CPU0).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	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Объём</a:t>
            </a:r>
            <a:r>
              <a:rPr dirty="0" sz="1050" spc="-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доступной оперативной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памяти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(Memory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available).</a:t>
            </a:r>
            <a:endParaRPr sz="1050">
              <a:latin typeface="Arial"/>
              <a:cs typeface="Arial"/>
            </a:endParaRPr>
          </a:p>
          <a:p>
            <a:pPr marL="665480" marR="5080" indent="-653415">
              <a:lnSpc>
                <a:spcPct val="112599"/>
              </a:lnSpc>
              <a:spcBef>
                <a:spcPts val="434"/>
              </a:spcBef>
              <a:tabLst>
                <a:tab pos="240665" algn="l"/>
              </a:tabLst>
            </a:pP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	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Тип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обнаруженного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гипервизора</a:t>
            </a:r>
            <a:r>
              <a:rPr dirty="0" sz="105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(Hypervisor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detected).</a:t>
            </a:r>
            <a:r>
              <a:rPr dirty="0" sz="1050" spc="2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Тип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файловой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системы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корневого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раздела.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Последовательность</a:t>
            </a:r>
            <a:r>
              <a:rPr dirty="0" sz="105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монтирования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файловых</a:t>
            </a:r>
            <a:endParaRPr sz="1050">
              <a:latin typeface="Arial"/>
              <a:cs typeface="Arial"/>
            </a:endParaRPr>
          </a:p>
          <a:p>
            <a:pPr marL="240665">
              <a:lnSpc>
                <a:spcPct val="100000"/>
              </a:lnSpc>
              <a:spcBef>
                <a:spcPts val="75"/>
              </a:spcBef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систем.</a:t>
            </a:r>
            <a:endParaRPr sz="10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7310" rIns="0" bIns="0" rtlCol="0" vert="horz">
            <a:spAutoFit/>
          </a:bodyPr>
          <a:lstStyle/>
          <a:p>
            <a:pPr marL="272415" indent="-255904">
              <a:lnSpc>
                <a:spcPct val="100000"/>
              </a:lnSpc>
              <a:spcBef>
                <a:spcPts val="530"/>
              </a:spcBef>
              <a:buSzPct val="95833"/>
              <a:buAutoNum type="arabicPeriod"/>
              <a:tabLst>
                <a:tab pos="272415" algn="l"/>
              </a:tabLst>
            </a:pPr>
            <a:r>
              <a:rPr dirty="0"/>
              <a:t>Версия</a:t>
            </a:r>
            <a:r>
              <a:rPr dirty="0" spc="-65"/>
              <a:t> </a:t>
            </a:r>
            <a:r>
              <a:rPr dirty="0"/>
              <a:t>ядра</a:t>
            </a:r>
            <a:r>
              <a:rPr dirty="0" spc="-60"/>
              <a:t> </a:t>
            </a:r>
            <a:r>
              <a:rPr dirty="0" spc="-10"/>
              <a:t>Linux</a:t>
            </a: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1000">
                <a:solidFill>
                  <a:srgbClr val="000000"/>
                </a:solidFill>
                <a:latin typeface="Times New Roman"/>
                <a:cs typeface="Times New Roman"/>
              </a:rPr>
              <a:t>dmesg</a:t>
            </a:r>
            <a:r>
              <a:rPr dirty="0" sz="1000" spc="-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Times New Roman"/>
                <a:cs typeface="Times New Roman"/>
              </a:rPr>
              <a:t>|</a:t>
            </a:r>
            <a:r>
              <a:rPr dirty="0" sz="1000" spc="-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Times New Roman"/>
                <a:cs typeface="Times New Roman"/>
              </a:rPr>
              <a:t>grep</a:t>
            </a:r>
            <a:r>
              <a:rPr dirty="0" sz="1000" spc="-1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Times New Roman"/>
                <a:cs typeface="Times New Roman"/>
              </a:rPr>
              <a:t>"Linux</a:t>
            </a:r>
            <a:r>
              <a:rPr dirty="0" sz="1000" spc="-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000000"/>
                </a:solidFill>
                <a:latin typeface="Times New Roman"/>
                <a:cs typeface="Times New Roman"/>
              </a:rPr>
              <a:t>version"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000">
              <a:latin typeface="Times New Roman"/>
              <a:cs typeface="Times New Roman"/>
            </a:endParaRPr>
          </a:p>
          <a:p>
            <a:pPr marL="272415" indent="-255904">
              <a:lnSpc>
                <a:spcPct val="100000"/>
              </a:lnSpc>
              <a:buSzPct val="95833"/>
              <a:buAutoNum type="arabicPeriod" startAt="2"/>
              <a:tabLst>
                <a:tab pos="272415" algn="l"/>
              </a:tabLst>
            </a:pPr>
            <a:r>
              <a:rPr dirty="0"/>
              <a:t>Модель</a:t>
            </a:r>
            <a:r>
              <a:rPr dirty="0" spc="-65"/>
              <a:t> </a:t>
            </a:r>
            <a:r>
              <a:rPr dirty="0"/>
              <a:t>и</a:t>
            </a:r>
            <a:r>
              <a:rPr dirty="0" spc="-65"/>
              <a:t> </a:t>
            </a:r>
            <a:r>
              <a:rPr dirty="0"/>
              <a:t>частота</a:t>
            </a:r>
            <a:r>
              <a:rPr dirty="0" spc="-60"/>
              <a:t> </a:t>
            </a:r>
            <a:r>
              <a:rPr dirty="0" spc="-10"/>
              <a:t>процессора</a:t>
            </a: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1000">
                <a:solidFill>
                  <a:srgbClr val="000000"/>
                </a:solidFill>
                <a:latin typeface="Calibri"/>
                <a:cs typeface="Calibri"/>
              </a:rPr>
              <a:t>Эти</a:t>
            </a:r>
            <a:r>
              <a:rPr dirty="0" sz="1000" spc="3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0000"/>
                </a:solidFill>
                <a:latin typeface="Calibri"/>
                <a:cs typeface="Calibri"/>
              </a:rPr>
              <a:t>данные</a:t>
            </a:r>
            <a:r>
              <a:rPr dirty="0" sz="1000" spc="3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0000"/>
                </a:solidFill>
                <a:latin typeface="Calibri"/>
                <a:cs typeface="Calibri"/>
              </a:rPr>
              <a:t>выводятся</a:t>
            </a:r>
            <a:r>
              <a:rPr dirty="0" sz="1000" spc="3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0000"/>
                </a:solidFill>
                <a:latin typeface="Calibri"/>
                <a:cs typeface="Calibri"/>
              </a:rPr>
              <a:t>одной</a:t>
            </a:r>
            <a:r>
              <a:rPr dirty="0" sz="1000" spc="4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0000"/>
                </a:solidFill>
                <a:latin typeface="Calibri"/>
                <a:cs typeface="Calibri"/>
              </a:rPr>
              <a:t>или</a:t>
            </a:r>
            <a:r>
              <a:rPr dirty="0" sz="1000" spc="3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0000"/>
                </a:solidFill>
                <a:latin typeface="Calibri"/>
                <a:cs typeface="Calibri"/>
              </a:rPr>
              <a:t>соседними</a:t>
            </a:r>
            <a:r>
              <a:rPr dirty="0" sz="1000" spc="3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0000"/>
                </a:solidFill>
                <a:latin typeface="Calibri"/>
                <a:cs typeface="Calibri"/>
              </a:rPr>
              <a:t>строками</a:t>
            </a:r>
            <a:r>
              <a:rPr dirty="0" sz="1000" spc="4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0000"/>
                </a:solidFill>
                <a:latin typeface="Calibri"/>
                <a:cs typeface="Calibri"/>
              </a:rPr>
              <a:t>при</a:t>
            </a:r>
            <a:r>
              <a:rPr dirty="0" sz="1000" spc="3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0000"/>
                </a:solidFill>
                <a:latin typeface="Calibri"/>
                <a:cs typeface="Calibri"/>
              </a:rPr>
              <a:t>инициализации</a:t>
            </a:r>
            <a:r>
              <a:rPr dirty="0" sz="1000" spc="3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000000"/>
                </a:solidFill>
                <a:latin typeface="Calibri"/>
                <a:cs typeface="Calibri"/>
              </a:rPr>
              <a:t>CPU:</a:t>
            </a:r>
            <a:endParaRPr sz="1000">
              <a:latin typeface="Calibri"/>
              <a:cs typeface="Calibri"/>
            </a:endParaRPr>
          </a:p>
          <a:p>
            <a:pPr marL="19050">
              <a:lnSpc>
                <a:spcPct val="100000"/>
              </a:lnSpc>
              <a:spcBef>
                <a:spcPts val="745"/>
              </a:spcBef>
            </a:pPr>
            <a:r>
              <a:rPr dirty="0" sz="1000">
                <a:solidFill>
                  <a:srgbClr val="000000"/>
                </a:solidFill>
                <a:latin typeface="Times New Roman"/>
                <a:cs typeface="Times New Roman"/>
              </a:rPr>
              <a:t>dmesg</a:t>
            </a:r>
            <a:r>
              <a:rPr dirty="0" sz="1000" spc="-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Times New Roman"/>
                <a:cs typeface="Times New Roman"/>
              </a:rPr>
              <a:t>|</a:t>
            </a:r>
            <a:r>
              <a:rPr dirty="0" sz="1000" spc="-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Times New Roman"/>
                <a:cs typeface="Times New Roman"/>
              </a:rPr>
              <a:t>grep</a:t>
            </a:r>
            <a:r>
              <a:rPr dirty="0" sz="1000" spc="-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000000"/>
                </a:solidFill>
                <a:latin typeface="Times New Roman"/>
                <a:cs typeface="Times New Roman"/>
              </a:rPr>
              <a:t>-</a:t>
            </a:r>
            <a:r>
              <a:rPr dirty="0" sz="100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dirty="0" sz="1000" spc="-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Times New Roman"/>
                <a:cs typeface="Times New Roman"/>
              </a:rPr>
              <a:t>"CPU0"</a:t>
            </a:r>
            <a:r>
              <a:rPr dirty="0" sz="1000" spc="25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Times New Roman"/>
                <a:cs typeface="Times New Roman"/>
              </a:rPr>
              <a:t>#</a:t>
            </a:r>
            <a:r>
              <a:rPr dirty="0" sz="1000" spc="-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Times New Roman"/>
                <a:cs typeface="Times New Roman"/>
              </a:rPr>
              <a:t>Или</a:t>
            </a:r>
            <a:r>
              <a:rPr dirty="0" sz="1000" spc="-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Times New Roman"/>
                <a:cs typeface="Times New Roman"/>
              </a:rPr>
              <a:t>для</a:t>
            </a:r>
            <a:r>
              <a:rPr dirty="0" sz="1000" spc="-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Times New Roman"/>
                <a:cs typeface="Times New Roman"/>
              </a:rPr>
              <a:t>поиска</a:t>
            </a:r>
            <a:r>
              <a:rPr dirty="0" sz="1000" spc="-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Times New Roman"/>
                <a:cs typeface="Times New Roman"/>
              </a:rPr>
              <a:t>частоты:</a:t>
            </a:r>
            <a:r>
              <a:rPr dirty="0" sz="1000" spc="24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Times New Roman"/>
                <a:cs typeface="Times New Roman"/>
              </a:rPr>
              <a:t>dmesg</a:t>
            </a:r>
            <a:r>
              <a:rPr dirty="0" sz="1000" spc="-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Times New Roman"/>
                <a:cs typeface="Times New Roman"/>
              </a:rPr>
              <a:t>|</a:t>
            </a:r>
            <a:r>
              <a:rPr dirty="0" sz="1000" spc="-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Times New Roman"/>
                <a:cs typeface="Times New Roman"/>
              </a:rPr>
              <a:t>grep</a:t>
            </a:r>
            <a:r>
              <a:rPr dirty="0" sz="1000" spc="-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000000"/>
                </a:solidFill>
                <a:latin typeface="Times New Roman"/>
                <a:cs typeface="Times New Roman"/>
              </a:rPr>
              <a:t>-</a:t>
            </a:r>
            <a:r>
              <a:rPr dirty="0" sz="100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dirty="0" sz="1000" spc="-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000000"/>
                </a:solidFill>
                <a:latin typeface="Times New Roman"/>
                <a:cs typeface="Times New Roman"/>
              </a:rPr>
              <a:t>"MHz"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000">
              <a:latin typeface="Times New Roman"/>
              <a:cs typeface="Times New Roman"/>
            </a:endParaRPr>
          </a:p>
          <a:p>
            <a:pPr marL="272415" indent="-255904">
              <a:lnSpc>
                <a:spcPct val="100000"/>
              </a:lnSpc>
              <a:buSzPct val="95833"/>
              <a:buAutoNum type="arabicPeriod" startAt="3"/>
              <a:tabLst>
                <a:tab pos="272415" algn="l"/>
              </a:tabLst>
            </a:pPr>
            <a:r>
              <a:rPr dirty="0"/>
              <a:t>Объём</a:t>
            </a:r>
            <a:r>
              <a:rPr dirty="0" spc="-100"/>
              <a:t> </a:t>
            </a:r>
            <a:r>
              <a:rPr dirty="0"/>
              <a:t>доступной</a:t>
            </a:r>
            <a:r>
              <a:rPr dirty="0" spc="-95"/>
              <a:t> </a:t>
            </a:r>
            <a:r>
              <a:rPr dirty="0"/>
              <a:t>оперативной</a:t>
            </a:r>
            <a:r>
              <a:rPr dirty="0" spc="-100"/>
              <a:t> </a:t>
            </a:r>
            <a:r>
              <a:rPr dirty="0" spc="-10"/>
              <a:t>памяти</a:t>
            </a:r>
          </a:p>
          <a:p>
            <a:pPr marL="278765" indent="-255904">
              <a:lnSpc>
                <a:spcPct val="100000"/>
              </a:lnSpc>
              <a:spcBef>
                <a:spcPts val="100"/>
              </a:spcBef>
              <a:buSzPct val="95833"/>
              <a:buAutoNum type="arabicPeriod" startAt="3"/>
              <a:tabLst>
                <a:tab pos="278765" algn="l"/>
              </a:tabLst>
            </a:pPr>
            <a:r>
              <a:rPr dirty="0"/>
              <a:t>Тип</a:t>
            </a:r>
            <a:r>
              <a:rPr dirty="0" spc="-85"/>
              <a:t> </a:t>
            </a:r>
            <a:r>
              <a:rPr dirty="0"/>
              <a:t>обнаруженного</a:t>
            </a:r>
            <a:r>
              <a:rPr dirty="0" spc="-80"/>
              <a:t> </a:t>
            </a:r>
            <a:r>
              <a:rPr dirty="0" spc="-10"/>
              <a:t>гипервизора</a:t>
            </a: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1000">
                <a:solidFill>
                  <a:srgbClr val="000000"/>
                </a:solidFill>
                <a:latin typeface="Times New Roman"/>
                <a:cs typeface="Times New Roman"/>
              </a:rPr>
              <a:t>dmesg</a:t>
            </a:r>
            <a:r>
              <a:rPr dirty="0" sz="1000" spc="-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Times New Roman"/>
                <a:cs typeface="Times New Roman"/>
              </a:rPr>
              <a:t>|</a:t>
            </a:r>
            <a:r>
              <a:rPr dirty="0" sz="1000" spc="-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Times New Roman"/>
                <a:cs typeface="Times New Roman"/>
              </a:rPr>
              <a:t>grep</a:t>
            </a:r>
            <a:r>
              <a:rPr dirty="0" sz="1000" spc="-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000000"/>
                </a:solidFill>
                <a:latin typeface="Times New Roman"/>
                <a:cs typeface="Times New Roman"/>
              </a:rPr>
              <a:t>-</a:t>
            </a:r>
            <a:r>
              <a:rPr dirty="0" sz="100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dirty="0" sz="1000" spc="-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Times New Roman"/>
                <a:cs typeface="Times New Roman"/>
              </a:rPr>
              <a:t>"Memory:"</a:t>
            </a:r>
            <a:r>
              <a:rPr dirty="0" sz="1000" spc="24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Times New Roman"/>
                <a:cs typeface="Times New Roman"/>
              </a:rPr>
              <a:t>dmesg</a:t>
            </a:r>
            <a:r>
              <a:rPr dirty="0" sz="1000" spc="-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 spc="-50">
                <a:solidFill>
                  <a:srgbClr val="000000"/>
                </a:solidFill>
                <a:latin typeface="Times New Roman"/>
                <a:cs typeface="Times New Roman"/>
              </a:rPr>
              <a:t>|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000">
              <a:latin typeface="Times New Roman"/>
              <a:cs typeface="Times New Roman"/>
            </a:endParaRPr>
          </a:p>
          <a:p>
            <a:pPr marL="19050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solidFill>
                  <a:srgbClr val="000000"/>
                </a:solidFill>
                <a:latin typeface="Times New Roman"/>
                <a:cs typeface="Times New Roman"/>
              </a:rPr>
              <a:t>grep</a:t>
            </a:r>
            <a:r>
              <a:rPr dirty="0" sz="1000" spc="-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000000"/>
                </a:solidFill>
                <a:latin typeface="Times New Roman"/>
                <a:cs typeface="Times New Roman"/>
              </a:rPr>
              <a:t>-</a:t>
            </a:r>
            <a:r>
              <a:rPr dirty="0" sz="100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dirty="0" sz="1000" spc="-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Times New Roman"/>
                <a:cs typeface="Times New Roman"/>
              </a:rPr>
              <a:t>"Hypervisor</a:t>
            </a:r>
            <a:r>
              <a:rPr dirty="0" sz="1000" spc="-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000000"/>
                </a:solidFill>
                <a:latin typeface="Times New Roman"/>
                <a:cs typeface="Times New Roman"/>
              </a:rPr>
              <a:t>detected"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000">
              <a:latin typeface="Times New Roman"/>
              <a:cs typeface="Times New Roman"/>
            </a:endParaRPr>
          </a:p>
          <a:p>
            <a:pPr marL="25400" marR="441959" indent="-8890">
              <a:lnSpc>
                <a:spcPct val="103400"/>
              </a:lnSpc>
              <a:buSzPct val="95833"/>
              <a:buAutoNum type="arabicPeriod" startAt="5"/>
              <a:tabLst>
                <a:tab pos="25400" algn="l"/>
                <a:tab pos="272415" algn="l"/>
                <a:tab pos="963294" algn="l"/>
                <a:tab pos="1367155" algn="l"/>
                <a:tab pos="1706880" algn="l"/>
                <a:tab pos="2571750" algn="l"/>
                <a:tab pos="3953510" algn="l"/>
              </a:tabLst>
            </a:pPr>
            <a:r>
              <a:rPr dirty="0" spc="-25"/>
              <a:t>	</a:t>
            </a:r>
            <a:r>
              <a:rPr dirty="0" spc="-25"/>
              <a:t>Тип</a:t>
            </a:r>
            <a:r>
              <a:rPr dirty="0"/>
              <a:t>	</a:t>
            </a:r>
            <a:r>
              <a:rPr dirty="0" spc="-10"/>
              <a:t>файловой</a:t>
            </a:r>
            <a:r>
              <a:rPr dirty="0"/>
              <a:t>	</a:t>
            </a:r>
            <a:r>
              <a:rPr dirty="0" spc="-10"/>
              <a:t>системы</a:t>
            </a:r>
            <a:r>
              <a:rPr dirty="0"/>
              <a:t>	</a:t>
            </a:r>
            <a:r>
              <a:rPr dirty="0" spc="-10"/>
              <a:t>корневого раздела</a:t>
            </a:r>
            <a:r>
              <a:rPr dirty="0"/>
              <a:t>	</a:t>
            </a:r>
            <a:r>
              <a:rPr dirty="0" spc="-50"/>
              <a:t>и</a:t>
            </a:r>
            <a:r>
              <a:rPr dirty="0"/>
              <a:t>	</a:t>
            </a:r>
            <a:r>
              <a:rPr dirty="0" spc="-10"/>
              <a:t>последовательность монтирования</a:t>
            </a:r>
          </a:p>
          <a:p>
            <a:pPr marL="19050" marR="1323975" indent="-6350">
              <a:lnSpc>
                <a:spcPct val="109100"/>
              </a:lnSpc>
              <a:spcBef>
                <a:spcPts val="440"/>
              </a:spcBef>
            </a:pPr>
            <a:r>
              <a:rPr dirty="0" sz="1000" spc="-10">
                <a:solidFill>
                  <a:srgbClr val="000000"/>
                </a:solidFill>
                <a:latin typeface="Calibri"/>
                <a:cs typeface="Calibri"/>
              </a:rPr>
              <a:t>Процесс</a:t>
            </a:r>
            <a:r>
              <a:rPr dirty="0" sz="1000" spc="-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0000"/>
                </a:solidFill>
                <a:latin typeface="Calibri"/>
                <a:cs typeface="Calibri"/>
              </a:rPr>
              <a:t>монтирования</a:t>
            </a:r>
            <a:r>
              <a:rPr dirty="0" sz="1000" spc="-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0000"/>
                </a:solidFill>
                <a:latin typeface="Calibri"/>
                <a:cs typeface="Calibri"/>
              </a:rPr>
              <a:t>можно</a:t>
            </a:r>
            <a:r>
              <a:rPr dirty="0" sz="1000" spc="-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000000"/>
                </a:solidFill>
                <a:latin typeface="Calibri"/>
                <a:cs typeface="Calibri"/>
              </a:rPr>
              <a:t>отследить</a:t>
            </a:r>
            <a:r>
              <a:rPr dirty="0" sz="1000" spc="-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0000"/>
                </a:solidFill>
                <a:latin typeface="Calibri"/>
                <a:cs typeface="Calibri"/>
              </a:rPr>
              <a:t>по</a:t>
            </a:r>
            <a:r>
              <a:rPr dirty="0" sz="1000" spc="-10">
                <a:solidFill>
                  <a:srgbClr val="000000"/>
                </a:solidFill>
                <a:latin typeface="Calibri"/>
                <a:cs typeface="Calibri"/>
              </a:rPr>
              <a:t> ключевому</a:t>
            </a:r>
            <a:r>
              <a:rPr dirty="0" sz="1000" spc="-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0000"/>
                </a:solidFill>
                <a:latin typeface="Calibri"/>
                <a:cs typeface="Calibri"/>
              </a:rPr>
              <a:t>слову</a:t>
            </a:r>
            <a:r>
              <a:rPr dirty="0" sz="1000" spc="-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0000"/>
                </a:solidFill>
                <a:latin typeface="Calibri"/>
                <a:cs typeface="Calibri"/>
              </a:rPr>
              <a:t>"Mounting":</a:t>
            </a:r>
            <a:r>
              <a:rPr dirty="0" sz="1000" spc="1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0000"/>
                </a:solidFill>
                <a:latin typeface="Times New Roman"/>
                <a:cs typeface="Times New Roman"/>
              </a:rPr>
              <a:t>dmesg</a:t>
            </a:r>
            <a:r>
              <a:rPr dirty="0" sz="1000" spc="-1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 spc="-50">
                <a:solidFill>
                  <a:srgbClr val="000000"/>
                </a:solidFill>
                <a:latin typeface="Times New Roman"/>
                <a:cs typeface="Times New Roman"/>
              </a:rPr>
              <a:t>|</a:t>
            </a:r>
            <a:r>
              <a:rPr dirty="0" sz="1000">
                <a:solidFill>
                  <a:srgbClr val="000000"/>
                </a:solidFill>
                <a:latin typeface="Times New Roman"/>
                <a:cs typeface="Times New Roman"/>
              </a:rPr>
              <a:t> grep</a:t>
            </a:r>
            <a:r>
              <a:rPr dirty="0" sz="1000" spc="-10">
                <a:solidFill>
                  <a:srgbClr val="000000"/>
                </a:solidFill>
                <a:latin typeface="Times New Roman"/>
                <a:cs typeface="Times New Roman"/>
              </a:rPr>
              <a:t> -</a:t>
            </a:r>
            <a:r>
              <a:rPr dirty="0" sz="100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dirty="0" sz="1000" spc="-10">
                <a:solidFill>
                  <a:srgbClr val="000000"/>
                </a:solidFill>
                <a:latin typeface="Times New Roman"/>
                <a:cs typeface="Times New Roman"/>
              </a:rPr>
              <a:t> "Mounting"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87705" y="681218"/>
            <a:ext cx="3952240" cy="383540"/>
          </a:xfrm>
          <a:prstGeom prst="rect">
            <a:avLst/>
          </a:prstGeom>
        </p:spPr>
        <p:txBody>
          <a:bodyPr wrap="square" lIns="0" tIns="393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dirty="0" sz="1000">
                <a:latin typeface="Times New Roman"/>
                <a:cs typeface="Times New Roman"/>
              </a:rPr>
              <a:t>#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Или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посмотреть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конкретно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тип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корневой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ФС: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dirty="0" sz="1000">
                <a:latin typeface="Times New Roman"/>
                <a:cs typeface="Times New Roman"/>
              </a:rPr>
              <a:t>dmesg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|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grep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"EXT4-</a:t>
            </a:r>
            <a:r>
              <a:rPr dirty="0" sz="1000">
                <a:latin typeface="Times New Roman"/>
                <a:cs typeface="Times New Roman"/>
              </a:rPr>
              <a:t>fs"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#</a:t>
            </a:r>
            <a:r>
              <a:rPr dirty="0" sz="1000" spc="-10">
                <a:latin typeface="Times New Roman"/>
                <a:cs typeface="Times New Roman"/>
              </a:rPr>
              <a:t> (замените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на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xfs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или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btrfs,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если</a:t>
            </a:r>
            <a:r>
              <a:rPr dirty="0" sz="1000" spc="-10">
                <a:latin typeface="Times New Roman"/>
                <a:cs typeface="Times New Roman"/>
              </a:rPr>
              <a:t> используете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их)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06120" y="1538894"/>
            <a:ext cx="5911850" cy="2576195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2400" spc="-210" b="1">
                <a:solidFill>
                  <a:srgbClr val="202528"/>
                </a:solidFill>
                <a:latin typeface="Arial"/>
                <a:cs typeface="Arial"/>
              </a:rPr>
              <a:t>Контрольные</a:t>
            </a:r>
            <a:r>
              <a:rPr dirty="0" sz="2400" spc="-60" b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2400" spc="-100" b="1">
                <a:solidFill>
                  <a:srgbClr val="202528"/>
                </a:solidFill>
                <a:latin typeface="Arial"/>
                <a:cs typeface="Arial"/>
              </a:rPr>
              <a:t>вопросы</a:t>
            </a:r>
            <a:endParaRPr sz="2400">
              <a:latin typeface="Arial"/>
              <a:cs typeface="Arial"/>
            </a:endParaRPr>
          </a:p>
          <a:p>
            <a:pPr marL="460375" indent="-228600">
              <a:lnSpc>
                <a:spcPct val="100000"/>
              </a:lnSpc>
              <a:spcBef>
                <a:spcPts val="345"/>
              </a:spcBef>
              <a:buAutoNum type="arabicPeriod"/>
              <a:tabLst>
                <a:tab pos="46037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Какую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информацию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содержит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учётная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запись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пользователя?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70"/>
              </a:spcBef>
              <a:buClr>
                <a:srgbClr val="202528"/>
              </a:buClr>
              <a:buFont typeface="Calibri"/>
              <a:buAutoNum type="arabicPeriod"/>
            </a:pPr>
            <a:endParaRPr sz="1050">
              <a:latin typeface="Calibri"/>
              <a:cs typeface="Calibri"/>
            </a:endParaRPr>
          </a:p>
          <a:p>
            <a:pPr lvl="1" marL="927100" marR="387985" indent="-228600">
              <a:lnSpc>
                <a:spcPct val="112300"/>
              </a:lnSpc>
              <a:buFont typeface="Arial"/>
              <a:buChar char="•"/>
              <a:tabLst>
                <a:tab pos="927100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Учётная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запись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(аккаунт)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содержит данные,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необходимые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для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идентификации </a:t>
            </a:r>
            <a:r>
              <a:rPr dirty="0" sz="1050" spc="-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авторизации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пользователя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системе:</a:t>
            </a:r>
            <a:endParaRPr sz="1050">
              <a:latin typeface="Calibri"/>
              <a:cs typeface="Calibri"/>
            </a:endParaRPr>
          </a:p>
          <a:p>
            <a:pPr lvl="1" marL="927100" indent="-228600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92710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Имя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пользователя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(Login):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уникальный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строковый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идентификатор.</a:t>
            </a:r>
            <a:endParaRPr sz="1050">
              <a:latin typeface="Calibri"/>
              <a:cs typeface="Calibri"/>
            </a:endParaRPr>
          </a:p>
          <a:p>
            <a:pPr lvl="1" marL="927100" indent="-228600">
              <a:lnSpc>
                <a:spcPct val="100000"/>
              </a:lnSpc>
              <a:spcBef>
                <a:spcPts val="170"/>
              </a:spcBef>
              <a:buFont typeface="Arial"/>
              <a:buChar char="•"/>
              <a:tabLst>
                <a:tab pos="927100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Идентификатор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пользователя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(UID): числовой код в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системе.</a:t>
            </a:r>
            <a:endParaRPr sz="1050">
              <a:latin typeface="Calibri"/>
              <a:cs typeface="Calibri"/>
            </a:endParaRPr>
          </a:p>
          <a:p>
            <a:pPr lvl="1" marL="927100" indent="-228600">
              <a:lnSpc>
                <a:spcPct val="100000"/>
              </a:lnSpc>
              <a:spcBef>
                <a:spcPts val="170"/>
              </a:spcBef>
              <a:buFont typeface="Arial"/>
              <a:buChar char="•"/>
              <a:tabLst>
                <a:tab pos="927100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Идентификатор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основной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группы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(GID):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группа,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которой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приписан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пользователь.</a:t>
            </a:r>
            <a:endParaRPr sz="1050">
              <a:latin typeface="Calibri"/>
              <a:cs typeface="Calibri"/>
            </a:endParaRPr>
          </a:p>
          <a:p>
            <a:pPr lvl="1" marL="927100" indent="-228600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92710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Пароль: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зашифрованном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виде (обычно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файле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/etc/shadow).</a:t>
            </a:r>
            <a:endParaRPr sz="1050">
              <a:latin typeface="Calibri"/>
              <a:cs typeface="Calibri"/>
            </a:endParaRPr>
          </a:p>
          <a:p>
            <a:pPr lvl="1" marL="927100" indent="-228600">
              <a:lnSpc>
                <a:spcPct val="100000"/>
              </a:lnSpc>
              <a:spcBef>
                <a:spcPts val="170"/>
              </a:spcBef>
              <a:buFont typeface="Arial"/>
              <a:buChar char="•"/>
              <a:tabLst>
                <a:tab pos="92710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Домашний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каталог: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путь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папке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пользователя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(например,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/home/user).</a:t>
            </a:r>
            <a:endParaRPr sz="1050">
              <a:latin typeface="Calibri"/>
              <a:cs typeface="Calibri"/>
            </a:endParaRPr>
          </a:p>
          <a:p>
            <a:pPr lvl="1" marL="927100" indent="-228600">
              <a:lnSpc>
                <a:spcPct val="100000"/>
              </a:lnSpc>
              <a:spcBef>
                <a:spcPts val="170"/>
              </a:spcBef>
              <a:buFont typeface="Arial"/>
              <a:buChar char="•"/>
              <a:tabLst>
                <a:tab pos="92710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Командная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оболочка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(Shell):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программа,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запускаемая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входе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(например,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/bin/bash).</a:t>
            </a:r>
            <a:endParaRPr sz="1050">
              <a:latin typeface="Calibri"/>
              <a:cs typeface="Calibri"/>
            </a:endParaRPr>
          </a:p>
          <a:p>
            <a:pPr lvl="1" marL="927100" indent="-228600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92710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Комментарий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(GECOS):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полное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имя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или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контактные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данные.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25830" y="4659172"/>
            <a:ext cx="5928360" cy="4997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Укажите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команды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терминала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приведите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примеры: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5"/>
              </a:spcBef>
              <a:buClr>
                <a:srgbClr val="202528"/>
              </a:buClr>
              <a:buFont typeface="Calibri"/>
              <a:buAutoNum type="arabicPeriod" startAt="2"/>
            </a:pPr>
            <a:endParaRPr sz="1050">
              <a:latin typeface="Calibri"/>
              <a:cs typeface="Calibri"/>
            </a:endParaRPr>
          </a:p>
          <a:p>
            <a:pPr lvl="1"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Справка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команде:</a:t>
            </a:r>
            <a:endParaRPr sz="1050">
              <a:latin typeface="Calibri"/>
              <a:cs typeface="Calibri"/>
            </a:endParaRPr>
          </a:p>
          <a:p>
            <a:pPr lvl="2" marL="708025" marR="154940" indent="-228600">
              <a:lnSpc>
                <a:spcPts val="2920"/>
              </a:lnSpc>
              <a:spcBef>
                <a:spcPts val="180"/>
              </a:spcBef>
              <a:buFont typeface="Courier New"/>
              <a:buChar char="o"/>
              <a:tabLst>
                <a:tab pos="70802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man</a:t>
            </a:r>
            <a:r>
              <a:rPr dirty="0" sz="1050" spc="-4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&lt;команда&gt;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(подробное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руководство)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—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пример: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man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ls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50" spc="-340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&lt;команда&gt;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--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help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(краткая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справка)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—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пример: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mkdir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--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help</a:t>
            </a:r>
            <a:endParaRPr sz="1050">
              <a:latin typeface="Calibri"/>
              <a:cs typeface="Calibri"/>
            </a:endParaRPr>
          </a:p>
          <a:p>
            <a:pPr lvl="1" marL="240665" indent="-227965">
              <a:lnSpc>
                <a:spcPct val="100000"/>
              </a:lnSpc>
              <a:spcBef>
                <a:spcPts val="122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Перемещение</a:t>
            </a:r>
            <a:r>
              <a:rPr dirty="0" sz="1050" spc="-4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файловой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системе: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50" spc="-340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cd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&lt;путь&gt;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—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пример: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cd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/var/log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(перейти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каталог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log),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cd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..</a:t>
            </a:r>
            <a:endParaRPr sz="10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70"/>
              </a:spcBef>
              <a:buClr>
                <a:srgbClr val="202528"/>
              </a:buClr>
              <a:buFont typeface="Arial"/>
              <a:buChar char="•"/>
            </a:pPr>
            <a:endParaRPr sz="105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(на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уровень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выше)</a:t>
            </a:r>
            <a:endParaRPr sz="1050">
              <a:latin typeface="Calibri"/>
              <a:cs typeface="Calibri"/>
            </a:endParaRPr>
          </a:p>
          <a:p>
            <a:pPr lvl="1" marL="241300" marR="308610" indent="-228600">
              <a:lnSpc>
                <a:spcPts val="2910"/>
              </a:lnSpc>
              <a:spcBef>
                <a:spcPts val="32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Просмотр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содержимого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каталога: </a:t>
            </a:r>
            <a:r>
              <a:rPr dirty="0" sz="10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50" spc="-340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ls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—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пример: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ls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-la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(показать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все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файлы,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включая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скрытые, длинным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списком)</a:t>
            </a:r>
            <a:endParaRPr sz="1050">
              <a:latin typeface="Calibri"/>
              <a:cs typeface="Calibri"/>
            </a:endParaRPr>
          </a:p>
          <a:p>
            <a:pPr lvl="1" marL="240665" indent="-227965">
              <a:lnSpc>
                <a:spcPct val="100000"/>
              </a:lnSpc>
              <a:spcBef>
                <a:spcPts val="122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Определение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объёма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каталога:</a:t>
            </a:r>
            <a:endParaRPr sz="10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65"/>
              </a:spcBef>
              <a:buClr>
                <a:srgbClr val="202528"/>
              </a:buClr>
              <a:buFont typeface="Arial"/>
              <a:buChar char="•"/>
            </a:pPr>
            <a:endParaRPr sz="1050">
              <a:latin typeface="Calibri"/>
              <a:cs typeface="Calibri"/>
            </a:endParaRPr>
          </a:p>
          <a:p>
            <a:pPr lvl="2" marL="707390" indent="-227965">
              <a:lnSpc>
                <a:spcPct val="100000"/>
              </a:lnSpc>
              <a:buFont typeface="Courier New"/>
              <a:buChar char="o"/>
              <a:tabLst>
                <a:tab pos="70739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du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—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пример: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du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-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sh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/home/user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(вывести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суммарный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размер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endParaRPr sz="1050">
              <a:latin typeface="Calibri"/>
              <a:cs typeface="Calibri"/>
            </a:endParaRPr>
          </a:p>
          <a:p>
            <a:pPr algn="r" marR="3413125">
              <a:lnSpc>
                <a:spcPct val="100000"/>
              </a:lnSpc>
              <a:spcBef>
                <a:spcPts val="555"/>
              </a:spcBef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«человекочитаемом»</a:t>
            </a:r>
            <a:r>
              <a:rPr dirty="0" sz="1050" spc="9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формате)</a:t>
            </a:r>
            <a:endParaRPr sz="1050">
              <a:latin typeface="Calibri"/>
              <a:cs typeface="Calibri"/>
            </a:endParaRPr>
          </a:p>
          <a:p>
            <a:pPr algn="r" lvl="1" marL="227965" marR="3361054" indent="-227965">
              <a:lnSpc>
                <a:spcPct val="100000"/>
              </a:lnSpc>
              <a:spcBef>
                <a:spcPts val="170"/>
              </a:spcBef>
              <a:buFont typeface="Arial"/>
              <a:buChar char="•"/>
              <a:tabLst>
                <a:tab pos="22796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Создание/удаление</a:t>
            </a:r>
            <a:r>
              <a:rPr dirty="0" sz="1050" spc="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каталогов</a:t>
            </a:r>
            <a:r>
              <a:rPr dirty="0" sz="1050" spc="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файлов:</a:t>
            </a:r>
            <a:endParaRPr sz="1050">
              <a:latin typeface="Calibri"/>
              <a:cs typeface="Calibri"/>
            </a:endParaRPr>
          </a:p>
          <a:p>
            <a:pPr lvl="2" marL="708025" marR="5715" indent="-228600">
              <a:lnSpc>
                <a:spcPts val="2920"/>
              </a:lnSpc>
              <a:buFont typeface="Courier New"/>
              <a:buChar char="o"/>
              <a:tabLst>
                <a:tab pos="70802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mkdir</a:t>
            </a:r>
            <a:r>
              <a:rPr dirty="0" sz="1050" spc="-4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—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пример: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mkdir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new_folder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(создать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папку)</a:t>
            </a:r>
            <a:r>
              <a:rPr dirty="0" sz="1050" spc="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50" spc="-340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touch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—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пример: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touch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file.txt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(создать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пустой</a:t>
            </a:r>
            <a:r>
              <a:rPr dirty="0" sz="1050" spc="-5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файл)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50" spc="-340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rm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—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пример: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rm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file.txt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(удалить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файл),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rm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-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r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folder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(рекурсивно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удалить папку)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25830" y="709904"/>
            <a:ext cx="5705475" cy="1236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Задание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прав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файл/каталог: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5"/>
              </a:spcBef>
              <a:buClr>
                <a:srgbClr val="202528"/>
              </a:buClr>
              <a:buFont typeface="Arial"/>
              <a:buChar char="•"/>
            </a:pPr>
            <a:endParaRPr sz="1050">
              <a:latin typeface="Calibri"/>
              <a:cs typeface="Calibri"/>
            </a:endParaRPr>
          </a:p>
          <a:p>
            <a:pPr lvl="1" marL="707390" indent="-227965">
              <a:lnSpc>
                <a:spcPct val="100000"/>
              </a:lnSpc>
              <a:buFont typeface="Courier New"/>
              <a:buChar char="o"/>
              <a:tabLst>
                <a:tab pos="70739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chmod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—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пример: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chmod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755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script.sh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(владельцу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—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всё,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остальным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—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чтение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запуск)</a:t>
            </a:r>
            <a:endParaRPr sz="10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95"/>
              </a:spcBef>
              <a:buClr>
                <a:srgbClr val="202528"/>
              </a:buClr>
              <a:buFont typeface="Courier New"/>
              <a:buChar char="o"/>
            </a:pPr>
            <a:endParaRPr sz="10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Просмотр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истории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команд: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0"/>
              </a:spcBef>
              <a:buClr>
                <a:srgbClr val="202528"/>
              </a:buClr>
              <a:buFont typeface="Arial"/>
              <a:buChar char="•"/>
            </a:pPr>
            <a:endParaRPr sz="1050">
              <a:latin typeface="Calibri"/>
              <a:cs typeface="Calibri"/>
            </a:endParaRPr>
          </a:p>
          <a:p>
            <a:pPr lvl="1" marL="707390" indent="-227965">
              <a:lnSpc>
                <a:spcPct val="100000"/>
              </a:lnSpc>
              <a:buFont typeface="Courier New"/>
              <a:buChar char="o"/>
              <a:tabLst>
                <a:tab pos="70739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history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—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пример: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history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10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(показать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последние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10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введенных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команд)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06119" y="2442849"/>
            <a:ext cx="6156960" cy="220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8300" indent="-136525">
              <a:lnSpc>
                <a:spcPct val="100000"/>
              </a:lnSpc>
              <a:spcBef>
                <a:spcPts val="100"/>
              </a:spcBef>
              <a:buAutoNum type="arabicPeriod" startAt="3"/>
              <a:tabLst>
                <a:tab pos="36830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Что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такое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файловая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система?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Приведите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примеры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краткой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характеристикой.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Clr>
                <a:srgbClr val="202528"/>
              </a:buClr>
              <a:buFont typeface="Calibri"/>
              <a:buAutoNum type="arabicPeriod" startAt="3"/>
            </a:pPr>
            <a:endParaRPr sz="1050">
              <a:latin typeface="Calibri"/>
              <a:cs typeface="Calibri"/>
            </a:endParaRPr>
          </a:p>
          <a:p>
            <a:pPr marL="19050" marR="26034" indent="-6350">
              <a:lnSpc>
                <a:spcPct val="142000"/>
              </a:lnSpc>
              <a:spcBef>
                <a:spcPts val="5"/>
              </a:spcBef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Файловая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система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—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это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порядок,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определяющий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способ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организации,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хранения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именования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данных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на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носителях.</a:t>
            </a:r>
            <a:endParaRPr sz="1050">
              <a:latin typeface="Calibri"/>
              <a:cs typeface="Calibri"/>
            </a:endParaRPr>
          </a:p>
          <a:p>
            <a:pPr lvl="1" marL="461009" marR="63500" indent="-228600">
              <a:lnSpc>
                <a:spcPts val="1810"/>
              </a:lnSpc>
              <a:spcBef>
                <a:spcPts val="145"/>
              </a:spcBef>
              <a:buSzPct val="95238"/>
              <a:buFont typeface="Arial"/>
              <a:buChar char="•"/>
              <a:tabLst>
                <a:tab pos="461009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ext4: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стандарт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для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Linux.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Поддерживает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журналирование,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что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предотвращает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сбои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внезапном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отключении</a:t>
            </a:r>
            <a:r>
              <a:rPr dirty="0" sz="1050" spc="-4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питания.</a:t>
            </a:r>
            <a:endParaRPr sz="10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75"/>
              </a:spcBef>
              <a:buClr>
                <a:srgbClr val="202528"/>
              </a:buClr>
              <a:buFont typeface="Arial"/>
              <a:buChar char="•"/>
            </a:pPr>
            <a:endParaRPr sz="1050">
              <a:latin typeface="Calibri"/>
              <a:cs typeface="Calibri"/>
            </a:endParaRPr>
          </a:p>
          <a:p>
            <a:pPr lvl="1" marL="460375" indent="-228600">
              <a:lnSpc>
                <a:spcPct val="100000"/>
              </a:lnSpc>
              <a:buSzPct val="95238"/>
              <a:buFont typeface="Arial"/>
              <a:buChar char="•"/>
              <a:tabLst>
                <a:tab pos="46037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NTFS: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основная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ФС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для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Windows.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Поддерживает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разграничение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прав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доступа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сжатие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данных.</a:t>
            </a:r>
            <a:endParaRPr sz="1050">
              <a:latin typeface="Calibri"/>
              <a:cs typeface="Calibri"/>
            </a:endParaRPr>
          </a:p>
          <a:p>
            <a:pPr lvl="1" marL="461009" marR="5080" indent="-228600">
              <a:lnSpc>
                <a:spcPct val="143300"/>
              </a:lnSpc>
              <a:spcBef>
                <a:spcPts val="965"/>
              </a:spcBef>
              <a:buSzPct val="95238"/>
              <a:buFont typeface="Arial"/>
              <a:buChar char="•"/>
              <a:tabLst>
                <a:tab pos="461009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FAT32: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старая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универсальная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система.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Главный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минус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—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ограничение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размер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одного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файла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до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50">
                <a:solidFill>
                  <a:srgbClr val="202528"/>
                </a:solidFill>
                <a:latin typeface="Calibri"/>
                <a:cs typeface="Calibri"/>
              </a:rPr>
              <a:t>4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ГБ.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06119" y="5147069"/>
            <a:ext cx="5777230" cy="1519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8300" indent="-136525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36830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Как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посмотреть,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какие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файловые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системы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подмонтированы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ОС?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45"/>
              </a:spcBef>
              <a:buClr>
                <a:srgbClr val="202528"/>
              </a:buClr>
              <a:buFont typeface="Calibri"/>
              <a:buAutoNum type="arabicPeriod" startAt="4"/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Для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получения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списка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всех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активных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(примонтированных)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файловых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систем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используются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команды:</a:t>
            </a:r>
            <a:endParaRPr sz="1050">
              <a:latin typeface="Calibri"/>
              <a:cs typeface="Calibri"/>
            </a:endParaRPr>
          </a:p>
          <a:p>
            <a:pPr lvl="1" marL="460375" indent="-228600">
              <a:lnSpc>
                <a:spcPct val="100000"/>
              </a:lnSpc>
              <a:spcBef>
                <a:spcPts val="545"/>
              </a:spcBef>
              <a:buSzPct val="95238"/>
              <a:buFont typeface="Arial"/>
              <a:buChar char="•"/>
              <a:tabLst>
                <a:tab pos="46037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mount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(выводит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детальный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список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параметрами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монтирования)</a:t>
            </a:r>
            <a:endParaRPr sz="10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15"/>
              </a:spcBef>
              <a:buClr>
                <a:srgbClr val="202528"/>
              </a:buClr>
              <a:buFont typeface="Arial"/>
              <a:buChar char="•"/>
            </a:pPr>
            <a:endParaRPr sz="1050">
              <a:latin typeface="Calibri"/>
              <a:cs typeface="Calibri"/>
            </a:endParaRPr>
          </a:p>
          <a:p>
            <a:pPr lvl="1" marL="460375" indent="-228600">
              <a:lnSpc>
                <a:spcPct val="100000"/>
              </a:lnSpc>
              <a:buSzPct val="95238"/>
              <a:buFont typeface="Arial"/>
              <a:buChar char="•"/>
              <a:tabLst>
                <a:tab pos="46037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df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-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h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(показывает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список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разделов,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их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тип,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размер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свободное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место)</a:t>
            </a:r>
            <a:endParaRPr sz="10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10"/>
              </a:spcBef>
              <a:buClr>
                <a:srgbClr val="202528"/>
              </a:buClr>
              <a:buFont typeface="Arial"/>
              <a:buChar char="•"/>
            </a:pPr>
            <a:endParaRPr sz="1050">
              <a:latin typeface="Calibri"/>
              <a:cs typeface="Calibri"/>
            </a:endParaRPr>
          </a:p>
          <a:p>
            <a:pPr lvl="1" marL="460375" indent="-228600">
              <a:lnSpc>
                <a:spcPct val="100000"/>
              </a:lnSpc>
              <a:spcBef>
                <a:spcPts val="5"/>
              </a:spcBef>
              <a:buSzPct val="95238"/>
              <a:buFont typeface="Arial"/>
              <a:buChar char="•"/>
              <a:tabLst>
                <a:tab pos="46037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findmnt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(выводит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дерево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монтирования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удобном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виде)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06119" y="7219611"/>
            <a:ext cx="5945505" cy="2442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1775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5.</a:t>
            </a:r>
            <a:r>
              <a:rPr dirty="0" sz="1050" spc="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Как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удалить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зависший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процесс?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Сначала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нужно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найти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идентификатор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процесса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(PID).</a:t>
            </a:r>
            <a:endParaRPr sz="1050">
              <a:latin typeface="Calibri"/>
              <a:cs typeface="Calibri"/>
            </a:endParaRPr>
          </a:p>
          <a:p>
            <a:pPr marL="464820" indent="-228600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46482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Найдите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процесс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через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top,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htop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или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ps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aux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|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grep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name.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Clr>
                <a:srgbClr val="202528"/>
              </a:buClr>
              <a:buFont typeface="Calibri"/>
              <a:buAutoNum type="arabicPeriod"/>
            </a:pPr>
            <a:endParaRPr sz="1050">
              <a:latin typeface="Calibri"/>
              <a:cs typeface="Calibri"/>
            </a:endParaRPr>
          </a:p>
          <a:p>
            <a:pPr marL="464820" indent="-228600">
              <a:lnSpc>
                <a:spcPct val="100000"/>
              </a:lnSpc>
              <a:buAutoNum type="arabicPeriod"/>
              <a:tabLst>
                <a:tab pos="46482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Завершите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его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командой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kill: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Clr>
                <a:srgbClr val="202528"/>
              </a:buClr>
              <a:buFont typeface="Calibri"/>
              <a:buAutoNum type="arabicPeriod"/>
            </a:pPr>
            <a:endParaRPr sz="1050">
              <a:latin typeface="Calibri"/>
              <a:cs typeface="Calibri"/>
            </a:endParaRPr>
          </a:p>
          <a:p>
            <a:pPr lvl="1" marL="927100" indent="-227965">
              <a:lnSpc>
                <a:spcPct val="100000"/>
              </a:lnSpc>
              <a:buAutoNum type="arabicPeriod"/>
              <a:tabLst>
                <a:tab pos="92710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kill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&lt;PID&gt;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—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попытка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«мягкого»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завершения.</a:t>
            </a:r>
            <a:endParaRPr sz="1050">
              <a:latin typeface="Calibri"/>
              <a:cs typeface="Calibri"/>
            </a:endParaRPr>
          </a:p>
          <a:p>
            <a:pPr lvl="1" marL="927735" marR="5080" indent="-228600">
              <a:lnSpc>
                <a:spcPct val="142800"/>
              </a:lnSpc>
              <a:spcBef>
                <a:spcPts val="1035"/>
              </a:spcBef>
              <a:buAutoNum type="arabicPeriod"/>
              <a:tabLst>
                <a:tab pos="92773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kill 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-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9 &lt;PID&gt; —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принудительное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немедленное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завершение</a:t>
            </a:r>
            <a:r>
              <a:rPr dirty="0" sz="1050" spc="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(используйте,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если первое 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не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помогло).</a:t>
            </a:r>
            <a:endParaRPr sz="10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90"/>
              </a:spcBef>
              <a:buClr>
                <a:srgbClr val="202528"/>
              </a:buClr>
              <a:buFont typeface="Calibri"/>
              <a:buAutoNum type="arabicPeriod"/>
            </a:pPr>
            <a:endParaRPr sz="1050">
              <a:latin typeface="Calibri"/>
              <a:cs typeface="Calibri"/>
            </a:endParaRPr>
          </a:p>
          <a:p>
            <a:pPr lvl="1" marL="927100" indent="-227965">
              <a:lnSpc>
                <a:spcPct val="100000"/>
              </a:lnSpc>
              <a:buAutoNum type="arabicPeriod"/>
              <a:tabLst>
                <a:tab pos="92710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killall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&lt;имя_программы&gt;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—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убить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все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процессы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данным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названием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4055" y="1647101"/>
            <a:ext cx="956944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Вывод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97229" y="1930012"/>
            <a:ext cx="6179185" cy="929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" marR="5080" indent="-6350">
              <a:lnSpc>
                <a:spcPct val="152100"/>
              </a:lnSpc>
              <a:spcBef>
                <a:spcPts val="100"/>
              </a:spcBef>
            </a:pPr>
            <a:r>
              <a:rPr dirty="0" sz="1300">
                <a:latin typeface="Times New Roman"/>
                <a:cs typeface="Times New Roman"/>
              </a:rPr>
              <a:t>В</a:t>
            </a:r>
            <a:r>
              <a:rPr dirty="0" sz="1300" spc="-4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рамках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данной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работы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мы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приобрели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практические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навыки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установки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операционной </a:t>
            </a:r>
            <a:r>
              <a:rPr dirty="0" sz="1300">
                <a:latin typeface="Times New Roman"/>
                <a:cs typeface="Times New Roman"/>
              </a:rPr>
              <a:t>системы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на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виртуальную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машину,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настройки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минимально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необходимых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 spc="-25">
                <a:latin typeface="Times New Roman"/>
                <a:cs typeface="Times New Roman"/>
              </a:rPr>
              <a:t>для </a:t>
            </a:r>
            <a:r>
              <a:rPr dirty="0" sz="1300">
                <a:latin typeface="Times New Roman"/>
                <a:cs typeface="Times New Roman"/>
              </a:rPr>
              <a:t>дальнейшей</a:t>
            </a:r>
            <a:r>
              <a:rPr dirty="0" sz="1300" spc="-4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работы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сервисов.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2026-03-07T18:42:07Z</dcterms:created>
  <dcterms:modified xsi:type="dcterms:W3CDTF">2026-03-07T18:42:07Z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2026-03-07T00:00:00Z</vt:filetime>
  </property>
  <property fmtid="{D5CDD505-2E9C-101B-9397-08002B2CF9AE}" pid="3" name="Creator">
    <vt:lpwstr>www.smallpdf.com</vt:lpwstr>
  </property>
  <property fmtid="{D5CDD505-2E9C-101B-9397-08002B2CF9AE}" pid="4" name="LastSaved">
    <vt:filetime>2026-03-07T00:00:00Z</vt:filetime>
  </property>
  <property fmtid="{D5CDD505-2E9C-101B-9397-08002B2CF9AE}" pid="5" name="Producer">
    <vt:lpwstr>3-Heights(TM) PDF Security Shell 4.8.25.2 (http://www.pdf-tools.com)</vt:lpwstr>
  </property>
</Properties>
</file>
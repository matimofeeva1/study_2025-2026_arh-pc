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5219700" cy="7200900"/>
  <p:notesSz cx="5219700" cy="72009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1952" y="2232279"/>
            <a:ext cx="4328795" cy="1512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63905" y="4032504"/>
            <a:ext cx="3564890" cy="1800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54635" y="1656207"/>
            <a:ext cx="2215324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622740" y="1656207"/>
            <a:ext cx="2215324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635" y="288036"/>
            <a:ext cx="4583430" cy="1152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4635" y="1656207"/>
            <a:ext cx="4583430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731518" y="6696837"/>
            <a:ext cx="1629664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54635" y="6696837"/>
            <a:ext cx="1171321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666744" y="6696837"/>
            <a:ext cx="1171321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36034" y="378226"/>
            <a:ext cx="3522979" cy="71183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050" b="1">
                <a:latin typeface="Times New Roman"/>
                <a:cs typeface="Times New Roman"/>
              </a:rPr>
              <a:t>РОССИЙСКИЙ</a:t>
            </a:r>
            <a:r>
              <a:rPr dirty="0" sz="1050" spc="15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УНИВЕРСИТЕТ</a:t>
            </a:r>
            <a:r>
              <a:rPr dirty="0" sz="1050" spc="15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ДРУЖБЫ</a:t>
            </a:r>
            <a:r>
              <a:rPr dirty="0" sz="1050" spc="155" b="1">
                <a:latin typeface="Times New Roman"/>
                <a:cs typeface="Times New Roman"/>
              </a:rPr>
              <a:t> </a:t>
            </a:r>
            <a:r>
              <a:rPr dirty="0" sz="1050" spc="-10" b="1">
                <a:latin typeface="Times New Roman"/>
                <a:cs typeface="Times New Roman"/>
              </a:rPr>
              <a:t>НАРОДОВ</a:t>
            </a:r>
            <a:endParaRPr sz="1050">
              <a:latin typeface="Times New Roman"/>
              <a:cs typeface="Times New Roman"/>
            </a:endParaRPr>
          </a:p>
          <a:p>
            <a:pPr marL="311150" marR="225425" indent="60960">
              <a:lnSpc>
                <a:spcPts val="1760"/>
              </a:lnSpc>
            </a:pPr>
            <a:r>
              <a:rPr dirty="0" sz="850" b="1">
                <a:latin typeface="Times New Roman"/>
                <a:cs typeface="Times New Roman"/>
              </a:rPr>
              <a:t>Факультет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физико-математических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естественных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spc="-20" b="1">
                <a:latin typeface="Times New Roman"/>
                <a:cs typeface="Times New Roman"/>
              </a:rPr>
              <a:t>наук</a:t>
            </a:r>
            <a:r>
              <a:rPr dirty="0" sz="850" b="1">
                <a:latin typeface="Times New Roman"/>
                <a:cs typeface="Times New Roman"/>
              </a:rPr>
              <a:t> Кафедра</a:t>
            </a:r>
            <a:r>
              <a:rPr dirty="0" sz="850" spc="7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прикладной</a:t>
            </a:r>
            <a:r>
              <a:rPr dirty="0" sz="850" spc="8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информатики</a:t>
            </a:r>
            <a:r>
              <a:rPr dirty="0" sz="850" spc="8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</a:t>
            </a:r>
            <a:r>
              <a:rPr dirty="0" sz="850" spc="8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теории</a:t>
            </a:r>
            <a:r>
              <a:rPr dirty="0" sz="850" spc="80" b="1">
                <a:latin typeface="Times New Roman"/>
                <a:cs typeface="Times New Roman"/>
              </a:rPr>
              <a:t> </a:t>
            </a:r>
            <a:r>
              <a:rPr dirty="0" sz="850" spc="-10" b="1">
                <a:latin typeface="Times New Roman"/>
                <a:cs typeface="Times New Roman"/>
              </a:rPr>
              <a:t>вероятностей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22062" y="2004235"/>
            <a:ext cx="2577465" cy="935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1905">
              <a:lnSpc>
                <a:spcPct val="100000"/>
              </a:lnSpc>
              <a:spcBef>
                <a:spcPts val="125"/>
              </a:spcBef>
            </a:pPr>
            <a:r>
              <a:rPr dirty="0" sz="1050" spc="-10" b="1">
                <a:latin typeface="Times New Roman"/>
                <a:cs typeface="Times New Roman"/>
              </a:rPr>
              <a:t>ОТЧЕТ</a:t>
            </a:r>
            <a:endParaRPr sz="1050">
              <a:latin typeface="Times New Roman"/>
              <a:cs typeface="Times New Roman"/>
            </a:endParaRPr>
          </a:p>
          <a:p>
            <a:pPr algn="ctr" marL="40640">
              <a:lnSpc>
                <a:spcPct val="100000"/>
              </a:lnSpc>
              <a:spcBef>
                <a:spcPts val="1045"/>
              </a:spcBef>
            </a:pPr>
            <a:r>
              <a:rPr dirty="0" sz="1050" b="1">
                <a:latin typeface="Times New Roman"/>
                <a:cs typeface="Times New Roman"/>
              </a:rPr>
              <a:t>ПО</a:t>
            </a:r>
            <a:r>
              <a:rPr dirty="0" sz="1050" spc="9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ЛАБОРАТОРНОЙ</a:t>
            </a:r>
            <a:r>
              <a:rPr dirty="0" sz="1050" spc="9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РАБОТЕ</a:t>
            </a:r>
            <a:r>
              <a:rPr dirty="0" sz="1050" spc="10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№</a:t>
            </a:r>
            <a:r>
              <a:rPr dirty="0" sz="1050" spc="95" b="1">
                <a:latin typeface="Times New Roman"/>
                <a:cs typeface="Times New Roman"/>
              </a:rPr>
              <a:t> </a:t>
            </a:r>
            <a:r>
              <a:rPr dirty="0" sz="1050" spc="-50" b="1">
                <a:latin typeface="Times New Roman"/>
                <a:cs typeface="Times New Roman"/>
              </a:rPr>
              <a:t>8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  <a:tabLst>
                <a:tab pos="974090" algn="l"/>
              </a:tabLst>
            </a:pPr>
            <a:r>
              <a:rPr dirty="0" u="sng" sz="10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dirty="0" sz="1050" spc="270" i="1">
                <a:latin typeface="Times New Roman"/>
                <a:cs typeface="Times New Roman"/>
              </a:rPr>
              <a:t> </a:t>
            </a:r>
            <a:r>
              <a:rPr dirty="0" u="sng" sz="10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0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Архитектура</a:t>
            </a:r>
            <a:r>
              <a:rPr dirty="0" u="sng" sz="1050" spc="114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5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компьютера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467669" y="4408316"/>
            <a:ext cx="215455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dirty="0" u="sng" sz="85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Тимофеева</a:t>
            </a:r>
            <a:r>
              <a:rPr dirty="0" u="sng" sz="85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Милана</a:t>
            </a:r>
            <a:r>
              <a:rPr dirty="0" u="sng" sz="85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Александровна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638714" y="4931815"/>
            <a:ext cx="106108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dirty="0" u="sng" sz="850" spc="1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НБИбд-02-</a:t>
            </a:r>
            <a:r>
              <a:rPr dirty="0" u="sng" sz="85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282661" y="6237442"/>
            <a:ext cx="532130" cy="3721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850" spc="-10" b="1">
                <a:latin typeface="Times New Roman"/>
                <a:cs typeface="Times New Roman"/>
              </a:rPr>
              <a:t>МОСКВА</a:t>
            </a:r>
            <a:endParaRPr sz="850">
              <a:latin typeface="Times New Roman"/>
              <a:cs typeface="Times New Roman"/>
            </a:endParaRPr>
          </a:p>
          <a:p>
            <a:pPr algn="ctr" marL="3175">
              <a:lnSpc>
                <a:spcPct val="100000"/>
              </a:lnSpc>
              <a:spcBef>
                <a:spcPts val="660"/>
              </a:spcBef>
            </a:pPr>
            <a:r>
              <a:rPr dirty="0" sz="850">
                <a:latin typeface="Times New Roman"/>
                <a:cs typeface="Times New Roman"/>
              </a:rPr>
              <a:t>2026</a:t>
            </a:r>
            <a:r>
              <a:rPr dirty="0" sz="850" spc="35">
                <a:latin typeface="Times New Roman"/>
                <a:cs typeface="Times New Roman"/>
              </a:rPr>
              <a:t> </a:t>
            </a:r>
            <a:r>
              <a:rPr dirty="0" sz="850" spc="-25">
                <a:latin typeface="Times New Roman"/>
                <a:cs typeface="Times New Roman"/>
              </a:rPr>
              <a:t>г.</a:t>
            </a:r>
            <a:endParaRPr sz="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31918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55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81304" y="766996"/>
            <a:ext cx="4078604" cy="299085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353060">
              <a:lnSpc>
                <a:spcPts val="1060"/>
              </a:lnSpc>
              <a:spcBef>
                <a:spcPts val="190"/>
              </a:spcBef>
            </a:pPr>
            <a:r>
              <a:rPr dirty="0" sz="950" b="1">
                <a:latin typeface="Book Antiqua"/>
                <a:cs typeface="Book Antiqua"/>
              </a:rPr>
              <a:t>Лабораторная</a:t>
            </a:r>
            <a:r>
              <a:rPr dirty="0" sz="950" spc="6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работа</a:t>
            </a:r>
            <a:r>
              <a:rPr dirty="0" sz="950" spc="6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№</a:t>
            </a:r>
            <a:r>
              <a:rPr dirty="0" sz="950" spc="6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6.</a:t>
            </a:r>
            <a:r>
              <a:rPr dirty="0" sz="950" spc="240" b="1">
                <a:latin typeface="Book Antiqua"/>
                <a:cs typeface="Book Antiqua"/>
              </a:rPr>
              <a:t>  </a:t>
            </a:r>
            <a:r>
              <a:rPr dirty="0" sz="950" b="1">
                <a:latin typeface="Book Antiqua"/>
                <a:cs typeface="Book Antiqua"/>
              </a:rPr>
              <a:t>Поиск</a:t>
            </a:r>
            <a:r>
              <a:rPr dirty="0" sz="950" spc="7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файлов.</a:t>
            </a:r>
            <a:r>
              <a:rPr dirty="0" sz="950" spc="20" b="1">
                <a:latin typeface="Book Antiqua"/>
                <a:cs typeface="Book Antiqua"/>
              </a:rPr>
              <a:t> </a:t>
            </a:r>
            <a:r>
              <a:rPr dirty="0" sz="950" spc="-10" b="1">
                <a:latin typeface="Book Antiqua"/>
                <a:cs typeface="Book Antiqua"/>
              </a:rPr>
              <a:t>Перенаправление </a:t>
            </a:r>
            <a:r>
              <a:rPr dirty="0" sz="950" b="1">
                <a:latin typeface="Book Antiqua"/>
                <a:cs typeface="Book Antiqua"/>
              </a:rPr>
              <a:t>ввода-вывода.</a:t>
            </a:r>
            <a:r>
              <a:rPr dirty="0" sz="950" spc="9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Просмотр</a:t>
            </a:r>
            <a:r>
              <a:rPr dirty="0" sz="950" spc="15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запущенных</a:t>
            </a:r>
            <a:r>
              <a:rPr dirty="0" sz="950" spc="155" b="1">
                <a:latin typeface="Book Antiqua"/>
                <a:cs typeface="Book Antiqua"/>
              </a:rPr>
              <a:t> </a:t>
            </a:r>
            <a:r>
              <a:rPr dirty="0" sz="950" spc="-10" b="1">
                <a:latin typeface="Book Antiqua"/>
                <a:cs typeface="Book Antiqua"/>
              </a:rPr>
              <a:t>процессов</a:t>
            </a:r>
            <a:endParaRPr sz="950">
              <a:latin typeface="Book Antiqua"/>
              <a:cs typeface="Book Antiqua"/>
            </a:endParaRPr>
          </a:p>
          <a:p>
            <a:pPr lvl="1" marL="304800" indent="-292100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304800" algn="l"/>
              </a:tabLst>
            </a:pPr>
            <a:r>
              <a:rPr dirty="0" sz="850" b="1">
                <a:latin typeface="Book Antiqua"/>
                <a:cs typeface="Book Antiqua"/>
              </a:rPr>
              <a:t>Цель</a:t>
            </a:r>
            <a:r>
              <a:rPr dirty="0" sz="850" spc="-3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algn="just" marL="12700" marR="7620" indent="97790">
              <a:lnSpc>
                <a:spcPct val="100000"/>
              </a:lnSpc>
              <a:spcBef>
                <a:spcPts val="865"/>
              </a:spcBef>
            </a:pPr>
            <a:r>
              <a:rPr dirty="0" sz="750">
                <a:latin typeface="Book Antiqua"/>
                <a:cs typeface="Book Antiqua"/>
              </a:rPr>
              <a:t>Ознакомление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инструментами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поиска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фильтрации</a:t>
            </a:r>
            <a:r>
              <a:rPr dirty="0" sz="750" spc="1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текстовых</a:t>
            </a:r>
            <a:r>
              <a:rPr dirty="0" sz="750" spc="1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данных.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Приобретение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практических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навыков: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управлению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процессами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(и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заданиями),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по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проверке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использования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диска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обслуживанию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файловых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систем.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750">
              <a:latin typeface="Book Antiqua"/>
              <a:cs typeface="Book Antiqua"/>
            </a:endParaRPr>
          </a:p>
          <a:p>
            <a:pPr lvl="1" marL="303530" indent="-290830">
              <a:lnSpc>
                <a:spcPct val="100000"/>
              </a:lnSpc>
              <a:buAutoNum type="arabicPeriod" startAt="2"/>
              <a:tabLst>
                <a:tab pos="303530" algn="l"/>
              </a:tabLst>
            </a:pPr>
            <a:r>
              <a:rPr dirty="0" sz="850" b="1">
                <a:latin typeface="Book Antiqua"/>
                <a:cs typeface="Book Antiqua"/>
              </a:rPr>
              <a:t>Указания</a:t>
            </a:r>
            <a:r>
              <a:rPr dirty="0" sz="850" spc="1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к</a:t>
            </a:r>
            <a:r>
              <a:rPr dirty="0" sz="850" spc="1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работе</a:t>
            </a:r>
            <a:endParaRPr sz="850">
              <a:latin typeface="Book Antiqua"/>
              <a:cs typeface="Book Antiqua"/>
            </a:endParaRPr>
          </a:p>
          <a:p>
            <a:pPr lvl="2" marL="398780" indent="-386080">
              <a:lnSpc>
                <a:spcPct val="100000"/>
              </a:lnSpc>
              <a:spcBef>
                <a:spcPts val="850"/>
              </a:spcBef>
              <a:buAutoNum type="arabicPeriod"/>
              <a:tabLst>
                <a:tab pos="398780" algn="l"/>
              </a:tabLst>
            </a:pPr>
            <a:r>
              <a:rPr dirty="0" sz="850" b="1">
                <a:latin typeface="Book Antiqua"/>
                <a:cs typeface="Book Antiqua"/>
              </a:rPr>
              <a:t>Перенаправление</a:t>
            </a:r>
            <a:r>
              <a:rPr dirty="0" sz="850" spc="27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ввода-</a:t>
            </a:r>
            <a:r>
              <a:rPr dirty="0" sz="850" spc="-10" b="1">
                <a:latin typeface="Book Antiqua"/>
                <a:cs typeface="Book Antiqua"/>
              </a:rPr>
              <a:t>вывода</a:t>
            </a:r>
            <a:endParaRPr sz="850">
              <a:latin typeface="Book Antiqua"/>
              <a:cs typeface="Book Antiqua"/>
            </a:endParaRPr>
          </a:p>
          <a:p>
            <a:pPr marL="110489">
              <a:lnSpc>
                <a:spcPts val="894"/>
              </a:lnSpc>
              <a:spcBef>
                <a:spcPts val="555"/>
              </a:spcBef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умолчанию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открыто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три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специальных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потока:</a:t>
            </a:r>
            <a:endParaRPr sz="750">
              <a:latin typeface="Book Antiqua"/>
              <a:cs typeface="Book Antiqua"/>
            </a:endParaRPr>
          </a:p>
          <a:p>
            <a:pPr lvl="3" marL="144145" marR="25400" indent="-117475">
              <a:lnSpc>
                <a:spcPts val="890"/>
              </a:lnSpc>
              <a:spcBef>
                <a:spcPts val="35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stdin</a:t>
            </a:r>
            <a:r>
              <a:rPr dirty="0" sz="700" spc="-285">
                <a:latin typeface="Courier New"/>
                <a:cs typeface="Courier New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стандартный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поток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ввода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(по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умолчанию: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клавиатура),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файловый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дескриптор</a:t>
            </a:r>
            <a:r>
              <a:rPr dirty="0" sz="750" spc="25">
                <a:latin typeface="Book Antiqua"/>
                <a:cs typeface="Book Antiqua"/>
              </a:rPr>
              <a:t> 	0;</a:t>
            </a:r>
            <a:endParaRPr sz="750">
              <a:latin typeface="Book Antiqua"/>
              <a:cs typeface="Book Antiqua"/>
            </a:endParaRPr>
          </a:p>
          <a:p>
            <a:pPr lvl="3" marL="142240" marR="26034" indent="-116205">
              <a:lnSpc>
                <a:spcPts val="890"/>
              </a:lnSpc>
              <a:spcBef>
                <a:spcPts val="10"/>
              </a:spcBef>
              <a:buSzPct val="107142"/>
              <a:buFont typeface="Book Antiqua"/>
              <a:buChar char="–"/>
              <a:tabLst>
                <a:tab pos="142240" algn="l"/>
                <a:tab pos="143510" algn="l"/>
              </a:tabLst>
            </a:pPr>
            <a:r>
              <a:rPr dirty="0" sz="700" b="1">
                <a:latin typeface="Courier New"/>
                <a:cs typeface="Courier New"/>
              </a:rPr>
              <a:t>	</a:t>
            </a:r>
            <a:r>
              <a:rPr dirty="0" sz="700">
                <a:latin typeface="Courier New"/>
                <a:cs typeface="Courier New"/>
              </a:rPr>
              <a:t>stdout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стандартный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поток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(по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умолчанию: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консоль),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файловый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дескриптор</a:t>
            </a:r>
            <a:r>
              <a:rPr dirty="0" sz="750" spc="25">
                <a:latin typeface="Book Antiqua"/>
                <a:cs typeface="Book Antiqua"/>
              </a:rPr>
              <a:t> 1;</a:t>
            </a:r>
            <a:endParaRPr sz="750">
              <a:latin typeface="Book Antiqua"/>
              <a:cs typeface="Book Antiqua"/>
            </a:endParaRPr>
          </a:p>
          <a:p>
            <a:pPr lvl="3" marL="144145" marR="12065" indent="-117475">
              <a:lnSpc>
                <a:spcPts val="890"/>
              </a:lnSpc>
              <a:spcBef>
                <a:spcPts val="5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stderr</a:t>
            </a:r>
            <a:r>
              <a:rPr dirty="0" sz="700" spc="-260">
                <a:latin typeface="Courier New"/>
                <a:cs typeface="Courier New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стандартный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поток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сообщений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ошибках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(по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умолчанию: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консоль),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файловый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дескриптор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2.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10"/>
              </a:spcBef>
            </a:pPr>
            <a:r>
              <a:rPr dirty="0" sz="750" spc="10">
                <a:latin typeface="Book Antiqua"/>
                <a:cs typeface="Book Antiqua"/>
              </a:rPr>
              <a:t>Большинство</a:t>
            </a:r>
            <a:r>
              <a:rPr dirty="0" sz="750" spc="20">
                <a:latin typeface="Book Antiqua"/>
                <a:cs typeface="Book Antiqua"/>
              </a:rPr>
              <a:t> используемых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консоли</a:t>
            </a:r>
            <a:r>
              <a:rPr dirty="0" sz="750" spc="20">
                <a:latin typeface="Book Antiqua"/>
                <a:cs typeface="Book Antiqua"/>
              </a:rPr>
              <a:t> команд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0">
                <a:latin typeface="Book Antiqua"/>
                <a:cs typeface="Book Antiqua"/>
              </a:rPr>
              <a:t> программ </a:t>
            </a:r>
            <a:r>
              <a:rPr dirty="0" sz="750" spc="25">
                <a:latin typeface="Book Antiqua"/>
                <a:cs typeface="Book Antiqua"/>
              </a:rPr>
              <a:t>записывают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результаты</a:t>
            </a:r>
            <a:r>
              <a:rPr dirty="0" sz="750" spc="10">
                <a:latin typeface="Book Antiqua"/>
                <a:cs typeface="Book Antiqua"/>
              </a:rPr>
              <a:t> своей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работы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стандартный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поток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вывода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stdout</a:t>
            </a:r>
            <a:r>
              <a:rPr dirty="0" sz="750" spc="5">
                <a:latin typeface="Book Antiqua"/>
                <a:cs typeface="Book Antiqua"/>
              </a:rPr>
              <a:t>.</a:t>
            </a:r>
            <a:r>
              <a:rPr dirty="0" sz="750" spc="-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Например,</a:t>
            </a:r>
            <a:r>
              <a:rPr dirty="0" sz="750" spc="-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-270">
                <a:latin typeface="Courier New"/>
                <a:cs typeface="Courier New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выводит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стан-</a:t>
            </a:r>
            <a:r>
              <a:rPr dirty="0" sz="750" spc="5">
                <a:latin typeface="Book Antiqua"/>
                <a:cs typeface="Book Antiqua"/>
              </a:rPr>
              <a:t> дартный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поток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вывода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(консоль)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список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в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текущей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директории.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Потоки </a:t>
            </a:r>
            <a:r>
              <a:rPr dirty="0" sz="750" spc="20">
                <a:latin typeface="Book Antiqua"/>
                <a:cs typeface="Book Antiqua"/>
              </a:rPr>
              <a:t>вывода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ввода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перенаправлять</a:t>
            </a:r>
            <a:r>
              <a:rPr dirty="0" sz="750" spc="-7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на</a:t>
            </a:r>
            <a:r>
              <a:rPr dirty="0" sz="750" spc="-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другие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файлы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или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устройства.</a:t>
            </a:r>
            <a:r>
              <a:rPr dirty="0" sz="750" spc="-9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Проще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всего</a:t>
            </a:r>
            <a:r>
              <a:rPr dirty="0" sz="750" spc="-6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это</a:t>
            </a:r>
            <a:r>
              <a:rPr dirty="0" sz="750" spc="-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делается </a:t>
            </a:r>
            <a:r>
              <a:rPr dirty="0" sz="750" spc="20">
                <a:latin typeface="Book Antiqua"/>
                <a:cs typeface="Book Antiqua"/>
              </a:rPr>
              <a:t>с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помощью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символов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 spc="15">
                <a:latin typeface="Courier New"/>
                <a:cs typeface="Courier New"/>
              </a:rPr>
              <a:t>&gt;</a:t>
            </a:r>
            <a:r>
              <a:rPr dirty="0" sz="750" spc="15">
                <a:latin typeface="Book Antiqua"/>
                <a:cs typeface="Book Antiqua"/>
              </a:rPr>
              <a:t>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&gt;&gt;</a:t>
            </a:r>
            <a:r>
              <a:rPr dirty="0" sz="750" spc="10">
                <a:latin typeface="Book Antiqua"/>
                <a:cs typeface="Book Antiqua"/>
              </a:rPr>
              <a:t>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00" spc="15">
                <a:latin typeface="Courier New"/>
                <a:cs typeface="Courier New"/>
              </a:rPr>
              <a:t>&lt;</a:t>
            </a:r>
            <a:r>
              <a:rPr dirty="0" sz="750" spc="15">
                <a:latin typeface="Book Antiqua"/>
                <a:cs typeface="Book Antiqua"/>
              </a:rPr>
              <a:t>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&lt;&lt;</a:t>
            </a:r>
            <a:r>
              <a:rPr dirty="0" sz="750" spc="10">
                <a:latin typeface="Book Antiqua"/>
                <a:cs typeface="Book Antiqua"/>
              </a:rPr>
              <a:t>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Рассмотрим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пример.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71335" y="3888944"/>
            <a:ext cx="83820" cy="21361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7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8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9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10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dirty="0" sz="400" spc="-25">
                <a:latin typeface="Book Antiqua"/>
                <a:cs typeface="Book Antiqua"/>
              </a:rPr>
              <a:t>11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dirty="0" sz="400" spc="-25">
                <a:latin typeface="Book Antiqua"/>
                <a:cs typeface="Book Antiqua"/>
              </a:rPr>
              <a:t>12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25">
                <a:latin typeface="Book Antiqua"/>
                <a:cs typeface="Book Antiqua"/>
              </a:rPr>
              <a:t>13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14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15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16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17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18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19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94004" y="3838689"/>
            <a:ext cx="4032250" cy="22345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1590" rIns="0" bIns="0" rtlCol="0" vert="horz">
            <a:spAutoFit/>
          </a:bodyPr>
          <a:lstStyle/>
          <a:p>
            <a:pPr marL="37465" marR="1690370">
              <a:lnSpc>
                <a:spcPct val="106500"/>
              </a:lnSpc>
              <a:spcBef>
                <a:spcPts val="170"/>
              </a:spcBef>
            </a:pP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#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Перенаправление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stdout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(вывода)</a:t>
            </a:r>
            <a:r>
              <a:rPr dirty="0" sz="700" spc="4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в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D7A7A"/>
                </a:solidFill>
                <a:latin typeface="Courier New"/>
                <a:cs typeface="Courier New"/>
              </a:rPr>
              <a:t>файл.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#</a:t>
            </a:r>
            <a:r>
              <a:rPr dirty="0" sz="700" spc="2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Если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файл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отсутствовал,</a:t>
            </a:r>
            <a:r>
              <a:rPr dirty="0" sz="700" spc="2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то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он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D7A7A"/>
                </a:solidFill>
                <a:latin typeface="Courier New"/>
                <a:cs typeface="Courier New"/>
              </a:rPr>
              <a:t>создаётся,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#</a:t>
            </a:r>
            <a:r>
              <a:rPr dirty="0" sz="700" spc="2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иначе</a:t>
            </a:r>
            <a:r>
              <a:rPr dirty="0" sz="700" spc="2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--</a:t>
            </a:r>
            <a:r>
              <a:rPr dirty="0" sz="700" spc="2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D7A7A"/>
                </a:solidFill>
                <a:latin typeface="Courier New"/>
                <a:cs typeface="Courier New"/>
              </a:rPr>
              <a:t>перезаписывается.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</a:pP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#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Создаёт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файл,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содержащий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список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дерева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D7A7A"/>
                </a:solidFill>
                <a:latin typeface="Courier New"/>
                <a:cs typeface="Courier New"/>
              </a:rPr>
              <a:t>каталогов.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-lR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&gt;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dir-</a:t>
            </a:r>
            <a:r>
              <a:rPr dirty="0" sz="700" spc="-10">
                <a:latin typeface="Courier New"/>
                <a:cs typeface="Courier New"/>
              </a:rPr>
              <a:t>tree.list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</a:pP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dirty="0" sz="700" spc="-10">
                <a:latin typeface="Courier New"/>
                <a:cs typeface="Courier New"/>
              </a:rPr>
              <a:t>&gt;filename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#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Перенаправление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вывода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(stdout)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в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файл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D7A7A"/>
                </a:solidFill>
                <a:latin typeface="Courier New"/>
                <a:cs typeface="Courier New"/>
              </a:rPr>
              <a:t>"filename".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dirty="0" sz="700" spc="-10">
                <a:latin typeface="Courier New"/>
                <a:cs typeface="Courier New"/>
              </a:rPr>
              <a:t>&gt;&gt;filename</a:t>
            </a:r>
            <a:endParaRPr sz="700">
              <a:latin typeface="Courier New"/>
              <a:cs typeface="Courier New"/>
            </a:endParaRPr>
          </a:p>
          <a:p>
            <a:pPr marL="37465" marR="1143635">
              <a:lnSpc>
                <a:spcPct val="106500"/>
              </a:lnSpc>
            </a:pP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#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Перенаправление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вывода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(stdout)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в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файл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D7A7A"/>
                </a:solidFill>
                <a:latin typeface="Courier New"/>
                <a:cs typeface="Courier New"/>
              </a:rPr>
              <a:t>"filename",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#</a:t>
            </a:r>
            <a:r>
              <a:rPr dirty="0" sz="700" spc="2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файл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открывается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в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режиме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D7A7A"/>
                </a:solidFill>
                <a:latin typeface="Courier New"/>
                <a:cs typeface="Courier New"/>
              </a:rPr>
              <a:t>добавления.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2</a:t>
            </a:r>
            <a:r>
              <a:rPr dirty="0" sz="700" spc="-10">
                <a:latin typeface="Courier New"/>
                <a:cs typeface="Courier New"/>
              </a:rPr>
              <a:t>&gt;filename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#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Перенаправление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stderr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в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файл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D7A7A"/>
                </a:solidFill>
                <a:latin typeface="Courier New"/>
                <a:cs typeface="Courier New"/>
              </a:rPr>
              <a:t>"filename".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2</a:t>
            </a:r>
            <a:r>
              <a:rPr dirty="0" sz="700" spc="-10">
                <a:latin typeface="Courier New"/>
                <a:cs typeface="Courier New"/>
              </a:rPr>
              <a:t>&gt;&gt;filename</a:t>
            </a:r>
            <a:endParaRPr sz="700">
              <a:latin typeface="Courier New"/>
              <a:cs typeface="Courier New"/>
            </a:endParaRPr>
          </a:p>
          <a:p>
            <a:pPr marL="37465" marR="1635760">
              <a:lnSpc>
                <a:spcPct val="106500"/>
              </a:lnSpc>
            </a:pP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#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Перенаправление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stderr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в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файл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D7A7A"/>
                </a:solidFill>
                <a:latin typeface="Courier New"/>
                <a:cs typeface="Courier New"/>
              </a:rPr>
              <a:t>"filename",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#</a:t>
            </a:r>
            <a:r>
              <a:rPr dirty="0" sz="700" spc="2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файл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открывается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в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режиме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D7A7A"/>
                </a:solidFill>
                <a:latin typeface="Courier New"/>
                <a:cs typeface="Courier New"/>
              </a:rPr>
              <a:t>добавления. </a:t>
            </a:r>
            <a:r>
              <a:rPr dirty="0" sz="700" spc="-10">
                <a:latin typeface="Courier New"/>
                <a:cs typeface="Courier New"/>
              </a:rPr>
              <a:t>&amp;&gt;filename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#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Перенаправление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stdout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и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stderr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в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файл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3D7A7A"/>
                </a:solidFill>
                <a:latin typeface="Courier New"/>
                <a:cs typeface="Courier New"/>
              </a:rPr>
              <a:t>"filename".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81304" y="392412"/>
            <a:ext cx="4078604" cy="819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6619" algn="l"/>
              </a:tabLst>
            </a:pPr>
            <a:r>
              <a:rPr dirty="0" sz="600" spc="-25">
                <a:latin typeface="Book Antiqua"/>
                <a:cs typeface="Book Antiqua"/>
              </a:rPr>
              <a:t>56</a:t>
            </a:r>
            <a:r>
              <a:rPr dirty="0" sz="600">
                <a:latin typeface="Book Antiqua"/>
                <a:cs typeface="Book Antiqua"/>
              </a:rPr>
              <a:t>	</a:t>
            </a: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6.</a:t>
            </a:r>
            <a:r>
              <a:rPr dirty="0" sz="600" spc="6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Поиск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файлов.</a:t>
            </a:r>
            <a:r>
              <a:rPr dirty="0" sz="600" spc="6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Перенаправление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ввода-вывода.</a:t>
            </a:r>
            <a:r>
              <a:rPr dirty="0" sz="600" spc="5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Просмотр</a:t>
            </a:r>
            <a:r>
              <a:rPr dirty="0" sz="600" spc="-30">
                <a:latin typeface="Book Antiqua"/>
                <a:cs typeface="Book Antiqua"/>
              </a:rPr>
              <a:t>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6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latin typeface="Book Antiqua"/>
                <a:cs typeface="Book Antiqua"/>
              </a:rPr>
              <a:t>6.2.2.</a:t>
            </a:r>
            <a:r>
              <a:rPr dirty="0" sz="850" spc="340" b="1">
                <a:latin typeface="Book Antiqua"/>
                <a:cs typeface="Book Antiqua"/>
              </a:rPr>
              <a:t>  </a:t>
            </a:r>
            <a:r>
              <a:rPr dirty="0" sz="850" spc="-10" b="1">
                <a:latin typeface="Book Antiqua"/>
                <a:cs typeface="Book Antiqua"/>
              </a:rPr>
              <a:t>Конвейер</a:t>
            </a:r>
            <a:endParaRPr sz="8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ct val="100000"/>
              </a:lnSpc>
              <a:spcBef>
                <a:spcPts val="555"/>
              </a:spcBef>
            </a:pPr>
            <a:r>
              <a:rPr dirty="0" sz="750">
                <a:latin typeface="Book Antiqua"/>
                <a:cs typeface="Book Antiqua"/>
              </a:rPr>
              <a:t>Конвейер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(pipe)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служит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объединения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простых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утилит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цепочки,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ко-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торых</a:t>
            </a:r>
            <a:r>
              <a:rPr dirty="0" sz="750" spc="2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2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предыдущей</a:t>
            </a:r>
            <a:r>
              <a:rPr dirty="0" sz="750" spc="2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2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передаётся</a:t>
            </a:r>
            <a:r>
              <a:rPr dirty="0" sz="750" spc="2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последующей.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Синтаксис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следующий: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0405" y="1335076"/>
            <a:ext cx="54610" cy="204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94004" y="1284821"/>
            <a:ext cx="4032250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команда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dirty="0" sz="700" spc="2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|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команда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50">
                <a:solidFill>
                  <a:srgbClr val="666666"/>
                </a:solidFill>
                <a:latin typeface="Courier New"/>
                <a:cs typeface="Courier New"/>
              </a:rPr>
              <a:t>2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#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означает,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что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вывод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команды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1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передастся</a:t>
            </a:r>
            <a:r>
              <a:rPr dirty="0" sz="700" spc="35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на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ввод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3D7A7A"/>
                </a:solidFill>
                <a:latin typeface="Courier New"/>
                <a:cs typeface="Courier New"/>
              </a:rPr>
              <a:t>команде</a:t>
            </a:r>
            <a:r>
              <a:rPr dirty="0" sz="700" spc="3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dirty="0" sz="700" spc="-50">
                <a:solidFill>
                  <a:srgbClr val="3D7A7A"/>
                </a:solidFill>
                <a:latin typeface="Courier New"/>
                <a:cs typeface="Courier New"/>
              </a:rPr>
              <a:t>2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81304" y="1659153"/>
            <a:ext cx="405765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Конвейеры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группировать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цепочки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выводить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перенаправления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файл, например: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0405" y="2040015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94004" y="1989759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-la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|sort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&gt;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sortilg_list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81304" y="2250478"/>
            <a:ext cx="4078604" cy="14071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вывод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25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125">
                <a:latin typeface="Courier New"/>
                <a:cs typeface="Courier New"/>
              </a:rPr>
              <a:t>la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передаётся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команде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сортировки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sort\verb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которая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пишет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ре-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зультат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sorting_list\verb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30"/>
              </a:spcBef>
            </a:pPr>
            <a:r>
              <a:rPr dirty="0" sz="750" spc="-10">
                <a:latin typeface="Book Antiqua"/>
                <a:cs typeface="Book Antiqua"/>
              </a:rPr>
              <a:t>Чаще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всего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скрипты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Bash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используются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качестве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автоматизации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каких-то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рутин-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ных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операций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консоли,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отсюда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иногда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возникает необходимость 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обработке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stdout </a:t>
            </a:r>
            <a:r>
              <a:rPr dirty="0" sz="750">
                <a:latin typeface="Book Antiqua"/>
                <a:cs typeface="Book Antiqua"/>
              </a:rPr>
              <a:t>одной команды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передача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00" spc="-40">
                <a:latin typeface="Courier New"/>
                <a:cs typeface="Courier New"/>
              </a:rPr>
              <a:t>stdin</a:t>
            </a:r>
            <a:r>
              <a:rPr dirty="0" sz="700" spc="-6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другой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команде,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этом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выполнения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должен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обработан.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latin typeface="Book Antiqua"/>
                <a:cs typeface="Book Antiqua"/>
              </a:rPr>
              <a:t>6.2.3.</a:t>
            </a:r>
            <a:r>
              <a:rPr dirty="0" sz="850" spc="310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Поиск</a:t>
            </a:r>
            <a:r>
              <a:rPr dirty="0" sz="850" spc="7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файла</a:t>
            </a:r>
            <a:endParaRPr sz="8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ct val="100000"/>
              </a:lnSpc>
              <a:spcBef>
                <a:spcPts val="555"/>
              </a:spcBef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00" spc="-45">
                <a:latin typeface="Courier New"/>
                <a:cs typeface="Courier New"/>
              </a:rPr>
              <a:t>find</a:t>
            </a:r>
            <a:r>
              <a:rPr dirty="0" sz="700" spc="-6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используется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поиска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отображения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имён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соответ-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ствующих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заданной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символов.</a:t>
            </a:r>
            <a:endParaRPr sz="750">
              <a:latin typeface="Book Antiqua"/>
              <a:cs typeface="Book Antiqua"/>
            </a:endParaRPr>
          </a:p>
          <a:p>
            <a:pPr marL="110489">
              <a:lnSpc>
                <a:spcPts val="890"/>
              </a:lnSpc>
            </a:pP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00405" y="3781324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94004" y="3731069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find</a:t>
            </a:r>
            <a:r>
              <a:rPr dirty="0" sz="700" spc="46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путь</a:t>
            </a:r>
            <a:r>
              <a:rPr dirty="0" sz="700" spc="46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10">
                <a:latin typeface="Courier New"/>
                <a:cs typeface="Courier New"/>
              </a:rPr>
              <a:t>опции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77367" y="3991787"/>
            <a:ext cx="4075429" cy="5981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6510" marR="18415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Путь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определяет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каталог,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начиная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которого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всем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подкаталогам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вестись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поиск.</a:t>
            </a:r>
            <a:endParaRPr sz="750">
              <a:latin typeface="Book Antiqua"/>
              <a:cs typeface="Book Antiqua"/>
            </a:endParaRPr>
          </a:p>
          <a:p>
            <a:pPr marL="114300">
              <a:lnSpc>
                <a:spcPts val="885"/>
              </a:lnSpc>
            </a:pPr>
            <a:r>
              <a:rPr dirty="0" sz="750" spc="-10" b="1">
                <a:latin typeface="Book Antiqua"/>
                <a:cs typeface="Book Antiqua"/>
              </a:rPr>
              <a:t>Примеры:</a:t>
            </a:r>
            <a:endParaRPr sz="750">
              <a:latin typeface="Book Antiqua"/>
              <a:cs typeface="Book Antiqua"/>
            </a:endParaRPr>
          </a:p>
          <a:p>
            <a:pPr marL="149225" marR="5080" indent="-137160">
              <a:lnSpc>
                <a:spcPts val="890"/>
              </a:lnSpc>
              <a:spcBef>
                <a:spcPts val="35"/>
              </a:spcBef>
            </a:pPr>
            <a:r>
              <a:rPr dirty="0" sz="750">
                <a:latin typeface="Book Antiqua"/>
                <a:cs typeface="Book Antiqua"/>
              </a:rPr>
              <a:t>1.</a:t>
            </a:r>
            <a:r>
              <a:rPr dirty="0" sz="750" spc="409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Вывести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вашего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домашнего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его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подкаталогов,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начинающихся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f</a:t>
            </a:r>
            <a:r>
              <a:rPr dirty="0" sz="750" spc="-25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33120" y="4713466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26719" y="4663211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find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~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-name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"f*"</a:t>
            </a:r>
            <a:r>
              <a:rPr dirty="0" sz="700" spc="25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10">
                <a:latin typeface="Courier New"/>
                <a:cs typeface="Courier New"/>
              </a:rPr>
              <a:t>print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77367" y="4923929"/>
            <a:ext cx="4082415" cy="4845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49225" marR="508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Book Antiqua"/>
                <a:cs typeface="Book Antiqua"/>
              </a:rPr>
              <a:t>Здесь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</a:t>
            </a:r>
            <a:r>
              <a:rPr dirty="0" sz="700" spc="-26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обозначение </a:t>
            </a:r>
            <a:r>
              <a:rPr dirty="0" sz="750" spc="5">
                <a:latin typeface="Book Antiqua"/>
                <a:cs typeface="Book Antiqua"/>
              </a:rPr>
              <a:t>вашего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домашнего </a:t>
            </a:r>
            <a:r>
              <a:rPr dirty="0" sz="750" spc="5">
                <a:latin typeface="Book Antiqua"/>
                <a:cs typeface="Book Antiqua"/>
              </a:rPr>
              <a:t>каталога,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-name</a:t>
            </a:r>
            <a:r>
              <a:rPr dirty="0" sz="700" spc="-26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 этой опции </a:t>
            </a:r>
            <a:r>
              <a:rPr dirty="0" sz="750" spc="15">
                <a:latin typeface="Book Antiqua"/>
                <a:cs typeface="Book Antiqua"/>
              </a:rPr>
              <a:t>указы-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вается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-15">
                <a:latin typeface="Book Antiqua"/>
                <a:cs typeface="Book Antiqua"/>
              </a:rPr>
              <a:t> файла,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который</a:t>
            </a:r>
            <a:r>
              <a:rPr dirty="0" sz="750" spc="-15">
                <a:latin typeface="Book Antiqua"/>
                <a:cs typeface="Book Antiqua"/>
              </a:rPr>
              <a:t> нужно </a:t>
            </a:r>
            <a:r>
              <a:rPr dirty="0" sz="750">
                <a:latin typeface="Book Antiqua"/>
                <a:cs typeface="Book Antiqua"/>
              </a:rPr>
              <a:t>найти,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"f*"</a:t>
            </a:r>
            <a:r>
              <a:rPr dirty="0" sz="700" spc="-275">
                <a:latin typeface="Courier New"/>
                <a:cs typeface="Courier New"/>
              </a:rPr>
              <a:t> </a:t>
            </a:r>
            <a:r>
              <a:rPr dirty="0" sz="750" spc="-85">
                <a:latin typeface="Book Antiqua"/>
                <a:cs typeface="Book Antiqua"/>
              </a:rPr>
              <a:t>—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строка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символов,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определяющая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 </a:t>
            </a:r>
            <a:r>
              <a:rPr dirty="0" sz="750" spc="-5">
                <a:latin typeface="Book Antiqua"/>
                <a:cs typeface="Book Antiqua"/>
              </a:rPr>
              <a:t>файла,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-print</a:t>
            </a:r>
            <a:r>
              <a:rPr dirty="0" sz="700" spc="-265">
                <a:latin typeface="Courier New"/>
                <a:cs typeface="Courier New"/>
              </a:rPr>
              <a:t> </a:t>
            </a:r>
            <a:r>
              <a:rPr dirty="0" sz="750" spc="-70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опция,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задающая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вывод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результатов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поиска</a:t>
            </a:r>
            <a:r>
              <a:rPr dirty="0" sz="750">
                <a:latin typeface="Book Antiqua"/>
                <a:cs typeface="Book Antiqua"/>
              </a:rPr>
              <a:t> на </a:t>
            </a:r>
            <a:r>
              <a:rPr dirty="0" sz="750" spc="5">
                <a:latin typeface="Book Antiqua"/>
                <a:cs typeface="Book Antiqua"/>
              </a:rPr>
              <a:t>экран.</a:t>
            </a:r>
            <a:endParaRPr sz="750">
              <a:latin typeface="Book Antiqua"/>
              <a:cs typeface="Book Antiqua"/>
            </a:endParaRPr>
          </a:p>
          <a:p>
            <a:pPr algn="just" marL="12700">
              <a:lnSpc>
                <a:spcPts val="885"/>
              </a:lnSpc>
            </a:pPr>
            <a:r>
              <a:rPr dirty="0" sz="750">
                <a:latin typeface="Book Antiqua"/>
                <a:cs typeface="Book Antiqua"/>
              </a:rPr>
              <a:t>2.</a:t>
            </a:r>
            <a:r>
              <a:rPr dirty="0" sz="750" spc="3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Вывести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/etc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начинающихся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p</a:t>
            </a:r>
            <a:r>
              <a:rPr dirty="0" sz="750" spc="-25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33120" y="5532007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26719" y="5481751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find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/etc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-name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"p*"</a:t>
            </a:r>
            <a:r>
              <a:rPr dirty="0" sz="700" spc="3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10">
                <a:latin typeface="Courier New"/>
                <a:cs typeface="Courier New"/>
              </a:rPr>
              <a:t>print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77367" y="5742470"/>
            <a:ext cx="406146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894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3.</a:t>
            </a:r>
            <a:r>
              <a:rPr dirty="0" sz="750" spc="3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Найти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Вашем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домашнем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файлы,</a:t>
            </a:r>
            <a:r>
              <a:rPr dirty="0" sz="750">
                <a:latin typeface="Book Antiqua"/>
                <a:cs typeface="Book Antiqua"/>
              </a:rPr>
              <a:t> имена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заканчиваются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символом</a:t>
            </a:r>
            <a:endParaRPr sz="750">
              <a:latin typeface="Book Antiqua"/>
              <a:cs typeface="Book Antiqua"/>
            </a:endParaRPr>
          </a:p>
          <a:p>
            <a:pPr marL="137795">
              <a:lnSpc>
                <a:spcPts val="894"/>
              </a:lnSpc>
            </a:pPr>
            <a:r>
              <a:rPr dirty="0" sz="700">
                <a:latin typeface="Courier New"/>
                <a:cs typeface="Courier New"/>
              </a:rPr>
              <a:t>~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 удалить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их: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33120" y="6123331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26719" y="6073076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find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~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-name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"*~"</a:t>
            </a:r>
            <a:r>
              <a:rPr dirty="0" sz="700" spc="25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-exec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rm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"{}"</a:t>
            </a:r>
            <a:r>
              <a:rPr dirty="0" sz="700" spc="25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 spc="-25" b="1">
                <a:solidFill>
                  <a:srgbClr val="AA5B1E"/>
                </a:solidFill>
                <a:latin typeface="Courier New"/>
                <a:cs typeface="Courier New"/>
              </a:rPr>
              <a:t>\;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79462" y="6333794"/>
            <a:ext cx="3980179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46990" marR="508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Здесь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-exec</a:t>
            </a:r>
            <a:r>
              <a:rPr dirty="0" sz="700" spc="5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rm</a:t>
            </a:r>
            <a:r>
              <a:rPr dirty="0" sz="700" spc="5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"{}"</a:t>
            </a:r>
            <a:r>
              <a:rPr dirty="0" sz="700" spc="5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\;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задаёт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применение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rm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ко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всем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файлам,</a:t>
            </a:r>
            <a:r>
              <a:rPr dirty="0" sz="750" spc="-20">
                <a:latin typeface="Book Antiqua"/>
                <a:cs typeface="Book Antiqua"/>
              </a:rPr>
              <a:t> име-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которых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соответствуют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указанной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-name</a:t>
            </a:r>
            <a:r>
              <a:rPr dirty="0" sz="700" spc="-18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символов.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90"/>
              </a:lnSpc>
            </a:pPr>
            <a:r>
              <a:rPr dirty="0" sz="750">
                <a:latin typeface="Book Antiqua"/>
                <a:cs typeface="Book Antiqua"/>
              </a:rPr>
              <a:t>Для </a:t>
            </a:r>
            <a:r>
              <a:rPr dirty="0" sz="750" spc="10">
                <a:latin typeface="Book Antiqua"/>
                <a:cs typeface="Book Antiqua"/>
              </a:rPr>
              <a:t>просмотра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опций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команды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find</a:t>
            </a:r>
            <a:r>
              <a:rPr dirty="0" sz="700" spc="-229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воспользуйтесь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командой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man</a:t>
            </a:r>
            <a:r>
              <a:rPr dirty="0" sz="750" spc="-2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latin typeface="Book Antiqua"/>
                <a:cs typeface="Book Antiqua"/>
              </a:rPr>
              <a:t>Кулябов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Д.</a:t>
            </a:r>
            <a:r>
              <a:rPr dirty="0" sz="600" spc="-40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С.</a:t>
            </a:r>
            <a:r>
              <a:rPr dirty="0" sz="600" spc="-1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и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др.</a:t>
            </a:r>
            <a:r>
              <a:rPr dirty="0" sz="600" spc="70" i="1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57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304" y="567758"/>
            <a:ext cx="3782695" cy="53022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850" b="1">
                <a:latin typeface="Book Antiqua"/>
                <a:cs typeface="Book Antiqua"/>
              </a:rPr>
              <a:t>6.2.4.</a:t>
            </a:r>
            <a:r>
              <a:rPr dirty="0" sz="850" spc="305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Фильтрация</a:t>
            </a:r>
            <a:r>
              <a:rPr dirty="0" sz="850" spc="5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текста</a:t>
            </a:r>
            <a:endParaRPr sz="850">
              <a:latin typeface="Book Antiqua"/>
              <a:cs typeface="Book Antiqua"/>
            </a:endParaRPr>
          </a:p>
          <a:p>
            <a:pPr marL="110489" marR="5080">
              <a:lnSpc>
                <a:spcPct val="100000"/>
              </a:lnSpc>
              <a:spcBef>
                <a:spcPts val="555"/>
              </a:spcBef>
            </a:pPr>
            <a:r>
              <a:rPr dirty="0" sz="750">
                <a:latin typeface="Book Antiqua"/>
                <a:cs typeface="Book Antiqua"/>
              </a:rPr>
              <a:t>Найти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текстовом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указанную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символов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позволяет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grep</a:t>
            </a:r>
            <a:r>
              <a:rPr dirty="0" sz="750" spc="-10">
                <a:latin typeface="Book Antiqua"/>
                <a:cs typeface="Book Antiqua"/>
              </a:rPr>
              <a:t>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0405" y="1228942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004" y="1178687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grep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строка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имя_файла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77367" y="1446872"/>
            <a:ext cx="4082415" cy="711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25400" indent="100965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Кроме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того,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00" spc="-45">
                <a:latin typeface="Courier New"/>
                <a:cs typeface="Courier New"/>
              </a:rPr>
              <a:t>grep</a:t>
            </a:r>
            <a:r>
              <a:rPr dirty="0" sz="700" spc="-6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способна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обрабатывать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стандартный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других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(любой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текст).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Для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этого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следует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конвейер, связав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вводом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grep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114300">
              <a:lnSpc>
                <a:spcPts val="880"/>
              </a:lnSpc>
            </a:pPr>
            <a:r>
              <a:rPr dirty="0" sz="750" spc="-10" b="1">
                <a:latin typeface="Book Antiqua"/>
                <a:cs typeface="Book Antiqua"/>
              </a:rPr>
              <a:t>Примеры:</a:t>
            </a:r>
            <a:endParaRPr sz="750">
              <a:latin typeface="Book Antiqua"/>
              <a:cs typeface="Book Antiqua"/>
            </a:endParaRPr>
          </a:p>
          <a:p>
            <a:pPr marL="149225" marR="5080" indent="-137160">
              <a:lnSpc>
                <a:spcPts val="890"/>
              </a:lnSpc>
              <a:spcBef>
                <a:spcPts val="35"/>
              </a:spcBef>
            </a:pPr>
            <a:r>
              <a:rPr dirty="0" sz="750">
                <a:latin typeface="Book Antiqua"/>
                <a:cs typeface="Book Antiqua"/>
              </a:rPr>
              <a:t>1.</a:t>
            </a:r>
            <a:r>
              <a:rPr dirty="0" sz="750" spc="3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Показать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всех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файлах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вашем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домашнем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именами,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начинающи-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мися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</a:t>
            </a:r>
            <a:r>
              <a:rPr dirty="0" sz="750">
                <a:latin typeface="Book Antiqua"/>
                <a:cs typeface="Book Antiqua"/>
              </a:rPr>
              <a:t>, 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есть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begin</a:t>
            </a:r>
            <a:r>
              <a:rPr dirty="0" sz="750" spc="-10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33120" y="2289633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26719" y="2239391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grep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begin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f*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77367" y="2507577"/>
            <a:ext cx="320103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2.</a:t>
            </a:r>
            <a:r>
              <a:rPr dirty="0" sz="750" spc="3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Найти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файлы,</a:t>
            </a:r>
            <a:r>
              <a:rPr dirty="0" sz="750">
                <a:latin typeface="Book Antiqua"/>
                <a:cs typeface="Book Antiqua"/>
              </a:rPr>
              <a:t> содержащих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«лаб»: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33120" y="2782291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26719" y="2732036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-l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|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grep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лаб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81304" y="3085000"/>
            <a:ext cx="3516629" cy="53022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850" b="1">
                <a:latin typeface="Book Antiqua"/>
                <a:cs typeface="Book Antiqua"/>
              </a:rPr>
              <a:t>6.2.5.</a:t>
            </a:r>
            <a:r>
              <a:rPr dirty="0" sz="850" spc="365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Проверка</a:t>
            </a:r>
            <a:r>
              <a:rPr dirty="0" sz="850" spc="110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использования</a:t>
            </a:r>
            <a:r>
              <a:rPr dirty="0" sz="850" spc="8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диска</a:t>
            </a:r>
            <a:endParaRPr sz="850">
              <a:latin typeface="Book Antiqua"/>
              <a:cs typeface="Book Antiqua"/>
            </a:endParaRPr>
          </a:p>
          <a:p>
            <a:pPr marL="110489" marR="5080">
              <a:lnSpc>
                <a:spcPct val="100000"/>
              </a:lnSpc>
              <a:spcBef>
                <a:spcPts val="555"/>
              </a:spcBef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df</a:t>
            </a:r>
            <a:r>
              <a:rPr dirty="0" sz="700" spc="-204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показывает размер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каждого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смонтированного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раздела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диска.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00405" y="3746183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94004" y="3695928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df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>
                <a:latin typeface="Courier New"/>
                <a:cs typeface="Courier New"/>
              </a:rPr>
              <a:t>-опции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r>
              <a:rPr dirty="0" sz="700" spc="3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 spc="-10">
                <a:latin typeface="Courier New"/>
                <a:cs typeface="Courier New"/>
              </a:rPr>
              <a:t>файловая_система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79462" y="3964114"/>
            <a:ext cx="45021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 b="1">
                <a:latin typeface="Book Antiqua"/>
                <a:cs typeface="Book Antiqua"/>
              </a:rPr>
              <a:t>Пример: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00405" y="4238842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94004" y="4188587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df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25">
                <a:latin typeface="Courier New"/>
                <a:cs typeface="Courier New"/>
              </a:rPr>
              <a:t>vi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79462" y="4456772"/>
            <a:ext cx="397891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Команда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du</a:t>
            </a:r>
            <a:r>
              <a:rPr dirty="0" sz="700" spc="-21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показывает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число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килобайт,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используемое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каждым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файлом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каталогом.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00405" y="4845102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94004" y="4794847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du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>
                <a:latin typeface="Courier New"/>
                <a:cs typeface="Courier New"/>
              </a:rPr>
              <a:t>-опции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r>
              <a:rPr dirty="0" sz="700" spc="3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 spc="-10">
                <a:latin typeface="Courier New"/>
                <a:cs typeface="Courier New"/>
              </a:rPr>
              <a:t>имя_файла...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79462" y="5063032"/>
            <a:ext cx="44577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 b="1">
                <a:latin typeface="Book Antiqua"/>
                <a:cs typeface="Book Antiqua"/>
              </a:rPr>
              <a:t>Пример.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00405" y="5337760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94004" y="5287505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du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-a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35">
                <a:latin typeface="Courier New"/>
                <a:cs typeface="Courier New"/>
              </a:rPr>
              <a:t>~/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79462" y="5555691"/>
            <a:ext cx="313182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На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afs</a:t>
            </a:r>
            <a:r>
              <a:rPr dirty="0" sz="700" spc="-15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посмотреть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использованное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пространство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командой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00405" y="5830406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94004" y="5780163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fs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quota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81304" y="392412"/>
            <a:ext cx="4057650" cy="819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6619" algn="l"/>
              </a:tabLst>
            </a:pPr>
            <a:r>
              <a:rPr dirty="0" sz="600" spc="-25">
                <a:latin typeface="Book Antiqua"/>
                <a:cs typeface="Book Antiqua"/>
              </a:rPr>
              <a:t>58</a:t>
            </a:r>
            <a:r>
              <a:rPr dirty="0" sz="600">
                <a:latin typeface="Book Antiqua"/>
                <a:cs typeface="Book Antiqua"/>
              </a:rPr>
              <a:t>	</a:t>
            </a: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6.</a:t>
            </a:r>
            <a:r>
              <a:rPr dirty="0" sz="600" spc="6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Поиск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файлов.</a:t>
            </a:r>
            <a:r>
              <a:rPr dirty="0" sz="600" spc="6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Перенаправление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ввода-вывода.</a:t>
            </a:r>
            <a:r>
              <a:rPr dirty="0" sz="600" spc="5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Просмотр</a:t>
            </a:r>
            <a:r>
              <a:rPr dirty="0" sz="600" spc="-30">
                <a:latin typeface="Book Antiqua"/>
                <a:cs typeface="Book Antiqua"/>
              </a:rPr>
              <a:t>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6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dirty="0" sz="850" b="1">
                <a:latin typeface="Book Antiqua"/>
                <a:cs typeface="Book Antiqua"/>
              </a:rPr>
              <a:t>6.2.6.</a:t>
            </a:r>
            <a:r>
              <a:rPr dirty="0" sz="850" spc="305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Управление</a:t>
            </a:r>
            <a:r>
              <a:rPr dirty="0" sz="850" spc="8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задачами</a:t>
            </a:r>
            <a:endParaRPr sz="8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ct val="100000"/>
              </a:lnSpc>
              <a:spcBef>
                <a:spcPts val="555"/>
              </a:spcBef>
            </a:pPr>
            <a:r>
              <a:rPr dirty="0" sz="750" spc="-40">
                <a:latin typeface="Book Antiqua"/>
                <a:cs typeface="Book Antiqua"/>
              </a:rPr>
              <a:t>Любую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выполняющуюся</a:t>
            </a:r>
            <a:r>
              <a:rPr dirty="0" sz="750">
                <a:latin typeface="Book Antiqua"/>
                <a:cs typeface="Book Antiqua"/>
              </a:rPr>
              <a:t> в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консоли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команду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или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внешнюю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программу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запустить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фоновом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режиме. Для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этого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следует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конце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знак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амперсанда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&amp;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Например: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0405" y="1340232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94004" y="1289989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gedit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&amp;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81304" y="1555851"/>
            <a:ext cx="4076700" cy="5981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23495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запущен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текстовой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 spc="-30">
                <a:latin typeface="Courier New"/>
                <a:cs typeface="Courier New"/>
              </a:rPr>
              <a:t>gedit</a:t>
            </a:r>
            <a:r>
              <a:rPr dirty="0" sz="700" spc="-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фоновом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режиме.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Консоль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будет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заблокирована.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30"/>
              </a:spcBef>
            </a:pPr>
            <a:r>
              <a:rPr dirty="0" sz="750" spc="10">
                <a:latin typeface="Book Antiqua"/>
                <a:cs typeface="Book Antiqua"/>
              </a:rPr>
              <a:t>Запущенные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фоном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программы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называются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задачами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(jobs).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можно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управлять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jobs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которая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выводит список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запущенных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 данный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момент </a:t>
            </a:r>
            <a:r>
              <a:rPr dirty="0" sz="750" spc="-10">
                <a:latin typeface="Book Antiqua"/>
                <a:cs typeface="Book Antiqua"/>
              </a:rPr>
              <a:t>задач.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завершения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задачи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необходимо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выполнить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команду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0405" y="2282686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94004" y="2232444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kill</a:t>
            </a:r>
            <a:r>
              <a:rPr dirty="0" sz="700" spc="3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%номер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задачи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78006" y="2582182"/>
            <a:ext cx="4081779" cy="122745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lvl="2" marL="394335" indent="-378460">
              <a:lnSpc>
                <a:spcPct val="100000"/>
              </a:lnSpc>
              <a:spcBef>
                <a:spcPts val="695"/>
              </a:spcBef>
              <a:buAutoNum type="arabicPeriod" startAt="7"/>
              <a:tabLst>
                <a:tab pos="394335" algn="l"/>
              </a:tabLst>
            </a:pPr>
            <a:r>
              <a:rPr dirty="0" sz="850" b="1">
                <a:latin typeface="Book Antiqua"/>
                <a:cs typeface="Book Antiqua"/>
              </a:rPr>
              <a:t>Управление</a:t>
            </a:r>
            <a:r>
              <a:rPr dirty="0" sz="850" spc="2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процессами</a:t>
            </a:r>
            <a:endParaRPr sz="850">
              <a:latin typeface="Book Antiqua"/>
              <a:cs typeface="Book Antiqua"/>
            </a:endParaRPr>
          </a:p>
          <a:p>
            <a:pPr algn="just" marL="12700" marR="5080" indent="100965">
              <a:lnSpc>
                <a:spcPct val="100000"/>
              </a:lnSpc>
              <a:spcBef>
                <a:spcPts val="555"/>
              </a:spcBef>
            </a:pPr>
            <a:r>
              <a:rPr dirty="0" sz="750" spc="10">
                <a:latin typeface="Book Antiqua"/>
                <a:cs typeface="Book Antiqua"/>
              </a:rPr>
              <a:t>Любой</a:t>
            </a:r>
            <a:r>
              <a:rPr dirty="0" sz="750" spc="2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команде,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выполняемой</a:t>
            </a:r>
            <a:r>
              <a:rPr dirty="0" sz="750" spc="21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2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системе,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присваивается</a:t>
            </a:r>
            <a:r>
              <a:rPr dirty="0" sz="750" spc="210">
                <a:latin typeface="Book Antiqua"/>
                <a:cs typeface="Book Antiqua"/>
              </a:rPr>
              <a:t> </a:t>
            </a:r>
            <a:r>
              <a:rPr dirty="0" sz="750" spc="10" i="1">
                <a:latin typeface="Book Antiqua"/>
                <a:cs typeface="Book Antiqua"/>
              </a:rPr>
              <a:t>идентификатор</a:t>
            </a:r>
            <a:r>
              <a:rPr dirty="0" sz="750" spc="204" i="1">
                <a:latin typeface="Book Antiqua"/>
                <a:cs typeface="Book Antiqua"/>
              </a:rPr>
              <a:t> </a:t>
            </a:r>
            <a:r>
              <a:rPr dirty="0" sz="750" spc="-10" i="1">
                <a:latin typeface="Book Antiqua"/>
                <a:cs typeface="Book Antiqua"/>
              </a:rPr>
              <a:t>процесса</a:t>
            </a:r>
            <a:r>
              <a:rPr dirty="0" sz="750" spc="500" i="1">
                <a:latin typeface="Book Antiqua"/>
                <a:cs typeface="Book Antiqua"/>
              </a:rPr>
              <a:t> </a:t>
            </a:r>
            <a:r>
              <a:rPr dirty="0" sz="750" spc="10" i="1">
                <a:latin typeface="Book Antiqua"/>
                <a:cs typeface="Book Antiqua"/>
              </a:rPr>
              <a:t>(process</a:t>
            </a:r>
            <a:r>
              <a:rPr dirty="0" sz="750" spc="80" i="1">
                <a:latin typeface="Book Antiqua"/>
                <a:cs typeface="Book Antiqua"/>
              </a:rPr>
              <a:t> </a:t>
            </a:r>
            <a:r>
              <a:rPr dirty="0" sz="750" spc="10" i="1">
                <a:latin typeface="Book Antiqua"/>
                <a:cs typeface="Book Antiqua"/>
              </a:rPr>
              <a:t>ID)</a:t>
            </a:r>
            <a:r>
              <a:rPr dirty="0" sz="750" spc="10">
                <a:latin typeface="Book Antiqua"/>
                <a:cs typeface="Book Antiqua"/>
              </a:rPr>
              <a:t>.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Получить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информацию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процессе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управлять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им,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пользуясь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идентифи-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катором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процесса,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любого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окна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командного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интерпретатора.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750">
              <a:latin typeface="Book Antiqua"/>
              <a:cs typeface="Book Antiqua"/>
            </a:endParaRPr>
          </a:p>
          <a:p>
            <a:pPr lvl="2" marL="401955" indent="-386080">
              <a:lnSpc>
                <a:spcPct val="100000"/>
              </a:lnSpc>
              <a:buAutoNum type="arabicPeriod" startAt="8"/>
              <a:tabLst>
                <a:tab pos="401955" algn="l"/>
              </a:tabLst>
            </a:pPr>
            <a:r>
              <a:rPr dirty="0" sz="850" b="1">
                <a:latin typeface="Book Antiqua"/>
                <a:cs typeface="Book Antiqua"/>
              </a:rPr>
              <a:t>Получение</a:t>
            </a:r>
            <a:r>
              <a:rPr dirty="0" sz="850" spc="7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информации</a:t>
            </a:r>
            <a:r>
              <a:rPr dirty="0" sz="850" spc="80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о</a:t>
            </a:r>
            <a:r>
              <a:rPr dirty="0" sz="850" spc="7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процессах</a:t>
            </a:r>
            <a:endParaRPr sz="850">
              <a:latin typeface="Book Antiqua"/>
              <a:cs typeface="Book Antiqua"/>
            </a:endParaRPr>
          </a:p>
          <a:p>
            <a:pPr marL="113664" marR="864235">
              <a:lnSpc>
                <a:spcPct val="100000"/>
              </a:lnSpc>
              <a:spcBef>
                <a:spcPts val="555"/>
              </a:spcBef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ps</a:t>
            </a:r>
            <a:r>
              <a:rPr dirty="0" sz="700" spc="-204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используется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получения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информации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процессах.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00405" y="3938601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94004" y="3888359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ps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10">
                <a:latin typeface="Courier New"/>
                <a:cs typeface="Courier New"/>
              </a:rPr>
              <a:t>опции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81304" y="4154220"/>
            <a:ext cx="4078604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Для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получения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информации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процессах, управляемых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вами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запущенных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(работаю-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щих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остановленных)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вашем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терминале,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используйте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опцию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aux</a:t>
            </a:r>
            <a:r>
              <a:rPr dirty="0" sz="750" spc="-2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110489">
              <a:lnSpc>
                <a:spcPts val="890"/>
              </a:lnSpc>
            </a:pPr>
            <a:r>
              <a:rPr dirty="0" sz="750" spc="-10" b="1">
                <a:latin typeface="Book Antiqua"/>
                <a:cs typeface="Book Antiqua"/>
              </a:rPr>
              <a:t>Пример: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00405" y="4653840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94004" y="4603597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ps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aux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81304" y="4869472"/>
            <a:ext cx="4078604" cy="4845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запуска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фоновом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необходимо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конце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ука-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зать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знак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&amp;</a:t>
            </a:r>
            <a:r>
              <a:rPr dirty="0" sz="700" spc="-175">
                <a:latin typeface="Courier New"/>
                <a:cs typeface="Courier New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(амперсанд).</a:t>
            </a:r>
            <a:endParaRPr sz="750">
              <a:latin typeface="Book Antiqua"/>
              <a:cs typeface="Book Antiqua"/>
            </a:endParaRPr>
          </a:p>
          <a:p>
            <a:pPr marL="12700" marR="25400" indent="97790">
              <a:lnSpc>
                <a:spcPts val="890"/>
              </a:lnSpc>
              <a:spcBef>
                <a:spcPts val="30"/>
              </a:spcBef>
            </a:pPr>
            <a:r>
              <a:rPr dirty="0" sz="750" spc="10">
                <a:latin typeface="Book Antiqua"/>
                <a:cs typeface="Book Antiqua"/>
              </a:rPr>
              <a:t>Пример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работы,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требующей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много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машинного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времени для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выполнения,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которую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целесообразно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запустить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фоновом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режиме: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00405" y="5482692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94004" y="5432437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find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/var/log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-name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A2121"/>
                </a:solidFill>
                <a:latin typeface="Courier New"/>
                <a:cs typeface="Courier New"/>
              </a:rPr>
              <a:t>"*.log"</a:t>
            </a:r>
            <a:r>
              <a:rPr dirty="0" sz="700" spc="3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-print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&gt;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l.log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&amp;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77367" y="5869180"/>
            <a:ext cx="4082415" cy="8350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 sz="850" spc="10" b="1">
                <a:latin typeface="Book Antiqua"/>
                <a:cs typeface="Book Antiqua"/>
              </a:rPr>
              <a:t>6.3.</a:t>
            </a:r>
            <a:r>
              <a:rPr dirty="0" sz="850" spc="254" b="1">
                <a:latin typeface="Book Antiqua"/>
                <a:cs typeface="Book Antiqua"/>
              </a:rPr>
              <a:t>  </a:t>
            </a:r>
            <a:r>
              <a:rPr dirty="0" sz="850" spc="10" b="1">
                <a:latin typeface="Book Antiqua"/>
                <a:cs typeface="Book Antiqua"/>
              </a:rPr>
              <a:t>Последовательность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выполнения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spcBef>
                <a:spcPts val="865"/>
              </a:spcBef>
              <a:buAutoNum type="arabicPeriod"/>
              <a:tabLst>
                <a:tab pos="148590" algn="l"/>
              </a:tabLst>
            </a:pPr>
            <a:r>
              <a:rPr dirty="0" sz="750" spc="10">
                <a:latin typeface="Book Antiqua"/>
                <a:cs typeface="Book Antiqua"/>
              </a:rPr>
              <a:t>Осуществите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вход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систему,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соответствующее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пользователя.</a:t>
            </a:r>
            <a:endParaRPr sz="750">
              <a:latin typeface="Book Antiqua"/>
              <a:cs typeface="Book Antiqua"/>
            </a:endParaRPr>
          </a:p>
          <a:p>
            <a:pPr marL="147955" marR="5080" indent="-135890">
              <a:lnSpc>
                <a:spcPts val="890"/>
              </a:lnSpc>
              <a:spcBef>
                <a:spcPts val="35"/>
              </a:spcBef>
              <a:buAutoNum type="arabicPeriod"/>
              <a:tabLst>
                <a:tab pos="149225" algn="l"/>
              </a:tabLst>
            </a:pPr>
            <a:r>
              <a:rPr dirty="0" sz="750" spc="10">
                <a:latin typeface="Book Antiqua"/>
                <a:cs typeface="Book Antiqua"/>
              </a:rPr>
              <a:t>Запишите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file.txt</a:t>
            </a:r>
            <a:r>
              <a:rPr dirty="0" sz="700" spc="-204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названия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файлов,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содержащихся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/etc</a:t>
            </a:r>
            <a:r>
              <a:rPr dirty="0" sz="750" spc="10">
                <a:latin typeface="Book Antiqua"/>
                <a:cs typeface="Book Antiqua"/>
              </a:rPr>
              <a:t>.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Допи-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шите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же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названия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содержащихся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вашем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домашнем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каталоге.</a:t>
            </a:r>
            <a:endParaRPr sz="750">
              <a:latin typeface="Book Antiqua"/>
              <a:cs typeface="Book Antiqua"/>
            </a:endParaRPr>
          </a:p>
          <a:p>
            <a:pPr marL="147955" marR="25400" indent="-135890">
              <a:lnSpc>
                <a:spcPts val="890"/>
              </a:lnSpc>
              <a:spcBef>
                <a:spcPts val="10"/>
              </a:spcBef>
              <a:buAutoNum type="arabicPeriod"/>
              <a:tabLst>
                <a:tab pos="149225" algn="l"/>
              </a:tabLst>
            </a:pPr>
            <a:r>
              <a:rPr dirty="0" sz="750" spc="10">
                <a:latin typeface="Book Antiqua"/>
                <a:cs typeface="Book Antiqua"/>
              </a:rPr>
              <a:t>Выведите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имена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всех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файлов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из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file.txt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имеющих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расширение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.conf</a:t>
            </a:r>
            <a:r>
              <a:rPr dirty="0" sz="750" spc="10">
                <a:latin typeface="Book Antiqua"/>
                <a:cs typeface="Book Antiqua"/>
              </a:rPr>
              <a:t>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после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чего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запишите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их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новый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текстовой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conf.txt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latin typeface="Book Antiqua"/>
                <a:cs typeface="Book Antiqua"/>
              </a:rPr>
              <a:t>Кулябов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Д.</a:t>
            </a:r>
            <a:r>
              <a:rPr dirty="0" sz="600" spc="-40" i="1">
                <a:latin typeface="Book Antiqua"/>
                <a:cs typeface="Book Antiqua"/>
              </a:rPr>
              <a:t> </a:t>
            </a:r>
            <a:r>
              <a:rPr dirty="0" sz="600" spc="-10" i="1">
                <a:latin typeface="Book Antiqua"/>
                <a:cs typeface="Book Antiqua"/>
              </a:rPr>
              <a:t>С.</a:t>
            </a:r>
            <a:r>
              <a:rPr dirty="0" sz="600" spc="-1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и</a:t>
            </a:r>
            <a:r>
              <a:rPr dirty="0" sz="600" spc="5" i="1">
                <a:latin typeface="Book Antiqua"/>
                <a:cs typeface="Book Antiqua"/>
              </a:rPr>
              <a:t> </a:t>
            </a:r>
            <a:r>
              <a:rPr dirty="0" sz="600" i="1">
                <a:latin typeface="Book Antiqua"/>
                <a:cs typeface="Book Antiqua"/>
              </a:rPr>
              <a:t>др.</a:t>
            </a:r>
            <a:r>
              <a:rPr dirty="0" sz="600" spc="70" i="1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59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25056" y="653389"/>
            <a:ext cx="4135120" cy="50514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00025" marR="26034" indent="-135890">
              <a:lnSpc>
                <a:spcPct val="100000"/>
              </a:lnSpc>
              <a:spcBef>
                <a:spcPts val="120"/>
              </a:spcBef>
              <a:buAutoNum type="arabicPeriod" startAt="4"/>
              <a:tabLst>
                <a:tab pos="201295" algn="l"/>
              </a:tabLst>
            </a:pPr>
            <a:r>
              <a:rPr dirty="0" sz="750">
                <a:latin typeface="Book Antiqua"/>
                <a:cs typeface="Book Antiqua"/>
              </a:rPr>
              <a:t>Определите,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какие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файлы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вашем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домашнем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имеют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имена,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начинавшиеся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</a:t>
            </a:r>
            <a:r>
              <a:rPr dirty="0" sz="750">
                <a:latin typeface="Book Antiqua"/>
                <a:cs typeface="Book Antiqua"/>
              </a:rPr>
              <a:t>?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Предложите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несколько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вариантов, как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сделать.</a:t>
            </a:r>
            <a:endParaRPr sz="750">
              <a:latin typeface="Book Antiqua"/>
              <a:cs typeface="Book Antiqua"/>
            </a:endParaRPr>
          </a:p>
          <a:p>
            <a:pPr marL="200025" marR="26034" indent="-135890">
              <a:lnSpc>
                <a:spcPts val="890"/>
              </a:lnSpc>
              <a:spcBef>
                <a:spcPts val="30"/>
              </a:spcBef>
              <a:buAutoNum type="arabicPeriod" startAt="4"/>
              <a:tabLst>
                <a:tab pos="201295" algn="l"/>
              </a:tabLst>
            </a:pPr>
            <a:r>
              <a:rPr dirty="0" sz="750" spc="10">
                <a:latin typeface="Book Antiqua"/>
                <a:cs typeface="Book Antiqua"/>
              </a:rPr>
              <a:t>Выведите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экран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(по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странично)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имена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файлов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из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/etc</a:t>
            </a:r>
            <a:r>
              <a:rPr dirty="0" sz="750" spc="10">
                <a:latin typeface="Book Antiqua"/>
                <a:cs typeface="Book Antiqua"/>
              </a:rPr>
              <a:t>, </a:t>
            </a:r>
            <a:r>
              <a:rPr dirty="0" sz="750" spc="-10">
                <a:latin typeface="Book Antiqua"/>
                <a:cs typeface="Book Antiqua"/>
              </a:rPr>
              <a:t>начинающиеся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h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69"/>
              </a:lnSpc>
              <a:buAutoNum type="arabicPeriod" startAt="4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Запустите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фоновом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который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записывать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~/logfile</a:t>
            </a:r>
            <a:endParaRPr sz="700">
              <a:latin typeface="Courier New"/>
              <a:cs typeface="Courier New"/>
            </a:endParaRPr>
          </a:p>
          <a:p>
            <a:pPr marL="201295">
              <a:lnSpc>
                <a:spcPts val="894"/>
              </a:lnSpc>
            </a:pPr>
            <a:r>
              <a:rPr dirty="0" sz="750" spc="-10">
                <a:latin typeface="Book Antiqua"/>
                <a:cs typeface="Book Antiqua"/>
              </a:rPr>
              <a:t>файлы,</a:t>
            </a:r>
            <a:r>
              <a:rPr dirty="0" sz="750">
                <a:latin typeface="Book Antiqua"/>
                <a:cs typeface="Book Antiqua"/>
              </a:rPr>
              <a:t> имена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которых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начинаются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log</a:t>
            </a:r>
            <a:r>
              <a:rPr dirty="0" sz="750" spc="-2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200025" indent="-125730">
              <a:lnSpc>
                <a:spcPts val="894"/>
              </a:lnSpc>
              <a:buAutoNum type="arabicPeriod" startAt="7"/>
              <a:tabLst>
                <a:tab pos="200025" algn="l"/>
              </a:tabLst>
            </a:pPr>
            <a:r>
              <a:rPr dirty="0" sz="750">
                <a:latin typeface="Book Antiqua"/>
                <a:cs typeface="Book Antiqua"/>
              </a:rPr>
              <a:t>Удалите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~/logfile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 startAt="7"/>
              <a:tabLst>
                <a:tab pos="200660" algn="l"/>
              </a:tabLst>
            </a:pPr>
            <a:r>
              <a:rPr dirty="0" sz="750" spc="10">
                <a:latin typeface="Book Antiqua"/>
                <a:cs typeface="Book Antiqua"/>
              </a:rPr>
              <a:t>Запустите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из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консоли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 i="1">
                <a:latin typeface="Book Antiqua"/>
                <a:cs typeface="Book Antiqua"/>
              </a:rPr>
              <a:t>в</a:t>
            </a:r>
            <a:r>
              <a:rPr dirty="0" sz="750" spc="40" i="1">
                <a:latin typeface="Book Antiqua"/>
                <a:cs typeface="Book Antiqua"/>
              </a:rPr>
              <a:t> </a:t>
            </a:r>
            <a:r>
              <a:rPr dirty="0" sz="750" spc="10" i="1">
                <a:latin typeface="Book Antiqua"/>
                <a:cs typeface="Book Antiqua"/>
              </a:rPr>
              <a:t>фоновом</a:t>
            </a:r>
            <a:r>
              <a:rPr dirty="0" sz="750" spc="45" i="1">
                <a:latin typeface="Book Antiqua"/>
                <a:cs typeface="Book Antiqua"/>
              </a:rPr>
              <a:t> </a:t>
            </a:r>
            <a:r>
              <a:rPr dirty="0" sz="750" spc="10" i="1">
                <a:latin typeface="Book Antiqua"/>
                <a:cs typeface="Book Antiqua"/>
              </a:rPr>
              <a:t>режиме</a:t>
            </a:r>
            <a:r>
              <a:rPr dirty="0" sz="750" spc="50" i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gedit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 startAt="7"/>
              <a:tabLst>
                <a:tab pos="200660" algn="l"/>
              </a:tabLst>
            </a:pPr>
            <a:r>
              <a:rPr dirty="0" sz="750" spc="-10">
                <a:latin typeface="Book Antiqua"/>
                <a:cs typeface="Book Antiqua"/>
              </a:rPr>
              <a:t>Определите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идентификатор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процесса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gedit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используя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команду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ps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конвейер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и </a:t>
            </a:r>
            <a:r>
              <a:rPr dirty="0" sz="750" spc="-10">
                <a:latin typeface="Book Antiqua"/>
                <a:cs typeface="Book Antiqua"/>
              </a:rPr>
              <a:t>фильтр</a:t>
            </a:r>
            <a:endParaRPr sz="750">
              <a:latin typeface="Book Antiqua"/>
              <a:cs typeface="Book Antiqua"/>
            </a:endParaRPr>
          </a:p>
          <a:p>
            <a:pPr marL="201295">
              <a:lnSpc>
                <a:spcPts val="894"/>
              </a:lnSpc>
            </a:pPr>
            <a:r>
              <a:rPr dirty="0" sz="700">
                <a:latin typeface="Courier New"/>
                <a:cs typeface="Courier New"/>
              </a:rPr>
              <a:t>grep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ещё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определить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идентификатор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процесса?</a:t>
            </a:r>
            <a:endParaRPr sz="750">
              <a:latin typeface="Book Antiqua"/>
              <a:cs typeface="Book Antiqua"/>
            </a:endParaRPr>
          </a:p>
          <a:p>
            <a:pPr marL="200025" marR="26034" indent="-187960">
              <a:lnSpc>
                <a:spcPts val="890"/>
              </a:lnSpc>
              <a:spcBef>
                <a:spcPts val="35"/>
              </a:spcBef>
              <a:buAutoNum type="arabicPeriod" startAt="10"/>
              <a:tabLst>
                <a:tab pos="201295" algn="l"/>
              </a:tabLst>
            </a:pPr>
            <a:r>
              <a:rPr dirty="0" sz="750">
                <a:latin typeface="Book Antiqua"/>
                <a:cs typeface="Book Antiqua"/>
              </a:rPr>
              <a:t>Прочтите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справку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man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kill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чего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используйте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её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завершения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процесса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gedit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200025" marR="26034" indent="-187960">
              <a:lnSpc>
                <a:spcPts val="890"/>
              </a:lnSpc>
              <a:spcBef>
                <a:spcPts val="10"/>
              </a:spcBef>
              <a:buAutoNum type="arabicPeriod" startAt="10"/>
              <a:tabLst>
                <a:tab pos="201295" algn="l"/>
              </a:tabLst>
            </a:pPr>
            <a:r>
              <a:rPr dirty="0" sz="750">
                <a:latin typeface="Book Antiqua"/>
                <a:cs typeface="Book Antiqua"/>
              </a:rPr>
              <a:t>Выполните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df</a:t>
            </a:r>
            <a:r>
              <a:rPr dirty="0" sz="700" spc="-24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du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предварительно</a:t>
            </a:r>
            <a:r>
              <a:rPr dirty="0" sz="750" spc="-10">
                <a:latin typeface="Book Antiqua"/>
                <a:cs typeface="Book Antiqua"/>
              </a:rPr>
              <a:t> получив </a:t>
            </a:r>
            <a:r>
              <a:rPr dirty="0" sz="750">
                <a:latin typeface="Book Antiqua"/>
                <a:cs typeface="Book Antiqua"/>
              </a:rPr>
              <a:t>более</a:t>
            </a:r>
            <a:r>
              <a:rPr dirty="0" sz="750" spc="-10">
                <a:latin typeface="Book Antiqua"/>
                <a:cs typeface="Book Antiqua"/>
              </a:rPr>
              <a:t> подробную информацию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об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этих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командах,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man</a:t>
            </a:r>
            <a:r>
              <a:rPr dirty="0" sz="750" spc="-2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200025" marR="5080" indent="-187960">
              <a:lnSpc>
                <a:spcPts val="890"/>
              </a:lnSpc>
              <a:spcBef>
                <a:spcPts val="5"/>
              </a:spcBef>
              <a:buAutoNum type="arabicPeriod" startAt="10"/>
              <a:tabLst>
                <a:tab pos="201295" algn="l"/>
              </a:tabLst>
            </a:pPr>
            <a:r>
              <a:rPr dirty="0" sz="750">
                <a:latin typeface="Book Antiqua"/>
                <a:cs typeface="Book Antiqua"/>
              </a:rPr>
              <a:t>Воспользовавшись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справкой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find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выведите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имена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всех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директорий,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имею-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щихся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вашем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домашнем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каталоге.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750">
              <a:latin typeface="Book Antiqua"/>
              <a:cs typeface="Book Antiqua"/>
            </a:endParaRPr>
          </a:p>
          <a:p>
            <a:pPr marL="68580">
              <a:lnSpc>
                <a:spcPct val="100000"/>
              </a:lnSpc>
            </a:pPr>
            <a:r>
              <a:rPr dirty="0" sz="850" b="1">
                <a:latin typeface="Book Antiqua"/>
                <a:cs typeface="Book Antiqua"/>
              </a:rPr>
              <a:t>6.4.</a:t>
            </a:r>
            <a:r>
              <a:rPr dirty="0" sz="850" spc="280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Содержание</a:t>
            </a:r>
            <a:r>
              <a:rPr dirty="0" sz="850" spc="6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отчёта</a:t>
            </a:r>
            <a:endParaRPr sz="8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spcBef>
                <a:spcPts val="865"/>
              </a:spcBef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Титульный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лист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указанием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номера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40">
                <a:latin typeface="Book Antiqua"/>
                <a:cs typeface="Book Antiqua"/>
              </a:rPr>
              <a:t>ФИО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студента.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Формулировка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Описание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результатов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задания:</a:t>
            </a:r>
            <a:endParaRPr sz="750">
              <a:latin typeface="Book Antiqua"/>
              <a:cs typeface="Book Antiqua"/>
            </a:endParaRPr>
          </a:p>
          <a:p>
            <a:pPr lvl="1" marL="412750" indent="-117475">
              <a:lnSpc>
                <a:spcPts val="894"/>
              </a:lnSpc>
              <a:buFont typeface="Book Antiqua"/>
              <a:buChar char="–"/>
              <a:tabLst>
                <a:tab pos="412750" algn="l"/>
              </a:tabLst>
            </a:pPr>
            <a:r>
              <a:rPr dirty="0" sz="750">
                <a:latin typeface="Book Antiqua"/>
                <a:cs typeface="Book Antiqua"/>
              </a:rPr>
              <a:t>скриншоты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(снимки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экрана),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фиксирующие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лаб.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раб.;</a:t>
            </a:r>
            <a:endParaRPr sz="750">
              <a:latin typeface="Book Antiqua"/>
              <a:cs typeface="Book Antiqua"/>
            </a:endParaRPr>
          </a:p>
          <a:p>
            <a:pPr lvl="1" marL="412750" indent="-117475">
              <a:lnSpc>
                <a:spcPts val="894"/>
              </a:lnSpc>
              <a:buFont typeface="Book Antiqua"/>
              <a:buChar char="–"/>
              <a:tabLst>
                <a:tab pos="412750" algn="l"/>
              </a:tabLst>
            </a:pPr>
            <a:r>
              <a:rPr dirty="0" sz="750">
                <a:latin typeface="Book Antiqua"/>
                <a:cs typeface="Book Antiqua"/>
              </a:rPr>
              <a:t>листинги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(исходный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код)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(если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есть);</a:t>
            </a:r>
            <a:endParaRPr sz="750">
              <a:latin typeface="Book Antiqua"/>
              <a:cs typeface="Book Antiqua"/>
            </a:endParaRPr>
          </a:p>
          <a:p>
            <a:pPr lvl="1" marL="412750" indent="-117475">
              <a:lnSpc>
                <a:spcPts val="894"/>
              </a:lnSpc>
              <a:buFont typeface="Book Antiqua"/>
              <a:buChar char="–"/>
              <a:tabLst>
                <a:tab pos="412750" algn="l"/>
              </a:tabLst>
            </a:pPr>
            <a:r>
              <a:rPr dirty="0" sz="750">
                <a:latin typeface="Book Antiqua"/>
                <a:cs typeface="Book Antiqua"/>
              </a:rPr>
              <a:t>результаты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программ.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Выводы,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согласованные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целью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Ответы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контрольные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вопросы.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AutoNum type="arabicPeriod"/>
            </a:pPr>
            <a:endParaRPr sz="750">
              <a:latin typeface="Book Antiqua"/>
              <a:cs typeface="Book Antiqua"/>
            </a:endParaRPr>
          </a:p>
          <a:p>
            <a:pPr marL="161925" indent="-93345">
              <a:lnSpc>
                <a:spcPct val="100000"/>
              </a:lnSpc>
              <a:buSzPct val="88235"/>
              <a:buAutoNum type="arabicPeriod"/>
              <a:tabLst>
                <a:tab pos="161925" algn="l"/>
              </a:tabLst>
            </a:pPr>
            <a:r>
              <a:rPr dirty="0" sz="850" b="1">
                <a:latin typeface="Book Antiqua"/>
                <a:cs typeface="Book Antiqua"/>
              </a:rPr>
              <a:t>5.</a:t>
            </a:r>
            <a:r>
              <a:rPr dirty="0" sz="850" spc="240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Контрольные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вопросы</a:t>
            </a:r>
            <a:endParaRPr sz="8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spcBef>
                <a:spcPts val="860"/>
              </a:spcBef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Какие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потоки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ввода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знаете?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Объясните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разницу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между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операцией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&gt;</a:t>
            </a:r>
            <a:r>
              <a:rPr dirty="0" sz="700" spc="-204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&gt;&gt;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 spc="-20">
                <a:latin typeface="Book Antiqua"/>
                <a:cs typeface="Book Antiqua"/>
              </a:rPr>
              <a:t>Что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такое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конвейер?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 spc="-20">
                <a:latin typeface="Book Antiqua"/>
                <a:cs typeface="Book Antiqua"/>
              </a:rPr>
              <a:t>Что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такое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процесс?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Чем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понятие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отличается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программы?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 spc="-20">
                <a:latin typeface="Book Antiqua"/>
                <a:cs typeface="Book Antiqua"/>
              </a:rPr>
              <a:t>Что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такое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PID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GID?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 spc="-20">
                <a:latin typeface="Book Antiqua"/>
                <a:cs typeface="Book Antiqua"/>
              </a:rPr>
              <a:t>Что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такое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задачи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какая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позволяет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управлять?</a:t>
            </a:r>
            <a:endParaRPr sz="750">
              <a:latin typeface="Book Antiqua"/>
              <a:cs typeface="Book Antiqua"/>
            </a:endParaRPr>
          </a:p>
          <a:p>
            <a:pPr marL="200025" indent="-125730">
              <a:lnSpc>
                <a:spcPts val="894"/>
              </a:lnSpc>
              <a:buAutoNum type="arabicPeriod"/>
              <a:tabLst>
                <a:tab pos="200025" algn="l"/>
              </a:tabLst>
            </a:pPr>
            <a:r>
              <a:rPr dirty="0" sz="750">
                <a:latin typeface="Book Antiqua"/>
                <a:cs typeface="Book Antiqua"/>
              </a:rPr>
              <a:t>Найдите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информацию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утилитах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top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htop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Каковы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их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функции?</a:t>
            </a:r>
            <a:endParaRPr sz="750">
              <a:latin typeface="Book Antiqua"/>
              <a:cs typeface="Book Antiqua"/>
            </a:endParaRPr>
          </a:p>
          <a:p>
            <a:pPr marL="200025" marR="5080" indent="-135890">
              <a:lnSpc>
                <a:spcPts val="890"/>
              </a:lnSpc>
              <a:spcBef>
                <a:spcPts val="35"/>
              </a:spcBef>
              <a:buAutoNum type="arabicPeriod"/>
              <a:tabLst>
                <a:tab pos="201295" algn="l"/>
              </a:tabLst>
            </a:pPr>
            <a:r>
              <a:rPr dirty="0" sz="750">
                <a:latin typeface="Book Antiqua"/>
                <a:cs typeface="Book Antiqua"/>
              </a:rPr>
              <a:t>Назовите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дайте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характеристику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команде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поиска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файлов.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Приведите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примеры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ис-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пользования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этой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команды.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69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контексту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(содержанию)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найти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файл?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да,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как?</a:t>
            </a:r>
            <a:endParaRPr sz="750">
              <a:latin typeface="Book Antiqua"/>
              <a:cs typeface="Book Antiqua"/>
            </a:endParaRPr>
          </a:p>
          <a:p>
            <a:pPr marL="200660" indent="-18796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определить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объем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свободной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памяти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жёстком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диске?</a:t>
            </a:r>
            <a:endParaRPr sz="750">
              <a:latin typeface="Book Antiqua"/>
              <a:cs typeface="Book Antiqua"/>
            </a:endParaRPr>
          </a:p>
          <a:p>
            <a:pPr marL="200660" indent="-18796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определить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объем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вашего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домашнего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каталога?</a:t>
            </a:r>
            <a:endParaRPr sz="750">
              <a:latin typeface="Book Antiqua"/>
              <a:cs typeface="Book Antiqua"/>
            </a:endParaRPr>
          </a:p>
          <a:p>
            <a:pPr marL="200660" indent="-18796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удалить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зависший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процесс?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2026-03-20T17:46:35Z</dcterms:created>
  <dcterms:modified xsi:type="dcterms:W3CDTF">2026-03-20T17:46:35Z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2026-03-20T00:00:00Z</vt:filetime>
  </property>
  <property fmtid="{D5CDD505-2E9C-101B-9397-08002B2CF9AE}" pid="3" name="LastSaved">
    <vt:filetime>2026-03-20T00:00:00Z</vt:filetime>
  </property>
  <property fmtid="{D5CDD505-2E9C-101B-9397-08002B2CF9AE}" pid="4" name="Producer">
    <vt:lpwstr>3-Heights(TM) PDF Security Shell 4.8.25.2 (http://www.pdf-tools.com)</vt:lpwstr>
  </property>
</Properties>
</file>
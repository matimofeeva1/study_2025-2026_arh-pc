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copr.fedorainfracloud.org/coprs/elegos/gitflow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git@github.com" TargetMode="External"/><Relationship Id="rId3" Type="http://schemas.openxmlformats.org/officeDocument/2006/relationships/hyperlink" Target="https://spdx.org/licenses/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username@gmail.com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01089" y="698970"/>
            <a:ext cx="5219065" cy="108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55930" marR="332105" indent="76200">
              <a:lnSpc>
                <a:spcPts val="3229"/>
              </a:lnSpc>
              <a:spcBef>
                <a:spcPts val="165"/>
              </a:spcBef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физико-</a:t>
            </a:r>
            <a:r>
              <a:rPr dirty="0" sz="1300" spc="-10" b="1">
                <a:latin typeface="Times New Roman"/>
                <a:cs typeface="Times New Roman"/>
              </a:rPr>
              <a:t>математических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прикладной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06339" y="3809497"/>
            <a:ext cx="3832225" cy="1301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4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1463675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sz="1600" spc="-45" i="1"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71963" y="8409203"/>
            <a:ext cx="318770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330342" y="9160700"/>
            <a:ext cx="1564005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sz="1300" spc="-60"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90556" y="2535441"/>
            <a:ext cx="777875" cy="6172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300">
                <a:latin typeface="Times New Roman"/>
                <a:cs typeface="Times New Roman"/>
              </a:rPr>
              <a:t>2026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06765" y="3376968"/>
            <a:ext cx="5674360" cy="684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202528"/>
                </a:solidFill>
                <a:latin typeface="Calibri"/>
                <a:cs typeface="Calibri"/>
              </a:rPr>
              <a:t>Цель</a:t>
            </a:r>
            <a:r>
              <a:rPr dirty="0" sz="1600" spc="-5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endParaRPr sz="1600">
              <a:latin typeface="Calibri"/>
              <a:cs typeface="Calibri"/>
            </a:endParaRPr>
          </a:p>
          <a:p>
            <a:pPr marL="320675" indent="-79375">
              <a:lnSpc>
                <a:spcPct val="100000"/>
              </a:lnSpc>
              <a:spcBef>
                <a:spcPts val="1345"/>
              </a:spcBef>
              <a:buSzPct val="95238"/>
              <a:buFont typeface="Arial"/>
              <a:buChar char="•"/>
              <a:tabLst>
                <a:tab pos="32067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Получение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навыков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правильной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репозиториями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git. </a:t>
            </a:r>
            <a:r>
              <a:rPr dirty="0" sz="1600" b="1">
                <a:solidFill>
                  <a:srgbClr val="202528"/>
                </a:solidFill>
                <a:latin typeface="Calibri"/>
                <a:cs typeface="Calibri"/>
              </a:rPr>
              <a:t>выполнения</a:t>
            </a:r>
            <a:r>
              <a:rPr dirty="0" sz="1600" spc="-20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600" spc="-10" b="1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7229" y="4243794"/>
            <a:ext cx="3475990" cy="9899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>
                <a:solidFill>
                  <a:srgbClr val="282C3D"/>
                </a:solidFill>
                <a:latin typeface="Calibri"/>
                <a:cs typeface="Calibri"/>
              </a:rPr>
              <a:t>Установка</a:t>
            </a:r>
            <a:r>
              <a:rPr dirty="0" sz="1650" spc="-20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282C3D"/>
                </a:solidFill>
                <a:latin typeface="Calibri"/>
                <a:cs typeface="Calibri"/>
              </a:rPr>
              <a:t>программного</a:t>
            </a:r>
            <a:r>
              <a:rPr dirty="0" sz="1650" spc="-20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282C3D"/>
                </a:solidFill>
                <a:latin typeface="Calibri"/>
                <a:cs typeface="Calibri"/>
              </a:rPr>
              <a:t>обеспечения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200" b="1">
                <a:solidFill>
                  <a:srgbClr val="202528"/>
                </a:solidFill>
                <a:latin typeface="Calibri"/>
                <a:cs typeface="Calibri"/>
              </a:rPr>
              <a:t>Установка</a:t>
            </a:r>
            <a:r>
              <a:rPr dirty="0" sz="1200" spc="-40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Calibri"/>
                <a:cs typeface="Calibri"/>
              </a:rPr>
              <a:t>git-</a:t>
            </a:r>
            <a:r>
              <a:rPr dirty="0" sz="1200" spc="-20" b="1">
                <a:solidFill>
                  <a:srgbClr val="202528"/>
                </a:solidFill>
                <a:latin typeface="Calibri"/>
                <a:cs typeface="Calibri"/>
              </a:rPr>
              <a:t>flow</a:t>
            </a:r>
            <a:endParaRPr sz="1200">
              <a:latin typeface="Calibri"/>
              <a:cs typeface="Calibri"/>
            </a:endParaRPr>
          </a:p>
          <a:p>
            <a:pPr marL="320675" indent="-79375">
              <a:lnSpc>
                <a:spcPct val="100000"/>
              </a:lnSpc>
              <a:spcBef>
                <a:spcPts val="150"/>
              </a:spcBef>
              <a:buSzPct val="95238"/>
              <a:buFont typeface="Arial"/>
              <a:buChar char="•"/>
              <a:tabLst>
                <a:tab pos="32067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Linux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2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Fedora</a:t>
            </a:r>
            <a:endParaRPr sz="1050">
              <a:latin typeface="Calibri"/>
              <a:cs typeface="Calibri"/>
            </a:endParaRPr>
          </a:p>
          <a:p>
            <a:pPr lvl="1" marL="1767205" indent="-601980">
              <a:lnSpc>
                <a:spcPct val="100000"/>
              </a:lnSpc>
              <a:spcBef>
                <a:spcPts val="375"/>
              </a:spcBef>
              <a:buSzPct val="95238"/>
              <a:buFont typeface="Arial"/>
              <a:buChar char="▪"/>
              <a:tabLst>
                <a:tab pos="1767205" algn="l"/>
                <a:tab pos="285369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Установка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	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79682" y="5047843"/>
            <a:ext cx="19494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728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коллекции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репозиториев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617055" y="5047843"/>
            <a:ext cx="2774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 i="1">
                <a:solidFill>
                  <a:srgbClr val="202528"/>
                </a:solidFill>
                <a:latin typeface="Calibri"/>
                <a:cs typeface="Calibri"/>
              </a:rPr>
              <a:t>Copr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078354" y="5207241"/>
            <a:ext cx="3476625" cy="41655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386715">
              <a:lnSpc>
                <a:spcPct val="100000"/>
              </a:lnSpc>
              <a:spcBef>
                <a:spcPts val="37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2"/>
              </a:rPr>
              <a:t>(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https://copr.fedorainfracloud.org/coprs/elegos/gitflow/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):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49754" y="5641276"/>
            <a:ext cx="1206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45">
                <a:solidFill>
                  <a:srgbClr val="202528"/>
                </a:solidFill>
                <a:latin typeface="Arial"/>
                <a:cs typeface="Arial"/>
              </a:rPr>
              <a:t>▪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452370" y="5641276"/>
            <a:ext cx="1814830" cy="1103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#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Enable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the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copr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repository</a:t>
            </a:r>
            <a:endParaRPr sz="1000">
              <a:latin typeface="Lucida Sans"/>
              <a:cs typeface="Lucida Sans"/>
            </a:endParaRPr>
          </a:p>
          <a:p>
            <a:pPr marL="12700" marR="5080">
              <a:lnSpc>
                <a:spcPct val="202199"/>
              </a:lnSpc>
              <a:spcBef>
                <a:spcPts val="5"/>
              </a:spcBef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dnf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copr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enable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elegos/gitflow 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#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Install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gitflow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dnf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install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gitflow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49754" y="5950102"/>
            <a:ext cx="1206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45">
                <a:solidFill>
                  <a:srgbClr val="202528"/>
                </a:solidFill>
                <a:latin typeface="Arial"/>
                <a:cs typeface="Arial"/>
              </a:rPr>
              <a:t>▪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849754" y="6258280"/>
            <a:ext cx="1206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45">
                <a:solidFill>
                  <a:srgbClr val="202528"/>
                </a:solidFill>
                <a:latin typeface="Arial"/>
                <a:cs typeface="Arial"/>
              </a:rPr>
              <a:t>▪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849754" y="6567106"/>
            <a:ext cx="1206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345">
                <a:solidFill>
                  <a:srgbClr val="202528"/>
                </a:solidFill>
                <a:latin typeface="Arial"/>
                <a:cs typeface="Arial"/>
              </a:rPr>
              <a:t>▪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97230" y="6877689"/>
            <a:ext cx="6178550" cy="61341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200" b="1">
                <a:solidFill>
                  <a:srgbClr val="202528"/>
                </a:solidFill>
                <a:latin typeface="Calibri"/>
                <a:cs typeface="Calibri"/>
              </a:rPr>
              <a:t>Установка</a:t>
            </a:r>
            <a:r>
              <a:rPr dirty="0" sz="1200" spc="-40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Calibri"/>
                <a:cs typeface="Calibri"/>
              </a:rPr>
              <a:t>Node.js</a:t>
            </a:r>
            <a:endParaRPr sz="12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15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Node.js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базируется</a:t>
            </a:r>
            <a:r>
              <a:rPr dirty="0" sz="1050" spc="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программное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обеспечение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семантического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версионирования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общепринятых</a:t>
            </a:r>
            <a:endParaRPr sz="1050">
              <a:latin typeface="Calibri"/>
              <a:cs typeface="Calibri"/>
            </a:endParaRPr>
          </a:p>
          <a:p>
            <a:pPr marL="28575">
              <a:lnSpc>
                <a:spcPct val="100000"/>
              </a:lnSpc>
              <a:spcBef>
                <a:spcPts val="34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коммитов.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35355" y="8184032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35355" y="7646389"/>
            <a:ext cx="1390015" cy="71564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365760" indent="-353060">
              <a:lnSpc>
                <a:spcPct val="100000"/>
              </a:lnSpc>
              <a:spcBef>
                <a:spcPts val="459"/>
              </a:spcBef>
              <a:buSzPct val="95238"/>
              <a:buFont typeface="Arial"/>
              <a:buChar char="•"/>
              <a:tabLst>
                <a:tab pos="36576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Fedora</a:t>
            </a:r>
            <a:endParaRPr sz="1050">
              <a:latin typeface="Calibri"/>
              <a:cs typeface="Calibri"/>
            </a:endParaRPr>
          </a:p>
          <a:p>
            <a:pPr marL="365760" indent="-353060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365760" algn="l"/>
              </a:tabLst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dnf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install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nodejs</a:t>
            </a:r>
            <a:endParaRPr sz="1000">
              <a:latin typeface="Lucida Sans"/>
              <a:cs typeface="Lucida Sans"/>
            </a:endParaRPr>
          </a:p>
          <a:p>
            <a:pPr marL="365760">
              <a:lnSpc>
                <a:spcPct val="100000"/>
              </a:lnSpc>
              <a:spcBef>
                <a:spcPts val="1070"/>
              </a:spcBef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dnf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install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pnpm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97230" y="8474295"/>
            <a:ext cx="6180455" cy="133286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200" b="1">
                <a:solidFill>
                  <a:srgbClr val="202528"/>
                </a:solidFill>
                <a:latin typeface="Calibri"/>
                <a:cs typeface="Calibri"/>
              </a:rPr>
              <a:t>Настройка</a:t>
            </a:r>
            <a:r>
              <a:rPr dirty="0" sz="1200" spc="-45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Calibri"/>
                <a:cs typeface="Calibri"/>
              </a:rPr>
              <a:t>Node.js</a:t>
            </a:r>
            <a:endParaRPr sz="1200">
              <a:latin typeface="Calibri"/>
              <a:cs typeface="Calibri"/>
            </a:endParaRPr>
          </a:p>
          <a:p>
            <a:pPr marL="22225">
              <a:lnSpc>
                <a:spcPct val="100000"/>
              </a:lnSpc>
              <a:spcBef>
                <a:spcPts val="15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Node.js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добавим</a:t>
            </a:r>
            <a:r>
              <a:rPr dirty="0" sz="1050" spc="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каталог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исполняемыми</a:t>
            </a:r>
            <a:r>
              <a:rPr dirty="0" sz="1050" spc="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файлами,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устанавливаемыми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Lucida Sans"/>
                <a:cs typeface="Lucida Sans"/>
              </a:rPr>
              <a:t>yarn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,</a:t>
            </a:r>
            <a:r>
              <a:rPr dirty="0" sz="1050" spc="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переменную</a:t>
            </a:r>
            <a:endParaRPr sz="1050">
              <a:latin typeface="Calibri"/>
              <a:cs typeface="Calibri"/>
            </a:endParaRPr>
          </a:p>
          <a:p>
            <a:pPr marL="28575">
              <a:lnSpc>
                <a:spcPct val="100000"/>
              </a:lnSpc>
              <a:spcBef>
                <a:spcPts val="345"/>
              </a:spcBef>
            </a:pPr>
            <a:r>
              <a:rPr dirty="0" sz="900" spc="-10">
                <a:solidFill>
                  <a:srgbClr val="E73E8C"/>
                </a:solidFill>
                <a:latin typeface="Lucida Sans"/>
                <a:cs typeface="Lucida Sans"/>
              </a:rPr>
              <a:t>PATH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603885" indent="-353060">
              <a:lnSpc>
                <a:spcPct val="100000"/>
              </a:lnSpc>
              <a:spcBef>
                <a:spcPts val="360"/>
              </a:spcBef>
              <a:buSzPct val="95238"/>
              <a:buFont typeface="Arial"/>
              <a:buChar char="•"/>
              <a:tabLst>
                <a:tab pos="60388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Запустите:</a:t>
            </a:r>
            <a:endParaRPr sz="1050">
              <a:latin typeface="Calibri"/>
              <a:cs typeface="Calibri"/>
            </a:endParaRPr>
          </a:p>
          <a:p>
            <a:pPr marL="603885" indent="-35306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603885" algn="l"/>
              </a:tabLst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pnpm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setup</a:t>
            </a:r>
            <a:endParaRPr sz="1000">
              <a:latin typeface="Lucida Sans"/>
              <a:cs typeface="Lucida Sans"/>
            </a:endParaRPr>
          </a:p>
          <a:p>
            <a:pPr marL="603885" indent="-353060">
              <a:lnSpc>
                <a:spcPct val="100000"/>
              </a:lnSpc>
              <a:spcBef>
                <a:spcPts val="1100"/>
              </a:spcBef>
              <a:buSzPct val="95238"/>
              <a:buFont typeface="Arial"/>
              <a:buChar char="•"/>
              <a:tabLst>
                <a:tab pos="60388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Перелогиньтесь,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или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выполните: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230" y="721220"/>
            <a:ext cx="6188075" cy="3064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03885" indent="-35306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603885" algn="l"/>
              </a:tabLst>
            </a:pP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source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~/.bashrc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202528"/>
                </a:solidFill>
                <a:latin typeface="Calibri"/>
                <a:cs typeface="Calibri"/>
              </a:rPr>
              <a:t>Общепринятые</a:t>
            </a:r>
            <a:r>
              <a:rPr dirty="0" sz="1200" spc="-50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Calibri"/>
                <a:cs typeface="Calibri"/>
              </a:rPr>
              <a:t>коммиты</a:t>
            </a:r>
            <a:endParaRPr sz="1200">
              <a:latin typeface="Calibri"/>
              <a:cs typeface="Calibri"/>
            </a:endParaRPr>
          </a:p>
          <a:p>
            <a:pPr marL="478790" indent="-227965">
              <a:lnSpc>
                <a:spcPct val="100000"/>
              </a:lnSpc>
              <a:spcBef>
                <a:spcPts val="155"/>
              </a:spcBef>
              <a:buAutoNum type="arabicPeriod"/>
              <a:tabLst>
                <a:tab pos="4787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commitizen</a:t>
            </a:r>
            <a:r>
              <a:rPr dirty="0" sz="1050" spc="145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20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Данная</a:t>
            </a:r>
            <a:r>
              <a:rPr dirty="0" sz="1050" spc="140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программа</a:t>
            </a:r>
            <a:r>
              <a:rPr dirty="0" sz="1050" spc="145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используется</a:t>
            </a:r>
            <a:r>
              <a:rPr dirty="0" sz="1050" spc="140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140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помощи</a:t>
            </a:r>
            <a:r>
              <a:rPr dirty="0" sz="1050" spc="145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140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форматировании</a:t>
            </a:r>
            <a:endParaRPr sz="1050">
              <a:latin typeface="Calibri"/>
              <a:cs typeface="Calibri"/>
            </a:endParaRPr>
          </a:p>
          <a:p>
            <a:pPr marL="479425">
              <a:lnSpc>
                <a:spcPct val="100000"/>
              </a:lnSpc>
              <a:spcBef>
                <a:spcPts val="434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коммитов.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2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pnpm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add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-</a:t>
            </a:r>
            <a:r>
              <a:rPr dirty="0" sz="1000" spc="-65">
                <a:solidFill>
                  <a:srgbClr val="202528"/>
                </a:solidFill>
                <a:latin typeface="Lucida Sans"/>
                <a:cs typeface="Lucida Sans"/>
              </a:rPr>
              <a:t>g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commitizen</a:t>
            </a:r>
            <a:endParaRPr sz="1000">
              <a:latin typeface="Lucida Sans"/>
              <a:cs typeface="Lucida Sans"/>
            </a:endParaRPr>
          </a:p>
          <a:p>
            <a:pPr lvl="1" marL="1179830" marR="5080" indent="-476884">
              <a:lnSpc>
                <a:spcPct val="127200"/>
              </a:lnSpc>
              <a:spcBef>
                <a:spcPts val="990"/>
              </a:spcBef>
              <a:buSzPct val="95238"/>
              <a:buFont typeface="Courier New"/>
              <a:buChar char="o"/>
              <a:tabLst>
                <a:tab pos="117983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3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этом</a:t>
            </a:r>
            <a:r>
              <a:rPr dirty="0" sz="1050" spc="3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устанавливается</a:t>
            </a:r>
            <a:r>
              <a:rPr dirty="0" sz="1050" spc="3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скрипт</a:t>
            </a:r>
            <a:r>
              <a:rPr dirty="0" sz="1050" spc="3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E73E8C"/>
                </a:solidFill>
                <a:latin typeface="Lucida Sans"/>
                <a:cs typeface="Lucida Sans"/>
              </a:rPr>
              <a:t>git-</a:t>
            </a:r>
            <a:r>
              <a:rPr dirty="0" sz="900">
                <a:solidFill>
                  <a:srgbClr val="E73E8C"/>
                </a:solidFill>
                <a:latin typeface="Lucida Sans"/>
                <a:cs typeface="Lucida Sans"/>
              </a:rPr>
              <a:t>cz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,</a:t>
            </a:r>
            <a:r>
              <a:rPr dirty="0" sz="1050" spc="3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который</a:t>
            </a:r>
            <a:r>
              <a:rPr dirty="0" sz="1050" spc="3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мы</a:t>
            </a:r>
            <a:r>
              <a:rPr dirty="0" sz="1050" spc="3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3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будем</a:t>
            </a:r>
            <a:r>
              <a:rPr dirty="0" sz="1050" spc="3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использовать</a:t>
            </a:r>
            <a:r>
              <a:rPr dirty="0" sz="1050" spc="3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для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коммитов.</a:t>
            </a:r>
            <a:endParaRPr sz="1050">
              <a:latin typeface="Calibri"/>
              <a:cs typeface="Calibri"/>
            </a:endParaRPr>
          </a:p>
          <a:p>
            <a:pPr marL="478790" indent="-227965">
              <a:lnSpc>
                <a:spcPct val="100000"/>
              </a:lnSpc>
              <a:spcBef>
                <a:spcPts val="360"/>
              </a:spcBef>
              <a:buAutoNum type="arabicPeriod" startAt="2"/>
              <a:tabLst>
                <a:tab pos="478790" algn="l"/>
                <a:tab pos="181991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standard-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changelog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Данная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программа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используется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помощи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создании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логов.</a:t>
            </a:r>
            <a:endParaRPr sz="1050">
              <a:latin typeface="Calibri"/>
              <a:cs typeface="Calibri"/>
            </a:endParaRPr>
          </a:p>
          <a:p>
            <a:pPr lvl="1" marL="1179830" indent="-476250">
              <a:lnSpc>
                <a:spcPct val="100000"/>
              </a:lnSpc>
              <a:spcBef>
                <a:spcPts val="505"/>
              </a:spcBef>
              <a:buFont typeface="Courier New"/>
              <a:buChar char="o"/>
              <a:tabLst>
                <a:tab pos="1179830" algn="l"/>
              </a:tabLst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pnpm add 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-</a:t>
            </a:r>
            <a:r>
              <a:rPr dirty="0" sz="1000" spc="-65">
                <a:solidFill>
                  <a:srgbClr val="202528"/>
                </a:solidFill>
                <a:latin typeface="Lucida Sans"/>
                <a:cs typeface="Lucida Sans"/>
              </a:rPr>
              <a:t>g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standard-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changelog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z="1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</a:pPr>
            <a:r>
              <a:rPr dirty="0" sz="1650">
                <a:solidFill>
                  <a:srgbClr val="282C3D"/>
                </a:solidFill>
                <a:latin typeface="Calibri"/>
                <a:cs typeface="Calibri"/>
              </a:rPr>
              <a:t>Практический</a:t>
            </a:r>
            <a:r>
              <a:rPr dirty="0" sz="1650" spc="-40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282C3D"/>
                </a:solidFill>
                <a:latin typeface="Calibri"/>
                <a:cs typeface="Calibri"/>
              </a:rPr>
              <a:t>сценарий</a:t>
            </a:r>
            <a:r>
              <a:rPr dirty="0" sz="1650" spc="-35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282C3D"/>
                </a:solidFill>
                <a:latin typeface="Calibri"/>
                <a:cs typeface="Calibri"/>
              </a:rPr>
              <a:t>использования</a:t>
            </a:r>
            <a:r>
              <a:rPr dirty="0" sz="1650" spc="-35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>
                <a:solidFill>
                  <a:srgbClr val="282C3D"/>
                </a:solidFill>
                <a:latin typeface="Calibri"/>
                <a:cs typeface="Calibri"/>
              </a:rPr>
              <a:t>git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200" b="1">
                <a:solidFill>
                  <a:srgbClr val="202528"/>
                </a:solidFill>
                <a:latin typeface="Calibri"/>
                <a:cs typeface="Calibri"/>
              </a:rPr>
              <a:t>Создание</a:t>
            </a:r>
            <a:r>
              <a:rPr dirty="0" sz="1200" spc="-25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202528"/>
                </a:solidFill>
                <a:latin typeface="Calibri"/>
                <a:cs typeface="Calibri"/>
              </a:rPr>
              <a:t>репозитория</a:t>
            </a:r>
            <a:r>
              <a:rPr dirty="0" sz="1200" spc="-20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25" b="1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endParaRPr sz="1200">
              <a:latin typeface="Calibri"/>
              <a:cs typeface="Calibri"/>
            </a:endParaRPr>
          </a:p>
          <a:p>
            <a:pPr marL="250825">
              <a:lnSpc>
                <a:spcPct val="100000"/>
              </a:lnSpc>
              <a:spcBef>
                <a:spcPts val="155"/>
              </a:spcBef>
              <a:tabLst>
                <a:tab pos="478790" algn="l"/>
                <a:tab pos="2863215" algn="l"/>
                <a:tab pos="3563620" algn="l"/>
              </a:tabLst>
            </a:pP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1.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	Подключение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репозитория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Создайте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	репозиторий</a:t>
            </a:r>
            <a:r>
              <a:rPr dirty="0" sz="1050" spc="-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endParaRPr sz="1050">
              <a:latin typeface="Calibri"/>
              <a:cs typeface="Calibri"/>
            </a:endParaRPr>
          </a:p>
          <a:p>
            <a:pPr marL="479425">
              <a:lnSpc>
                <a:spcPct val="100000"/>
              </a:lnSpc>
              <a:spcBef>
                <a:spcPts val="36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GitHub.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назовём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его </a:t>
            </a:r>
            <a:r>
              <a:rPr dirty="0" sz="900" spc="-30">
                <a:solidFill>
                  <a:srgbClr val="E73E8C"/>
                </a:solidFill>
                <a:latin typeface="Lucida Sans"/>
                <a:cs typeface="Lucida Sans"/>
              </a:rPr>
              <a:t>git-</a:t>
            </a:r>
            <a:r>
              <a:rPr dirty="0" sz="900" spc="-10">
                <a:solidFill>
                  <a:srgbClr val="E73E8C"/>
                </a:solidFill>
                <a:latin typeface="Lucida Sans"/>
                <a:cs typeface="Lucida Sans"/>
              </a:rPr>
              <a:t>extended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3030" y="3749687"/>
            <a:ext cx="102235" cy="455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9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 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419985" y="3741551"/>
            <a:ext cx="3154680" cy="4635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Делаем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первый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выкладываем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github: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commit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-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m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"first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commit"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25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remote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add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origin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19985" y="4363048"/>
            <a:ext cx="28168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  <a:hlinkClick r:id="rId2"/>
              </a:rPr>
              <a:t>git@github.com:&lt;username&gt;/git-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  <a:hlinkClick r:id="rId2"/>
              </a:rPr>
              <a:t>extended.git</a:t>
            </a:r>
            <a:r>
              <a:rPr dirty="0" sz="1000" spc="22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52136" y="4363048"/>
            <a:ext cx="102361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push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-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u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origin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419986" y="4699217"/>
            <a:ext cx="4425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master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5355" y="4996223"/>
            <a:ext cx="2660650" cy="65214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65"/>
              </a:spcBef>
              <a:buAutoNum type="arabicPeriod" startAt="2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Конфигурация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общепринятых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240665">
              <a:lnSpc>
                <a:spcPct val="100000"/>
              </a:lnSpc>
              <a:spcBef>
                <a:spcPts val="36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пакетов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Node.js</a:t>
            </a:r>
            <a:endParaRPr sz="1050">
              <a:latin typeface="Calibri"/>
              <a:cs typeface="Calibri"/>
            </a:endParaRPr>
          </a:p>
          <a:p>
            <a:pPr lvl="1" marL="1496695" indent="-1036319">
              <a:lnSpc>
                <a:spcPct val="100000"/>
              </a:lnSpc>
              <a:spcBef>
                <a:spcPts val="480"/>
              </a:spcBef>
              <a:buFont typeface="Courier New"/>
              <a:buChar char="o"/>
              <a:tabLst>
                <a:tab pos="1496695" algn="l"/>
              </a:tabLst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pnpm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init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01882" y="5042586"/>
            <a:ext cx="10788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Конфигурация</a:t>
            </a:r>
            <a:r>
              <a:rPr dirty="0" sz="1050" spc="-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3030" y="5775243"/>
            <a:ext cx="5244465" cy="1938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Необходимо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заполнить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несколько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параметров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пакета.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35"/>
              </a:spcBef>
            </a:pPr>
            <a:endParaRPr sz="105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buSzPct val="95238"/>
              <a:buFont typeface="Arial"/>
              <a:buChar char="▪"/>
              <a:tabLst>
                <a:tab pos="6978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Название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пакета.</a:t>
            </a:r>
            <a:endParaRPr sz="1050">
              <a:latin typeface="Calibri"/>
              <a:cs typeface="Calibri"/>
            </a:endParaRPr>
          </a:p>
          <a:p>
            <a:pPr marL="697865" marR="506730" indent="-227965">
              <a:lnSpc>
                <a:spcPct val="124500"/>
              </a:lnSpc>
              <a:spcBef>
                <a:spcPts val="50"/>
              </a:spcBef>
              <a:buSzPct val="95238"/>
              <a:buFont typeface="Arial"/>
              <a:buChar char="▪"/>
              <a:tabLst>
                <a:tab pos="7080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Лицензия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пакета.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Список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лицензий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npm: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htt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ps://spdx.org/licenses/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3"/>
              </a:rPr>
              <a:t>.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	Предлагается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выбирать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лицензию </a:t>
            </a:r>
            <a:r>
              <a:rPr dirty="0" sz="900" spc="-50">
                <a:solidFill>
                  <a:srgbClr val="E73E8C"/>
                </a:solidFill>
                <a:latin typeface="Lucida Sans"/>
                <a:cs typeface="Lucida Sans"/>
              </a:rPr>
              <a:t>CC-</a:t>
            </a:r>
            <a:r>
              <a:rPr dirty="0" sz="900" spc="-45">
                <a:solidFill>
                  <a:srgbClr val="E73E8C"/>
                </a:solidFill>
                <a:latin typeface="Lucida Sans"/>
                <a:cs typeface="Lucida Sans"/>
              </a:rPr>
              <a:t>BY-</a:t>
            </a:r>
            <a:r>
              <a:rPr dirty="0" sz="900" spc="-20">
                <a:solidFill>
                  <a:srgbClr val="E73E8C"/>
                </a:solidFill>
                <a:latin typeface="Lucida Sans"/>
                <a:cs typeface="Lucida Sans"/>
              </a:rPr>
              <a:t>4.0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234950">
              <a:lnSpc>
                <a:spcPct val="100000"/>
              </a:lnSpc>
              <a:spcBef>
                <a:spcPts val="36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Сконфигурим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формат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коммитов.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этого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добавим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файл</a:t>
            </a:r>
            <a:endParaRPr sz="105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345"/>
              </a:spcBef>
            </a:pPr>
            <a:r>
              <a:rPr dirty="0" sz="900" spc="-40">
                <a:solidFill>
                  <a:srgbClr val="E73E8C"/>
                </a:solidFill>
                <a:latin typeface="Lucida Sans"/>
                <a:cs typeface="Lucida Sans"/>
              </a:rPr>
              <a:t>package.json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команду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формирования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коммитов: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1049020" algn="l"/>
                <a:tab pos="2297430" algn="l"/>
                <a:tab pos="3778250" algn="l"/>
              </a:tabLst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"config":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50">
                <a:solidFill>
                  <a:srgbClr val="202528"/>
                </a:solidFill>
                <a:latin typeface="Lucida Sans"/>
                <a:cs typeface="Lucida Sans"/>
              </a:rPr>
              <a:t>{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"commitizen": </a:t>
            </a:r>
            <a:r>
              <a:rPr dirty="0" sz="1000" spc="50">
                <a:solidFill>
                  <a:srgbClr val="202528"/>
                </a:solidFill>
                <a:latin typeface="Lucida Sans"/>
                <a:cs typeface="Lucida Sans"/>
              </a:rPr>
              <a:t>{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"path":</a:t>
            </a:r>
            <a:r>
              <a:rPr dirty="0" sz="1000" spc="1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"cz-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conventional-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000">
              <a:latin typeface="Lucida Sans"/>
              <a:cs typeface="Lucida Sans"/>
            </a:endParaRPr>
          </a:p>
          <a:p>
            <a:pPr marL="1049655">
              <a:lnSpc>
                <a:spcPct val="100000"/>
              </a:lnSpc>
            </a:pP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changelog"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83030" y="7870215"/>
            <a:ext cx="102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621155" y="7870215"/>
            <a:ext cx="3001645" cy="803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153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}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00">
              <a:latin typeface="Lucida Sans"/>
              <a:cs typeface="Lucida Sans"/>
            </a:endParaRPr>
          </a:p>
          <a:p>
            <a:pPr marL="811530">
              <a:lnSpc>
                <a:spcPct val="100000"/>
              </a:lnSpc>
            </a:pP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}</a:t>
            </a:r>
            <a:endParaRPr sz="100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Таким образом,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40">
                <a:solidFill>
                  <a:srgbClr val="E73E8C"/>
                </a:solidFill>
                <a:latin typeface="Lucida Sans"/>
                <a:cs typeface="Lucida Sans"/>
              </a:rPr>
              <a:t>package.json</a:t>
            </a:r>
            <a:r>
              <a:rPr dirty="0" sz="900" spc="-35">
                <a:solidFill>
                  <a:srgbClr val="E73E8C"/>
                </a:solidFill>
                <a:latin typeface="Lucida Sans"/>
                <a:cs typeface="Lucida Sans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приобретает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вид: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83030" y="8186407"/>
            <a:ext cx="102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11624" y="8857832"/>
            <a:ext cx="3119120" cy="1043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{</a:t>
            </a:r>
            <a:endParaRPr sz="1000">
              <a:latin typeface="Lucida Sans"/>
              <a:cs typeface="Lucida Sans"/>
            </a:endParaRPr>
          </a:p>
          <a:p>
            <a:pPr marL="144145">
              <a:lnSpc>
                <a:spcPct val="100000"/>
              </a:lnSpc>
              <a:spcBef>
                <a:spcPts val="1070"/>
              </a:spcBef>
            </a:pP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"name":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"git-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extended",</a:t>
            </a:r>
            <a:endParaRPr sz="1000">
              <a:latin typeface="Lucida Sans"/>
              <a:cs typeface="Lucida Sans"/>
            </a:endParaRPr>
          </a:p>
          <a:p>
            <a:pPr marL="144145">
              <a:lnSpc>
                <a:spcPct val="100000"/>
              </a:lnSpc>
              <a:spcBef>
                <a:spcPts val="1070"/>
              </a:spcBef>
            </a:pP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"version":</a:t>
            </a:r>
            <a:r>
              <a:rPr dirty="0" sz="1000" spc="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"1.0.0",</a:t>
            </a:r>
            <a:endParaRPr sz="1000">
              <a:latin typeface="Lucida Sans"/>
              <a:cs typeface="Lucida Sans"/>
            </a:endParaRPr>
          </a:p>
          <a:p>
            <a:pPr marL="144145">
              <a:lnSpc>
                <a:spcPct val="100000"/>
              </a:lnSpc>
              <a:spcBef>
                <a:spcPts val="1075"/>
              </a:spcBef>
            </a:pP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"description":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"Git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repo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for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educational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purposes",</a:t>
            </a:r>
            <a:endParaRPr sz="1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83030" y="721220"/>
            <a:ext cx="3830954" cy="3978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"main":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"index.js",</a:t>
            </a:r>
            <a:endParaRPr sz="1000">
              <a:latin typeface="Lucida Sans"/>
              <a:cs typeface="Lucida Sans"/>
            </a:endParaRPr>
          </a:p>
          <a:p>
            <a:pPr marL="372745" marR="5080">
              <a:lnSpc>
                <a:spcPct val="189300"/>
              </a:lnSpc>
            </a:pP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"repository":</a:t>
            </a:r>
            <a:r>
              <a:rPr dirty="0" sz="1000" spc="27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"git@github.com:username/git-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extended.git",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"author":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"Name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Surname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  <a:hlinkClick r:id="rId2"/>
              </a:rPr>
              <a:t>&lt;username@gmail.com&gt;",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"license":</a:t>
            </a:r>
            <a:r>
              <a:rPr dirty="0" sz="1000" spc="8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"CC-BY-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4.0",</a:t>
            </a:r>
            <a:endParaRPr sz="1000">
              <a:latin typeface="Lucida Sans"/>
              <a:cs typeface="Lucida Sans"/>
            </a:endParaRPr>
          </a:p>
          <a:p>
            <a:pPr marL="504825" marR="2409825" indent="-132080">
              <a:lnSpc>
                <a:spcPct val="189300"/>
              </a:lnSpc>
            </a:pP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"config":</a:t>
            </a:r>
            <a:r>
              <a:rPr dirty="0" sz="1000" spc="1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{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"commitizen":</a:t>
            </a:r>
            <a:r>
              <a:rPr dirty="0" sz="1000" spc="-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{</a:t>
            </a:r>
            <a:endParaRPr sz="1000">
              <a:latin typeface="Lucida Sans"/>
              <a:cs typeface="Lucida Sans"/>
            </a:endParaRPr>
          </a:p>
          <a:p>
            <a:pPr marL="636905">
              <a:lnSpc>
                <a:spcPct val="100000"/>
              </a:lnSpc>
              <a:spcBef>
                <a:spcPts val="1070"/>
              </a:spcBef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"path":</a:t>
            </a:r>
            <a:r>
              <a:rPr dirty="0" sz="1000" spc="1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"cz-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conventional-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changelog"</a:t>
            </a:r>
            <a:endParaRPr sz="1000">
              <a:latin typeface="Lucida Sans"/>
              <a:cs typeface="Lucida Sans"/>
            </a:endParaRPr>
          </a:p>
          <a:p>
            <a:pPr marL="504825">
              <a:lnSpc>
                <a:spcPct val="100000"/>
              </a:lnSpc>
              <a:spcBef>
                <a:spcPts val="1070"/>
              </a:spcBef>
            </a:pP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}</a:t>
            </a:r>
            <a:endParaRPr sz="1000">
              <a:latin typeface="Lucida Sans"/>
              <a:cs typeface="Lucida Sans"/>
            </a:endParaRPr>
          </a:p>
          <a:p>
            <a:pPr marL="372745">
              <a:lnSpc>
                <a:spcPct val="100000"/>
              </a:lnSpc>
              <a:spcBef>
                <a:spcPts val="1075"/>
              </a:spcBef>
            </a:pP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}</a:t>
            </a:r>
            <a:endParaRPr sz="1000">
              <a:latin typeface="Lucida Sans"/>
              <a:cs typeface="Lucida Sans"/>
            </a:endParaRPr>
          </a:p>
          <a:p>
            <a:pPr marL="240665">
              <a:lnSpc>
                <a:spcPct val="100000"/>
              </a:lnSpc>
              <a:spcBef>
                <a:spcPts val="1070"/>
              </a:spcBef>
            </a:pP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}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Lucida Sans"/>
              <a:cs typeface="Lucida Sans"/>
            </a:endParaRPr>
          </a:p>
          <a:p>
            <a:pPr marL="488950" indent="-476250">
              <a:lnSpc>
                <a:spcPct val="100000"/>
              </a:lnSpc>
              <a:buSzPct val="95238"/>
              <a:buFont typeface="Courier New"/>
              <a:buChar char="o"/>
              <a:tabLst>
                <a:tab pos="48895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Добавим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новые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файлы: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2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add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.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202528"/>
              </a:buClr>
              <a:buFont typeface="Courier New"/>
              <a:buChar char="o"/>
            </a:pPr>
            <a:endParaRPr sz="1050">
              <a:latin typeface="Lucida Sans"/>
              <a:cs typeface="Lucida Sans"/>
            </a:endParaRPr>
          </a:p>
          <a:p>
            <a:pPr marL="488950" indent="-476250">
              <a:lnSpc>
                <a:spcPct val="100000"/>
              </a:lnSpc>
              <a:buSzPct val="95238"/>
              <a:buFont typeface="Courier New"/>
              <a:buChar char="o"/>
              <a:tabLst>
                <a:tab pos="48895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Выполним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коммит:</a:t>
            </a:r>
            <a:endParaRPr sz="1050">
              <a:latin typeface="Calibri"/>
              <a:cs typeface="Calibri"/>
            </a:endParaRPr>
          </a:p>
          <a:p>
            <a:pPr marL="488950" indent="-476250">
              <a:lnSpc>
                <a:spcPct val="100000"/>
              </a:lnSpc>
              <a:spcBef>
                <a:spcPts val="480"/>
              </a:spcBef>
              <a:buFont typeface="Courier New"/>
              <a:buChar char="o"/>
              <a:tabLst>
                <a:tab pos="488950" algn="l"/>
              </a:tabLst>
            </a:pP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cz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202528"/>
              </a:buClr>
              <a:buFont typeface="Courier New"/>
              <a:buChar char="o"/>
            </a:pPr>
            <a:endParaRPr sz="1000">
              <a:latin typeface="Lucida Sans"/>
              <a:cs typeface="Lucida Sans"/>
            </a:endParaRPr>
          </a:p>
          <a:p>
            <a:pPr marL="488950" indent="-476250">
              <a:lnSpc>
                <a:spcPct val="100000"/>
              </a:lnSpc>
              <a:buSzPct val="95238"/>
              <a:buFont typeface="Courier New"/>
              <a:buChar char="o"/>
              <a:tabLst>
                <a:tab pos="488950" algn="l"/>
                <a:tab pos="203327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Отправим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github: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push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35355" y="4847962"/>
            <a:ext cx="1270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3.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46110" y="4847962"/>
            <a:ext cx="15601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220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Конфигурация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git-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flow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84512" y="4854312"/>
            <a:ext cx="102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83030" y="4996253"/>
            <a:ext cx="3479165" cy="17278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1590" marR="1580515">
              <a:lnSpc>
                <a:spcPct val="139800"/>
              </a:lnSpc>
              <a:spcBef>
                <a:spcPts val="12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Инициализируем</a:t>
            </a:r>
            <a:r>
              <a:rPr dirty="0" sz="1050" spc="3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flow</a:t>
            </a:r>
            <a:r>
              <a:rPr dirty="0" sz="1050" spc="3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1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git flow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init</a:t>
            </a:r>
            <a:endParaRPr sz="1000">
              <a:latin typeface="Lucida Sans"/>
              <a:cs typeface="Lucida Sans"/>
            </a:endParaRPr>
          </a:p>
          <a:p>
            <a:pPr marL="250190">
              <a:lnSpc>
                <a:spcPct val="100000"/>
              </a:lnSpc>
              <a:spcBef>
                <a:spcPts val="122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Префикс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ярлыков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установим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E73E8C"/>
                </a:solidFill>
                <a:latin typeface="Lucida Sans"/>
                <a:cs typeface="Lucida Sans"/>
              </a:rPr>
              <a:t>v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050">
              <a:latin typeface="Calibri"/>
              <a:cs typeface="Calibri"/>
            </a:endParaRPr>
          </a:p>
          <a:p>
            <a:pPr marL="488950" indent="-476250">
              <a:lnSpc>
                <a:spcPct val="100000"/>
              </a:lnSpc>
              <a:buSzPct val="95238"/>
              <a:buFont typeface="Courier New"/>
              <a:buChar char="o"/>
              <a:tabLst>
                <a:tab pos="488950" algn="l"/>
                <a:tab pos="287845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Проверьте,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ветке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E73E8C"/>
                </a:solidFill>
                <a:latin typeface="Lucida Sans"/>
                <a:cs typeface="Lucida Sans"/>
              </a:rPr>
              <a:t>develop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10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branch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Clr>
                <a:srgbClr val="202528"/>
              </a:buClr>
              <a:buFont typeface="Courier New"/>
              <a:buChar char="o"/>
            </a:pPr>
            <a:endParaRPr sz="1050">
              <a:latin typeface="Lucida Sans"/>
              <a:cs typeface="Lucida Sans"/>
            </a:endParaRPr>
          </a:p>
          <a:p>
            <a:pPr marL="488950" indent="-476250">
              <a:lnSpc>
                <a:spcPct val="100000"/>
              </a:lnSpc>
              <a:buSzPct val="95238"/>
              <a:buFont typeface="Courier New"/>
              <a:buChar char="o"/>
              <a:tabLst>
                <a:tab pos="48895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Загрузите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весь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репозиторий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хранилище:</a:t>
            </a:r>
            <a:endParaRPr sz="1050">
              <a:latin typeface="Calibri"/>
              <a:cs typeface="Calibri"/>
            </a:endParaRPr>
          </a:p>
          <a:p>
            <a:pPr marL="488950" indent="-476250">
              <a:lnSpc>
                <a:spcPct val="100000"/>
              </a:lnSpc>
              <a:spcBef>
                <a:spcPts val="484"/>
              </a:spcBef>
              <a:buFont typeface="Courier New"/>
              <a:buChar char="o"/>
              <a:tabLst>
                <a:tab pos="488950" algn="l"/>
              </a:tabLst>
            </a:pP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push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--all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383030" y="6869315"/>
            <a:ext cx="102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859914" y="6810735"/>
            <a:ext cx="3033395" cy="66611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36200"/>
              </a:lnSpc>
              <a:spcBef>
                <a:spcPts val="5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Установите</a:t>
            </a:r>
            <a:r>
              <a:rPr dirty="0" sz="1050" spc="1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внешнюю</a:t>
            </a:r>
            <a:r>
              <a:rPr dirty="0" sz="1050" spc="1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ветку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</a:t>
            </a:r>
            <a:r>
              <a:rPr dirty="0" sz="1050" spc="1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вышестоящую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для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этой</a:t>
            </a:r>
            <a:r>
              <a:rPr dirty="0" sz="1050" spc="395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ветки:</a:t>
            </a:r>
            <a:r>
              <a:rPr dirty="0" sz="1050" spc="400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55">
                <a:solidFill>
                  <a:srgbClr val="202528"/>
                </a:solidFill>
                <a:latin typeface="Courier New"/>
                <a:cs typeface="Courier New"/>
              </a:rPr>
              <a:t>  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325">
                <a:solidFill>
                  <a:srgbClr val="202528"/>
                </a:solidFill>
                <a:latin typeface="Lucida Sans"/>
                <a:cs typeface="Lucida Sans"/>
              </a:rPr>
              <a:t>  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branch</a:t>
            </a:r>
            <a:r>
              <a:rPr dirty="0" sz="1000" spc="325">
                <a:solidFill>
                  <a:srgbClr val="202528"/>
                </a:solidFill>
                <a:latin typeface="Lucida Sans"/>
                <a:cs typeface="Lucida Sans"/>
              </a:rPr>
              <a:t> 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--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set-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upstream- 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to=origin/develop</a:t>
            </a:r>
            <a:r>
              <a:rPr dirty="0" sz="1000" spc="1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develop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383030" y="7561274"/>
            <a:ext cx="3512185" cy="1881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488950" marR="5080" indent="-476884">
              <a:lnSpc>
                <a:spcPct val="139800"/>
              </a:lnSpc>
              <a:spcBef>
                <a:spcPts val="125"/>
              </a:spcBef>
              <a:buSzPct val="95238"/>
              <a:buFont typeface="Courier New"/>
              <a:buChar char="o"/>
              <a:tabLst>
                <a:tab pos="48895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Создадим</a:t>
            </a:r>
            <a:r>
              <a:rPr dirty="0" sz="1050" spc="1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релиз</a:t>
            </a:r>
            <a:r>
              <a:rPr dirty="0" sz="1050" spc="1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1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версие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й</a:t>
            </a:r>
            <a:r>
              <a:rPr dirty="0" sz="1050" spc="1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1.0.0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17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9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flow</a:t>
            </a:r>
            <a:r>
              <a:rPr dirty="0" sz="1000" spc="9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5">
                <a:solidFill>
                  <a:srgbClr val="202528"/>
                </a:solidFill>
                <a:latin typeface="Lucida Sans"/>
                <a:cs typeface="Lucida Sans"/>
              </a:rPr>
              <a:t>release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start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70">
                <a:solidFill>
                  <a:srgbClr val="202528"/>
                </a:solidFill>
                <a:latin typeface="Lucida Sans"/>
                <a:cs typeface="Lucida Sans"/>
              </a:rPr>
              <a:t>1.0.0</a:t>
            </a:r>
            <a:endParaRPr sz="1000">
              <a:latin typeface="Lucida Sans"/>
              <a:cs typeface="Lucida Sans"/>
            </a:endParaRPr>
          </a:p>
          <a:p>
            <a:pPr algn="just" marL="488950" marR="448309" indent="-476884">
              <a:lnSpc>
                <a:spcPct val="122600"/>
              </a:lnSpc>
              <a:spcBef>
                <a:spcPts val="1105"/>
              </a:spcBef>
              <a:buSzPct val="95238"/>
              <a:buFont typeface="Courier New"/>
              <a:buChar char="o"/>
              <a:tabLst>
                <a:tab pos="48895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Создадим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журнал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изменений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140">
                <a:solidFill>
                  <a:srgbClr val="202528"/>
                </a:solidFill>
                <a:latin typeface="Courier New"/>
                <a:cs typeface="Courier New"/>
              </a:rPr>
              <a:t> 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standard- 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changelog</a:t>
            </a:r>
            <a:r>
              <a:rPr dirty="0" sz="1000" spc="7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--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first-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release</a:t>
            </a:r>
            <a:endParaRPr sz="1000">
              <a:latin typeface="Lucida Sans"/>
              <a:cs typeface="Lucida Sans"/>
            </a:endParaRPr>
          </a:p>
          <a:p>
            <a:pPr algn="just" marL="488950" marR="5080" indent="-476884">
              <a:lnSpc>
                <a:spcPct val="181100"/>
              </a:lnSpc>
              <a:spcBef>
                <a:spcPts val="310"/>
              </a:spcBef>
              <a:buSzPct val="95238"/>
              <a:buFont typeface="Courier New"/>
              <a:buChar char="o"/>
              <a:tabLst>
                <a:tab pos="488950" algn="l"/>
              </a:tabLst>
            </a:pP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Добави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</a:t>
            </a:r>
            <a:r>
              <a:rPr dirty="0" sz="1050" spc="3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журнал</a:t>
            </a:r>
            <a:r>
              <a:rPr dirty="0" sz="1050" spc="3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изменений</a:t>
            </a:r>
            <a:r>
              <a:rPr dirty="0" sz="1050" spc="3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3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индекс</a:t>
            </a:r>
            <a:r>
              <a:rPr dirty="0" sz="1050" spc="3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26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add</a:t>
            </a:r>
            <a:r>
              <a:rPr dirty="0" sz="1000" spc="-1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CHANGELOG.md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3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6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commit</a:t>
            </a:r>
            <a:r>
              <a:rPr dirty="0" sz="1000" spc="-6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-am</a:t>
            </a:r>
            <a:r>
              <a:rPr dirty="0" sz="1000" spc="-6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'chore(site):</a:t>
            </a:r>
            <a:r>
              <a:rPr dirty="0" sz="1000" spc="-6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add</a:t>
            </a:r>
            <a:r>
              <a:rPr dirty="0" sz="1000" spc="-1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changelog'</a:t>
            </a:r>
            <a:endParaRPr sz="10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83030" y="1271473"/>
            <a:ext cx="102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3030" y="714870"/>
            <a:ext cx="3512185" cy="734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950" algn="l"/>
              </a:tabLst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Зальём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релизную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ветку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основную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ветку</a:t>
            </a:r>
            <a:r>
              <a:rPr dirty="0" sz="1050" spc="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24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git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flow</a:t>
            </a:r>
            <a:endParaRPr sz="1000">
              <a:latin typeface="Lucida Sans"/>
              <a:cs typeface="Lucida Sans"/>
            </a:endParaRPr>
          </a:p>
          <a:p>
            <a:pPr marL="488950">
              <a:lnSpc>
                <a:spcPct val="100000"/>
              </a:lnSpc>
              <a:spcBef>
                <a:spcPts val="894"/>
              </a:spcBef>
            </a:pP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release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finish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65">
                <a:solidFill>
                  <a:srgbClr val="202528"/>
                </a:solidFill>
                <a:latin typeface="Lucida Sans"/>
                <a:cs typeface="Lucida Sans"/>
              </a:rPr>
              <a:t>1.0.0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2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Отправим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данные на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endParaRPr sz="1050">
              <a:latin typeface="Calibri"/>
              <a:cs typeface="Calibri"/>
            </a:endParaRPr>
          </a:p>
          <a:p>
            <a:pPr marL="488950">
              <a:lnSpc>
                <a:spcPct val="100000"/>
              </a:lnSpc>
              <a:spcBef>
                <a:spcPts val="965"/>
              </a:spcBef>
              <a:tabLst>
                <a:tab pos="1583690" algn="l"/>
              </a:tabLst>
            </a:pP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push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--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all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push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--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tags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83030" y="1616748"/>
            <a:ext cx="102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83030" y="1566943"/>
            <a:ext cx="3510915" cy="646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8950" marR="5080">
              <a:lnSpc>
                <a:spcPct val="127200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Создадим</a:t>
            </a:r>
            <a:r>
              <a:rPr dirty="0" sz="1050" spc="204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релиз</a:t>
            </a:r>
            <a:r>
              <a:rPr dirty="0" sz="1050" spc="210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210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github.</a:t>
            </a:r>
            <a:r>
              <a:rPr dirty="0" sz="1050" spc="210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204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этого</a:t>
            </a:r>
            <a:r>
              <a:rPr dirty="0" sz="1050" spc="210">
                <a:solidFill>
                  <a:srgbClr val="202528"/>
                </a:solidFill>
                <a:latin typeface="Calibri"/>
                <a:cs typeface="Calibri"/>
              </a:rPr>
              <a:t> 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будем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использовать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утилиты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github:</a:t>
            </a:r>
            <a:endParaRPr sz="1050">
              <a:latin typeface="Calibri"/>
              <a:cs typeface="Calibri"/>
            </a:endParaRPr>
          </a:p>
          <a:p>
            <a:pPr marL="488950" indent="-476250">
              <a:lnSpc>
                <a:spcPct val="100000"/>
              </a:lnSpc>
              <a:spcBef>
                <a:spcPts val="480"/>
              </a:spcBef>
              <a:buFont typeface="Courier New"/>
              <a:buChar char="o"/>
              <a:tabLst>
                <a:tab pos="488950" algn="l"/>
              </a:tabLst>
            </a:pP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gh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release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create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v1.0.0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-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F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CHANGELOG.md</a:t>
            </a:r>
            <a:endParaRPr sz="1000">
              <a:latin typeface="Lucida Sans"/>
              <a:cs typeface="Lucida San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7230" y="2351937"/>
            <a:ext cx="5038090" cy="565531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200" b="1">
                <a:solidFill>
                  <a:srgbClr val="202528"/>
                </a:solidFill>
                <a:latin typeface="Calibri"/>
                <a:cs typeface="Calibri"/>
              </a:rPr>
              <a:t>Работа</a:t>
            </a:r>
            <a:r>
              <a:rPr dirty="0" sz="1200" spc="-30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200" spc="-25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202528"/>
                </a:solidFill>
                <a:latin typeface="Calibri"/>
                <a:cs typeface="Calibri"/>
              </a:rPr>
              <a:t>репозиторием</a:t>
            </a:r>
            <a:r>
              <a:rPr dirty="0" sz="1200" spc="-25" b="1">
                <a:solidFill>
                  <a:srgbClr val="202528"/>
                </a:solidFill>
                <a:latin typeface="Calibri"/>
                <a:cs typeface="Calibri"/>
              </a:rPr>
              <a:t> git</a:t>
            </a:r>
            <a:endParaRPr sz="1200">
              <a:latin typeface="Calibri"/>
              <a:cs typeface="Calibri"/>
            </a:endParaRPr>
          </a:p>
          <a:p>
            <a:pPr marL="478790" indent="-227965">
              <a:lnSpc>
                <a:spcPct val="100000"/>
              </a:lnSpc>
              <a:spcBef>
                <a:spcPts val="150"/>
              </a:spcBef>
              <a:buAutoNum type="arabicPeriod"/>
              <a:tabLst>
                <a:tab pos="4787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Разработка</a:t>
            </a:r>
            <a:r>
              <a:rPr dirty="0" sz="1050" spc="4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новой</a:t>
            </a:r>
            <a:r>
              <a:rPr dirty="0" sz="1050" spc="4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функциональности</a:t>
            </a:r>
            <a:r>
              <a:rPr dirty="0" sz="1050" spc="459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13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Создадим</a:t>
            </a:r>
            <a:endParaRPr sz="1050">
              <a:latin typeface="Calibri"/>
              <a:cs typeface="Calibri"/>
            </a:endParaRPr>
          </a:p>
          <a:p>
            <a:pPr marL="479425" marR="1466850">
              <a:lnSpc>
                <a:spcPts val="1710"/>
              </a:lnSpc>
              <a:spcBef>
                <a:spcPts val="12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ветку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новой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функциональности: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4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5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7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flow</a:t>
            </a:r>
            <a:r>
              <a:rPr dirty="0" sz="1000" spc="-6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feature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start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feature_branch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</a:pPr>
            <a:endParaRPr sz="1000">
              <a:latin typeface="Lucida Sans"/>
              <a:cs typeface="Lucida Sans"/>
            </a:endParaRPr>
          </a:p>
          <a:p>
            <a:pPr lvl="1" marL="926465" indent="-227965">
              <a:lnSpc>
                <a:spcPct val="100000"/>
              </a:lnSpc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Далее,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продолжаем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работу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обычно.</a:t>
            </a:r>
            <a:endParaRPr sz="1050">
              <a:latin typeface="Calibri"/>
              <a:cs typeface="Calibri"/>
            </a:endParaRPr>
          </a:p>
          <a:p>
            <a:pPr lvl="1" marL="927100" marR="5080" indent="-228600">
              <a:lnSpc>
                <a:spcPts val="1670"/>
              </a:lnSpc>
              <a:spcBef>
                <a:spcPts val="8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окончании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разработки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новой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функциональности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следующим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шагом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следует объединить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ветку</a:t>
            </a:r>
            <a:r>
              <a:rPr dirty="0" sz="1050" spc="7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Lucida Sans"/>
                <a:cs typeface="Lucida Sans"/>
              </a:rPr>
              <a:t>feature_branch</a:t>
            </a:r>
            <a:r>
              <a:rPr dirty="0" sz="900" spc="25">
                <a:solidFill>
                  <a:srgbClr val="E73E8C"/>
                </a:solidFill>
                <a:latin typeface="Lucida Sans"/>
                <a:cs typeface="Lucida Sans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</a:t>
            </a:r>
            <a:r>
              <a:rPr dirty="0" sz="1050" spc="7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Lucida Sans"/>
                <a:cs typeface="Lucida Sans"/>
              </a:rPr>
              <a:t>develop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r>
              <a:rPr dirty="0" sz="1050" spc="6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19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1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flow</a:t>
            </a:r>
            <a:r>
              <a:rPr dirty="0" sz="1000" spc="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feature</a:t>
            </a:r>
            <a:endParaRPr sz="1000">
              <a:latin typeface="Lucida Sans"/>
              <a:cs typeface="Lucida Sans"/>
            </a:endParaRPr>
          </a:p>
          <a:p>
            <a:pPr marL="926465">
              <a:lnSpc>
                <a:spcPct val="100000"/>
              </a:lnSpc>
              <a:spcBef>
                <a:spcPts val="375"/>
              </a:spcBef>
            </a:pP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finish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feature_branch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000">
              <a:latin typeface="Lucida Sans"/>
              <a:cs typeface="Lucida Sans"/>
            </a:endParaRPr>
          </a:p>
          <a:p>
            <a:pPr marL="478790" indent="-22796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7879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Создание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релиза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flow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2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Создадим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релиз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версией</a:t>
            </a:r>
            <a:endParaRPr sz="1050">
              <a:latin typeface="Calibri"/>
              <a:cs typeface="Calibri"/>
            </a:endParaRPr>
          </a:p>
          <a:p>
            <a:pPr marL="479425">
              <a:lnSpc>
                <a:spcPct val="100000"/>
              </a:lnSpc>
              <a:spcBef>
                <a:spcPts val="430"/>
              </a:spcBef>
            </a:pPr>
            <a:r>
              <a:rPr dirty="0" sz="900" spc="-60">
                <a:solidFill>
                  <a:srgbClr val="E73E8C"/>
                </a:solidFill>
                <a:latin typeface="Lucida Sans"/>
                <a:cs typeface="Lucida Sans"/>
              </a:rPr>
              <a:t>1.2.3</a:t>
            </a:r>
            <a:r>
              <a:rPr dirty="0" sz="1050" spc="-6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0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flow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release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start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1.2.3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000">
              <a:latin typeface="Lucida Sans"/>
              <a:cs typeface="Lucida Sans"/>
            </a:endParaRPr>
          </a:p>
          <a:p>
            <a:pPr marL="926465" indent="-227965">
              <a:lnSpc>
                <a:spcPct val="100000"/>
              </a:lnSpc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Обновите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номер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версии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файле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35">
                <a:solidFill>
                  <a:srgbClr val="E73E8C"/>
                </a:solidFill>
                <a:latin typeface="Lucida Sans"/>
                <a:cs typeface="Lucida Sans"/>
              </a:rPr>
              <a:t>package.json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Установите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её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 </a:t>
            </a:r>
            <a:r>
              <a:rPr dirty="0" sz="900" spc="-10">
                <a:solidFill>
                  <a:srgbClr val="E73E8C"/>
                </a:solidFill>
                <a:latin typeface="Lucida Sans"/>
                <a:cs typeface="Lucida Sans"/>
              </a:rPr>
              <a:t>1.2.3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926465" indent="-227965">
              <a:lnSpc>
                <a:spcPct val="100000"/>
              </a:lnSpc>
              <a:spcBef>
                <a:spcPts val="434"/>
              </a:spcBef>
              <a:buSzPct val="95238"/>
              <a:buFont typeface="Courier New"/>
              <a:buChar char="o"/>
              <a:tabLst>
                <a:tab pos="926465" algn="l"/>
                <a:tab pos="316865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Создадим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журнал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изменений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standard-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changelog</a:t>
            </a:r>
            <a:endParaRPr sz="1000">
              <a:latin typeface="Lucida Sans"/>
              <a:cs typeface="Lucida Sans"/>
            </a:endParaRPr>
          </a:p>
          <a:p>
            <a:pPr marL="926465" marR="5080" indent="-228600">
              <a:lnSpc>
                <a:spcPct val="178300"/>
              </a:lnSpc>
              <a:spcBef>
                <a:spcPts val="405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Добавим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журнал</a:t>
            </a:r>
            <a:r>
              <a:rPr dirty="0" sz="1050" spc="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изменений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индекс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28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add</a:t>
            </a:r>
            <a:r>
              <a:rPr dirty="0" sz="1000" spc="-4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CHANGELOG.md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28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git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commit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-am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'chore(site):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update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changelog'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Clr>
                <a:srgbClr val="202528"/>
              </a:buClr>
              <a:buFont typeface="Courier New"/>
              <a:buChar char="o"/>
            </a:pPr>
            <a:endParaRPr sz="1000">
              <a:latin typeface="Lucida Sans"/>
              <a:cs typeface="Lucida Sans"/>
            </a:endParaRPr>
          </a:p>
          <a:p>
            <a:pPr marL="926465" indent="-227965">
              <a:lnSpc>
                <a:spcPct val="100000"/>
              </a:lnSpc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Зальём</a:t>
            </a:r>
            <a:r>
              <a:rPr dirty="0" sz="1050" spc="-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релизную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ветку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основную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ветку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2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flow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release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5">
                <a:solidFill>
                  <a:srgbClr val="202528"/>
                </a:solidFill>
                <a:latin typeface="Lucida Sans"/>
                <a:cs typeface="Lucida Sans"/>
              </a:rPr>
              <a:t>finish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1.2.3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202528"/>
              </a:buClr>
              <a:buFont typeface="Courier New"/>
              <a:buChar char="o"/>
            </a:pPr>
            <a:endParaRPr sz="1050">
              <a:latin typeface="Lucida Sans"/>
              <a:cs typeface="Lucida Sans"/>
            </a:endParaRPr>
          </a:p>
          <a:p>
            <a:pPr marL="926465" indent="-227965">
              <a:lnSpc>
                <a:spcPct val="100000"/>
              </a:lnSpc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Отправим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данные на github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2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push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--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all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2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git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Lucida Sans"/>
                <a:cs typeface="Lucida Sans"/>
              </a:rPr>
              <a:t>push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Lucida Sans"/>
                <a:cs typeface="Lucida Sans"/>
              </a:rPr>
              <a:t>--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tags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215"/>
              </a:spcBef>
              <a:buClr>
                <a:srgbClr val="202528"/>
              </a:buClr>
              <a:buFont typeface="Courier New"/>
              <a:buChar char="o"/>
            </a:pPr>
            <a:endParaRPr sz="1000">
              <a:latin typeface="Lucida Sans"/>
              <a:cs typeface="Lucida Sans"/>
            </a:endParaRPr>
          </a:p>
          <a:p>
            <a:pPr marL="926465" indent="-227965">
              <a:lnSpc>
                <a:spcPct val="100000"/>
              </a:lnSpc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Создадим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релиз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комментарием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журнала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изменений: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05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gh</a:t>
            </a:r>
            <a:r>
              <a:rPr dirty="0" sz="1000" spc="-50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release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create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60">
                <a:solidFill>
                  <a:srgbClr val="202528"/>
                </a:solidFill>
                <a:latin typeface="Lucida Sans"/>
                <a:cs typeface="Lucida Sans"/>
              </a:rPr>
              <a:t>v1.2.3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Lucida Sans"/>
                <a:cs typeface="Lucida Sans"/>
              </a:rPr>
              <a:t>-</a:t>
            </a:r>
            <a:r>
              <a:rPr dirty="0" sz="1000">
                <a:solidFill>
                  <a:srgbClr val="202528"/>
                </a:solidFill>
                <a:latin typeface="Lucida Sans"/>
                <a:cs typeface="Lucida Sans"/>
              </a:rPr>
              <a:t>F</a:t>
            </a:r>
            <a:r>
              <a:rPr dirty="0" sz="1000" spc="-45">
                <a:solidFill>
                  <a:srgbClr val="202528"/>
                </a:solidFill>
                <a:latin typeface="Lucida Sans"/>
                <a:cs typeface="Lucida Sans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Lucida Sans"/>
                <a:cs typeface="Lucida Sans"/>
              </a:rPr>
              <a:t>CHANGELOG.md</a:t>
            </a:r>
            <a:endParaRPr sz="100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000">
              <a:latin typeface="Lucida Sans"/>
              <a:cs typeface="Lucida Sans"/>
            </a:endParaRPr>
          </a:p>
          <a:p>
            <a:pPr marL="479425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Вывод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050">
              <a:latin typeface="Calibri"/>
              <a:cs typeface="Calibri"/>
            </a:endParaRPr>
          </a:p>
          <a:p>
            <a:pPr marL="479425">
              <a:lnSpc>
                <a:spcPct val="100000"/>
              </a:lnSpc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Получили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навыки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правильной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репозиториями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git.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2026-03-07T18:42:06Z</dcterms:created>
  <dcterms:modified xsi:type="dcterms:W3CDTF">2026-03-07T18:42:06Z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2026-03-07T00:00:00Z</vt:filetime>
  </property>
  <property fmtid="{D5CDD505-2E9C-101B-9397-08002B2CF9AE}" pid="5" name="Producer">
    <vt:lpwstr>3-Heights(TM) PDF Security Shell 4.8.25.2 (http://www.pdf-tools.com)</vt:lpwstr>
  </property>
</Properties>
</file>
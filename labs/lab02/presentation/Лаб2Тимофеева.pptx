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1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734721"/>
            <a:ext cx="3039110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3637029"/>
            <a:ext cx="6053455" cy="4089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528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esystem.rudn.ru/mod/notes/public/20201218123900-%D1%80%D0%B0%D0%B1%D0%BE%D1%82%D0%B0_%D1%81_pgp.md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settings/keys" TargetMode="External"/><Relationship Id="rId3" Type="http://schemas.openxmlformats.org/officeDocument/2006/relationships/hyperlink" Target="https://docs.github.com/en/github/authenticating-to-github/managing-commit-signature-verification/displaying-verification-statuses-for-all-of-your-commits" TargetMode="Externa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esystem.rudn.ru/mod/notes/public/20210128184700-%D0%B2%D0%B5%D1%80%D0%B8%D1%84%D0%B8%D0%BA%D0%B0%D1%86%D0%B8%D1%8F_%D0%BA%D0%BE%D0%BC%D0%BC%D0%B8%D1%82%D0%BE%D0%B2_git_%D1%81_%D0%BF%D0%BE%D0%BC%D0%BE%D1%89%D1%8C%D1%8E_gpg.md" TargetMode="External"/><Relationship Id="rId3" Type="http://schemas.openxmlformats.org/officeDocument/2006/relationships/hyperlink" Target="https://github.com/" TargetMode="Externa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settings/keys" TargetMode="External"/><Relationship Id="rId3" Type="http://schemas.openxmlformats.org/officeDocument/2006/relationships/hyperlink" Target="https://esystem.rudn.ru/mod/notes/public/20210116125100-%D1%80%D0%B0%D0%B1%D0%BE%D1%87%D0%B5%D0%B5_%D0%BF%D1%80%D0%BE%D1%81%D1%82%D1%80%D0%B0%D0%BD%D1%81%D1%82%D0%B2%D0%BE_%D0%B4%D0%BB%D1%8F_%D0%BB%D0%B0%D0%B1%D0%BE%D1%80%D0%B0%D1%82%D0%BE%D1%80%D0%BD%D0%BE%D0%B8_%D1%80%D0%B0%D0%B1%D0%BE%D1%82%D1%8B.md" TargetMode="External"/><Relationship Id="rId4" Type="http://schemas.openxmlformats.org/officeDocument/2006/relationships/hyperlink" Target="https://github.com/yamadharma/course-directory-student-template" TargetMode="External"/><Relationship Id="rId5" Type="http://schemas.openxmlformats.org/officeDocument/2006/relationships/hyperlink" Target="mailto:git@github.com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090930" y="600387"/>
            <a:ext cx="5219065" cy="107061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algn="r" marR="367665">
              <a:lnSpc>
                <a:spcPct val="100000"/>
              </a:lnSpc>
              <a:spcBef>
                <a:spcPts val="865"/>
              </a:spcBef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</a:t>
            </a:r>
            <a:endParaRPr sz="1300">
              <a:latin typeface="Times New Roman"/>
              <a:cs typeface="Times New Roman"/>
            </a:endParaRPr>
          </a:p>
          <a:p>
            <a:pPr algn="r" marR="332740">
              <a:lnSpc>
                <a:spcPct val="100000"/>
              </a:lnSpc>
              <a:spcBef>
                <a:spcPts val="1255"/>
              </a:spcBef>
            </a:pP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2040890" y="3097813"/>
            <a:ext cx="3437254" cy="76517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ctr" marR="67310">
              <a:lnSpc>
                <a:spcPct val="100000"/>
              </a:lnSpc>
              <a:spcBef>
                <a:spcPts val="109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2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821580" y="4387814"/>
            <a:ext cx="108521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033623" y="4387814"/>
            <a:ext cx="26035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7650" algn="l"/>
              </a:tabLst>
            </a:pP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sz="1600" spc="-45" i="1"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392170" y="7419391"/>
            <a:ext cx="3467100" cy="167576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1465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sz="1300" spc="-25">
                <a:latin typeface="Times New Roman"/>
                <a:cs typeface="Times New Roman"/>
              </a:rPr>
              <a:t> </a:t>
            </a:r>
            <a:r>
              <a:rPr dirty="0" u="sng" sz="1300">
                <a:solidFill>
                  <a:srgbClr val="202528"/>
                </a:solidFill>
                <a:uFill>
                  <a:solidFill>
                    <a:srgbClr val="202528"/>
                  </a:solidFill>
                </a:uFill>
                <a:latin typeface="Times New Roman"/>
                <a:cs typeface="Times New Roman"/>
              </a:rPr>
              <a:t>Тимофеева</a:t>
            </a:r>
            <a:r>
              <a:rPr dirty="0" u="sng" sz="1300" spc="-30">
                <a:solidFill>
                  <a:srgbClr val="202528"/>
                </a:solidFill>
                <a:uFill>
                  <a:solidFill>
                    <a:srgbClr val="202528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solidFill>
                  <a:srgbClr val="202528"/>
                </a:solidFill>
                <a:uFill>
                  <a:solidFill>
                    <a:srgbClr val="202528"/>
                  </a:solidFill>
                </a:uFill>
                <a:latin typeface="Times New Roman"/>
                <a:cs typeface="Times New Roman"/>
              </a:rPr>
              <a:t>Милана</a:t>
            </a:r>
            <a:r>
              <a:rPr dirty="0" u="sng" sz="1300" spc="-30">
                <a:solidFill>
                  <a:srgbClr val="202528"/>
                </a:solidFill>
                <a:uFill>
                  <a:solidFill>
                    <a:srgbClr val="202528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solidFill>
                  <a:srgbClr val="202528"/>
                </a:solidFill>
                <a:uFill>
                  <a:solidFill>
                    <a:srgbClr val="202528"/>
                  </a:solidFill>
                </a:uFill>
                <a:latin typeface="Times New Roman"/>
                <a:cs typeface="Times New Roman"/>
              </a:rPr>
              <a:t>Александровна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60"/>
              </a:spcBef>
            </a:pPr>
            <a:endParaRPr sz="1300">
              <a:latin typeface="Times New Roman"/>
              <a:cs typeface="Times New Roman"/>
            </a:endParaRPr>
          </a:p>
          <a:p>
            <a:pPr marL="1810385">
              <a:lnSpc>
                <a:spcPct val="100000"/>
              </a:lnSpc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-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1300">
              <a:latin typeface="Times New Roman"/>
              <a:cs typeface="Times New Roman"/>
            </a:endParaRPr>
          </a:p>
          <a:p>
            <a:pPr algn="ctr" marR="2681605">
              <a:lnSpc>
                <a:spcPct val="100000"/>
              </a:lnSpc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 marR="2667000">
              <a:lnSpc>
                <a:spcPct val="100000"/>
              </a:lnSpc>
              <a:spcBef>
                <a:spcPts val="994"/>
              </a:spcBef>
            </a:pPr>
            <a:r>
              <a:rPr dirty="0" sz="1300">
                <a:latin typeface="Times New Roman"/>
                <a:cs typeface="Times New Roman"/>
              </a:rPr>
              <a:t>2026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1187678"/>
            <a:ext cx="1735455" cy="3911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Цель</a:t>
            </a:r>
            <a:r>
              <a:rPr dirty="0" spc="-40"/>
              <a:t> </a:t>
            </a:r>
            <a:r>
              <a:rPr dirty="0" spc="-10"/>
              <a:t>работы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88340" y="1621878"/>
            <a:ext cx="5794375" cy="292671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310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Изучить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идеологию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применение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средств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контроля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версий.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Освоить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умения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git.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6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Базовая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настройка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git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Первичная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настройка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 параметров 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Зададим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email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владельца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репозитория: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469265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user.name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"Name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Surname"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user.email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"work@mail"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5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Настроим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utf-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8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выводе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сообщений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git: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1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core.quotepath</a:t>
            </a:r>
            <a:r>
              <a:rPr dirty="0" sz="1000" spc="1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false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5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Настройте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верификацию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подписание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git.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Зададим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начальной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ветки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(будем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называть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её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master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):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04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init.defaultBranch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master</a:t>
            </a:r>
            <a:r>
              <a:rPr dirty="0" sz="100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Учёт</a:t>
            </a:r>
            <a:r>
              <a:rPr dirty="0" sz="1200" spc="1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переносов</a:t>
            </a:r>
            <a:r>
              <a:rPr dirty="0" sz="1200" spc="1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строк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10"/>
              </a:spcBef>
              <a:buClr>
                <a:srgbClr val="202528"/>
              </a:buClr>
              <a:buFont typeface="Arial"/>
              <a:buChar char="•"/>
            </a:pPr>
            <a:endParaRPr sz="10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разных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операционных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системах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приняты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разные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символы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перевода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строк: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383664" y="4621098"/>
            <a:ext cx="1022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04239" y="4506365"/>
            <a:ext cx="4435475" cy="108077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702310">
              <a:lnSpc>
                <a:spcPct val="100000"/>
              </a:lnSpc>
              <a:spcBef>
                <a:spcPts val="73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Windows: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E73E8C"/>
                </a:solidFill>
                <a:latin typeface="Arial"/>
                <a:cs typeface="Arial"/>
              </a:rPr>
              <a:t>\r\n</a:t>
            </a:r>
            <a:r>
              <a:rPr dirty="0" sz="900" spc="-1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70">
                <a:solidFill>
                  <a:srgbClr val="202528"/>
                </a:solidFill>
                <a:latin typeface="Calibri"/>
                <a:cs typeface="Calibri"/>
              </a:rPr>
              <a:t>(</a:t>
            </a:r>
            <a:r>
              <a:rPr dirty="0" sz="900" spc="-70">
                <a:solidFill>
                  <a:srgbClr val="E73E8C"/>
                </a:solidFill>
                <a:latin typeface="Arial"/>
                <a:cs typeface="Arial"/>
              </a:rPr>
              <a:t>CR</a:t>
            </a:r>
            <a:r>
              <a:rPr dirty="0" sz="900" spc="-1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25">
                <a:solidFill>
                  <a:srgbClr val="E73E8C"/>
                </a:solidFill>
                <a:latin typeface="Arial"/>
                <a:cs typeface="Arial"/>
              </a:rPr>
              <a:t>LF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);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baseline="-11111" sz="1500" spc="-75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baseline="-11111" sz="1500">
              <a:latin typeface="Courier New"/>
              <a:cs typeface="Courier New"/>
            </a:endParaRPr>
          </a:p>
          <a:p>
            <a:pPr marL="701675">
              <a:lnSpc>
                <a:spcPct val="100000"/>
              </a:lnSpc>
              <a:spcBef>
                <a:spcPts val="63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Unix: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60">
                <a:solidFill>
                  <a:srgbClr val="E73E8C"/>
                </a:solidFill>
                <a:latin typeface="Arial"/>
                <a:cs typeface="Arial"/>
              </a:rPr>
              <a:t>\n</a:t>
            </a:r>
            <a:r>
              <a:rPr dirty="0" sz="900" spc="-2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(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LF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);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baseline="-11111" sz="15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baseline="-11111" sz="1500" spc="307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Mac: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40">
                <a:solidFill>
                  <a:srgbClr val="E73E8C"/>
                </a:solidFill>
                <a:latin typeface="Arial"/>
                <a:cs typeface="Arial"/>
              </a:rPr>
              <a:t>\r</a:t>
            </a:r>
            <a:endParaRPr sz="900">
              <a:latin typeface="Arial"/>
              <a:cs typeface="Arial"/>
            </a:endParaRPr>
          </a:p>
          <a:p>
            <a:pPr marL="497840">
              <a:lnSpc>
                <a:spcPct val="100000"/>
              </a:lnSpc>
              <a:spcBef>
                <a:spcPts val="340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CR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).</a:t>
            </a:r>
            <a:endParaRPr sz="1050">
              <a:latin typeface="Calibri"/>
              <a:cs typeface="Calibri"/>
            </a:endParaRPr>
          </a:p>
          <a:p>
            <a:pPr marL="253365" indent="-227965">
              <a:lnSpc>
                <a:spcPct val="100000"/>
              </a:lnSpc>
              <a:spcBef>
                <a:spcPts val="125"/>
              </a:spcBef>
              <a:buSzPct val="95238"/>
              <a:buFont typeface="Arial"/>
              <a:buChar char="•"/>
              <a:tabLst>
                <a:tab pos="2533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Посмотреть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значения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переносов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строк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командой:</a:t>
            </a:r>
            <a:endParaRPr sz="1050">
              <a:latin typeface="Calibri"/>
              <a:cs typeface="Calibri"/>
            </a:endParaRPr>
          </a:p>
          <a:p>
            <a:pPr marL="2533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2533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ls-files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-25">
                <a:solidFill>
                  <a:srgbClr val="202528"/>
                </a:solidFill>
                <a:latin typeface="Arial"/>
                <a:cs typeface="Arial"/>
              </a:rPr>
              <a:t>eol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97867" y="5569271"/>
            <a:ext cx="6264275" cy="1883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0375" marR="737870" indent="-228600">
              <a:lnSpc>
                <a:spcPct val="116500"/>
              </a:lnSpc>
              <a:spcBef>
                <a:spcPts val="100"/>
              </a:spcBef>
              <a:buAutoNum type="arabicPeriod"/>
              <a:tabLst>
                <a:tab pos="460375" algn="l"/>
                <a:tab pos="180721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Параметр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autocrlf</a:t>
            </a:r>
            <a:r>
              <a:rPr dirty="0" sz="900" spc="9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Настройка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core.autocrlf</a:t>
            </a:r>
            <a:r>
              <a:rPr dirty="0" sz="900" spc="3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предназначена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того,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чтобы</a:t>
            </a:r>
            <a:r>
              <a:rPr dirty="0" sz="1050" spc="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главном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репозитории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переводы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строк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текстовых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файлах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были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одинаковы.</a:t>
            </a:r>
            <a:endParaRPr sz="1050">
              <a:latin typeface="Calibri"/>
              <a:cs typeface="Calibri"/>
            </a:endParaRPr>
          </a:p>
          <a:p>
            <a:pPr lvl="1" marL="926465" marR="301625" indent="-228600">
              <a:lnSpc>
                <a:spcPct val="114900"/>
              </a:lnSpc>
              <a:spcBef>
                <a:spcPts val="25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Настройка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core.autocrlf</a:t>
            </a:r>
            <a:r>
              <a:rPr dirty="0" sz="900" spc="1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параметрами</a:t>
            </a:r>
            <a:r>
              <a:rPr dirty="0" sz="1050" spc="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true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input</a:t>
            </a:r>
            <a:r>
              <a:rPr dirty="0" sz="900" spc="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делает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все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переводы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строк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текстовых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главном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одинаковыми.</a:t>
            </a:r>
            <a:endParaRPr sz="1050">
              <a:latin typeface="Calibri"/>
              <a:cs typeface="Calibri"/>
            </a:endParaRPr>
          </a:p>
          <a:p>
            <a:pPr lvl="2" marL="1383665" marR="5080" indent="-228600">
              <a:lnSpc>
                <a:spcPct val="114900"/>
              </a:lnSpc>
              <a:spcBef>
                <a:spcPts val="25"/>
              </a:spcBef>
              <a:buClr>
                <a:srgbClr val="202528"/>
              </a:buClr>
              <a:buSzPct val="111111"/>
              <a:buChar char="▪"/>
              <a:tabLst>
                <a:tab pos="1383665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core.autocrlf</a:t>
            </a:r>
            <a:r>
              <a:rPr dirty="0" sz="900" spc="2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true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конвертация</a:t>
            </a:r>
            <a:r>
              <a:rPr dirty="0" sz="1050" spc="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70">
                <a:solidFill>
                  <a:srgbClr val="E73E8C"/>
                </a:solidFill>
                <a:latin typeface="Arial"/>
                <a:cs typeface="Arial"/>
              </a:rPr>
              <a:t>CRLF-&gt;LF</a:t>
            </a:r>
            <a:r>
              <a:rPr dirty="0" sz="900" spc="3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коммите</a:t>
            </a:r>
            <a:r>
              <a:rPr dirty="0" sz="1050" spc="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обратно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75">
                <a:solidFill>
                  <a:srgbClr val="E73E8C"/>
                </a:solidFill>
                <a:latin typeface="Arial"/>
                <a:cs typeface="Arial"/>
              </a:rPr>
              <a:t>LF&gt;CRLF</a:t>
            </a:r>
            <a:r>
              <a:rPr dirty="0" sz="900" spc="3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выгрузке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кода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файловую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систему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(обычно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используется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Windows).</a:t>
            </a:r>
            <a:endParaRPr sz="1050">
              <a:latin typeface="Calibri"/>
              <a:cs typeface="Calibri"/>
            </a:endParaRPr>
          </a:p>
          <a:p>
            <a:pPr lvl="2" marL="1384300" marR="389890" indent="-228600">
              <a:lnSpc>
                <a:spcPct val="114900"/>
              </a:lnSpc>
              <a:spcBef>
                <a:spcPts val="130"/>
              </a:spcBef>
              <a:buClr>
                <a:srgbClr val="202528"/>
              </a:buClr>
              <a:buSzPct val="111111"/>
              <a:buChar char="▪"/>
              <a:tabLst>
                <a:tab pos="1384300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core.autocrlf</a:t>
            </a:r>
            <a:r>
              <a:rPr dirty="0" sz="900" spc="3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input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конвертация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70">
                <a:solidFill>
                  <a:srgbClr val="E73E8C"/>
                </a:solidFill>
                <a:latin typeface="Arial"/>
                <a:cs typeface="Arial"/>
              </a:rPr>
              <a:t>CRLF-&gt;LF</a:t>
            </a:r>
            <a:r>
              <a:rPr dirty="0" sz="900" spc="4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только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коммитах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(используются</a:t>
            </a:r>
            <a:r>
              <a:rPr dirty="0" sz="1050" spc="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MacOS/Linux).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0"/>
              </a:spcBef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Варианты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конвертации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34062" y="7830158"/>
            <a:ext cx="5720080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350">
              <a:lnSpc>
                <a:spcPct val="109800"/>
              </a:lnSpc>
              <a:spcBef>
                <a:spcPts val="100"/>
              </a:spcBef>
            </a:pP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Таблица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1.: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Варианты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конвертации</a:t>
            </a:r>
            <a:r>
              <a:rPr dirty="0" sz="1800" spc="-30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для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разных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C747D"/>
                </a:solidFill>
                <a:latin typeface="Calibri"/>
                <a:cs typeface="Calibri"/>
              </a:rPr>
              <a:t>значений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параметра</a:t>
            </a:r>
            <a:r>
              <a:rPr dirty="0" sz="1800" spc="-1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C747D"/>
                </a:solidFill>
                <a:latin typeface="Calibri"/>
                <a:cs typeface="Calibri"/>
              </a:rPr>
              <a:t>core.autocrlf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705802" y="8478177"/>
          <a:ext cx="6338570" cy="744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0545"/>
                <a:gridCol w="1472565"/>
                <a:gridCol w="1493519"/>
                <a:gridCol w="1466214"/>
              </a:tblGrid>
              <a:tr h="363855"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1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core.autocrlf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1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1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2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0365"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git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commit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048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048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048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048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4059" y="711541"/>
            <a:ext cx="5720080" cy="628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050" marR="5080" indent="-6350">
              <a:lnSpc>
                <a:spcPct val="109800"/>
              </a:lnSpc>
              <a:spcBef>
                <a:spcPts val="100"/>
              </a:spcBef>
            </a:pP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Таблица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1.: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Варианты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конвертации</a:t>
            </a:r>
            <a:r>
              <a:rPr dirty="0" sz="1800" spc="-30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для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разных</a:t>
            </a:r>
            <a:r>
              <a:rPr dirty="0" sz="1800" spc="-3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C747D"/>
                </a:solidFill>
                <a:latin typeface="Calibri"/>
                <a:cs typeface="Calibri"/>
              </a:rPr>
              <a:t>значений </a:t>
            </a:r>
            <a:r>
              <a:rPr dirty="0" sz="1800" b="1">
                <a:solidFill>
                  <a:srgbClr val="6C747D"/>
                </a:solidFill>
                <a:latin typeface="Calibri"/>
                <a:cs typeface="Calibri"/>
              </a:rPr>
              <a:t>параметра</a:t>
            </a:r>
            <a:r>
              <a:rPr dirty="0" sz="1800" spc="-15" b="1">
                <a:solidFill>
                  <a:srgbClr val="6C747D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6C747D"/>
                </a:solidFill>
                <a:latin typeface="Calibri"/>
                <a:cs typeface="Calibri"/>
              </a:rPr>
              <a:t>core.autocrlf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705802" y="1359560"/>
          <a:ext cx="6338570" cy="2341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0545"/>
                <a:gridCol w="1472565"/>
                <a:gridCol w="1493519"/>
                <a:gridCol w="1466214"/>
              </a:tblGrid>
              <a:tr h="363220">
                <a:tc>
                  <a:txBody>
                    <a:bodyPr/>
                    <a:lstStyle/>
                    <a:p>
                      <a:pPr marL="554355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1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core.autocrlf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2540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1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false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1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input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05"/>
                        </a:spcBef>
                      </a:pPr>
                      <a:r>
                        <a:rPr dirty="0" sz="1050" spc="-20" b="1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true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2763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795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git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checkout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LF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987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085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572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0"/>
                        </a:spcBef>
                      </a:pPr>
                      <a:endParaRPr sz="1050">
                        <a:latin typeface="Times New Roman"/>
                        <a:cs typeface="Times New Roman"/>
                      </a:endParaRPr>
                    </a:p>
                    <a:p>
                      <a:pPr marL="44450">
                        <a:lnSpc>
                          <a:spcPct val="100000"/>
                        </a:lnSpc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822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085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048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72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048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869"/>
                        </a:spcBef>
                      </a:pP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1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-</a:t>
                      </a:r>
                      <a:r>
                        <a:rPr dirty="0" sz="105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&gt;</a:t>
                      </a:r>
                      <a:r>
                        <a:rPr dirty="0" sz="1050" spc="-15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50" spc="-20">
                          <a:solidFill>
                            <a:srgbClr val="202528"/>
                          </a:solidFill>
                          <a:latin typeface="Calibri"/>
                          <a:cs typeface="Calibri"/>
                        </a:rPr>
                        <a:t>CRLF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B="0" marT="110489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 descr=""/>
          <p:cNvSpPr txBox="1"/>
          <p:nvPr/>
        </p:nvSpPr>
        <p:spPr>
          <a:xfrm>
            <a:off x="688340" y="3663543"/>
            <a:ext cx="6253480" cy="415925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708025">
              <a:lnSpc>
                <a:spcPct val="100000"/>
              </a:lnSpc>
              <a:spcBef>
                <a:spcPts val="375"/>
              </a:spcBef>
            </a:pP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1.</a:t>
            </a:r>
            <a:endParaRPr sz="1050">
              <a:latin typeface="Calibri"/>
              <a:cs typeface="Calibri"/>
            </a:endParaRPr>
          </a:p>
          <a:p>
            <a:pPr algn="r" marL="227965" marR="4060825" indent="-227965">
              <a:lnSpc>
                <a:spcPct val="100000"/>
              </a:lnSpc>
              <a:spcBef>
                <a:spcPts val="280"/>
              </a:spcBef>
              <a:buSzPct val="95238"/>
              <a:buFont typeface="Courier New"/>
              <a:buChar char="o"/>
              <a:tabLst>
                <a:tab pos="2279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Установка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параметра:</a:t>
            </a:r>
            <a:endParaRPr sz="1050">
              <a:latin typeface="Calibri"/>
              <a:cs typeface="Calibri"/>
            </a:endParaRPr>
          </a:p>
          <a:p>
            <a:pPr algn="r" lvl="1" marL="227965" marR="4097020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▪"/>
              <a:tabLst>
                <a:tab pos="2279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Windows</a:t>
            </a:r>
            <a:endParaRPr sz="1050">
              <a:latin typeface="Calibri"/>
              <a:cs typeface="Calibri"/>
            </a:endParaRPr>
          </a:p>
          <a:p>
            <a:pPr lvl="1" marL="1393190" indent="-228600">
              <a:lnSpc>
                <a:spcPct val="100000"/>
              </a:lnSpc>
              <a:spcBef>
                <a:spcPts val="335"/>
              </a:spcBef>
              <a:buChar char="▪"/>
              <a:tabLst>
                <a:tab pos="1393190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core.autocrlf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5">
                <a:solidFill>
                  <a:srgbClr val="202528"/>
                </a:solidFill>
                <a:latin typeface="Arial"/>
                <a:cs typeface="Arial"/>
              </a:rPr>
              <a:t>true</a:t>
            </a:r>
            <a:endParaRPr sz="1000">
              <a:latin typeface="Arial"/>
              <a:cs typeface="Arial"/>
            </a:endParaRPr>
          </a:p>
          <a:p>
            <a:pPr lvl="1" marL="1393190" indent="-228600">
              <a:lnSpc>
                <a:spcPct val="100000"/>
              </a:lnSpc>
              <a:spcBef>
                <a:spcPts val="320"/>
              </a:spcBef>
              <a:buSzPct val="95238"/>
              <a:buFont typeface="Arial"/>
              <a:buChar char="▪"/>
              <a:tabLst>
                <a:tab pos="13931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Linux</a:t>
            </a:r>
            <a:endParaRPr sz="1050">
              <a:latin typeface="Calibri"/>
              <a:cs typeface="Calibri"/>
            </a:endParaRPr>
          </a:p>
          <a:p>
            <a:pPr lvl="1" marL="1393190" indent="-228600">
              <a:lnSpc>
                <a:spcPct val="100000"/>
              </a:lnSpc>
              <a:spcBef>
                <a:spcPts val="335"/>
              </a:spcBef>
              <a:buChar char="▪"/>
              <a:tabLst>
                <a:tab pos="1393190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core.autocrlf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input</a:t>
            </a:r>
            <a:endParaRPr sz="1000">
              <a:latin typeface="Arial"/>
              <a:cs typeface="Arial"/>
            </a:endParaRPr>
          </a:p>
          <a:p>
            <a:pPr marL="469265" marR="709930" indent="-228600">
              <a:lnSpc>
                <a:spcPct val="116500"/>
              </a:lnSpc>
              <a:spcBef>
                <a:spcPts val="220"/>
              </a:spcBef>
              <a:buAutoNum type="arabicPeriod" startAt="2"/>
              <a:tabLst>
                <a:tab pos="469265" algn="l"/>
                <a:tab pos="181673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Параметр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safecrlf</a:t>
            </a:r>
            <a:r>
              <a:rPr dirty="0" sz="900" spc="3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Настройка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core.safecrlf</a:t>
            </a:r>
            <a:r>
              <a:rPr dirty="0" sz="900" spc="2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предназначена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проверки,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является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ли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окончаний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строк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обратимым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текущей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core.autocrlf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lvl="1" marL="1393825" marR="367665" indent="-228600">
              <a:lnSpc>
                <a:spcPct val="114900"/>
              </a:lnSpc>
              <a:spcBef>
                <a:spcPts val="25"/>
              </a:spcBef>
              <a:buClr>
                <a:srgbClr val="202528"/>
              </a:buClr>
              <a:buSzPct val="111111"/>
              <a:buChar char="▪"/>
              <a:tabLst>
                <a:tab pos="1393825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core.safecrlf</a:t>
            </a:r>
            <a:r>
              <a:rPr dirty="0" sz="900" spc="4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true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7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запрещается</a:t>
            </a:r>
            <a:r>
              <a:rPr dirty="0" sz="1050" spc="7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необратимое</a:t>
            </a:r>
            <a:r>
              <a:rPr dirty="0" sz="1050" spc="7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преобразование</a:t>
            </a:r>
            <a:r>
              <a:rPr dirty="0" sz="1050" spc="8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lf&lt;-&gt;crlf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r>
              <a:rPr dirty="0" sz="1050" spc="7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Полезно,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когда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существуют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бинарные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файлы,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похожие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текстовые файлы.</a:t>
            </a:r>
            <a:endParaRPr sz="1050">
              <a:latin typeface="Calibri"/>
              <a:cs typeface="Calibri"/>
            </a:endParaRPr>
          </a:p>
          <a:p>
            <a:pPr lvl="1" marL="1393190" marR="94615" indent="-228600">
              <a:lnSpc>
                <a:spcPct val="114900"/>
              </a:lnSpc>
              <a:spcBef>
                <a:spcPts val="105"/>
              </a:spcBef>
              <a:buClr>
                <a:srgbClr val="202528"/>
              </a:buClr>
              <a:buSzPct val="111111"/>
              <a:buChar char="▪"/>
              <a:tabLst>
                <a:tab pos="1393190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core.safecrlf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warn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печать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предупреждения,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коммиты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необратимым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переходом принимаются.</a:t>
            </a:r>
            <a:endParaRPr sz="1050">
              <a:latin typeface="Calibri"/>
              <a:cs typeface="Calibri"/>
            </a:endParaRPr>
          </a:p>
          <a:p>
            <a:pPr marL="935990" indent="-227965">
              <a:lnSpc>
                <a:spcPct val="100000"/>
              </a:lnSpc>
              <a:spcBef>
                <a:spcPts val="210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Установка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параметра:</a:t>
            </a:r>
            <a:endParaRPr sz="1050">
              <a:latin typeface="Calibri"/>
              <a:cs typeface="Calibri"/>
            </a:endParaRPr>
          </a:p>
          <a:p>
            <a:pPr marL="935990" indent="-227965">
              <a:lnSpc>
                <a:spcPct val="100000"/>
              </a:lnSpc>
              <a:spcBef>
                <a:spcPts val="330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core.safecrlf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warn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905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Создание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ключа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ssh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Общая</a:t>
            </a:r>
            <a:r>
              <a:rPr dirty="0" sz="1200" spc="-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информация</a:t>
            </a:r>
            <a:endParaRPr sz="1200">
              <a:latin typeface="Calibri"/>
              <a:cs typeface="Calibri"/>
            </a:endParaRPr>
          </a:p>
          <a:p>
            <a:pPr marL="708025">
              <a:lnSpc>
                <a:spcPct val="100000"/>
              </a:lnSpc>
              <a:spcBef>
                <a:spcPts val="135"/>
              </a:spcBef>
              <a:tabLst>
                <a:tab pos="935990" algn="l"/>
              </a:tabLst>
            </a:pP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1.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Алгоритмы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шифрования</a:t>
            </a:r>
            <a:r>
              <a:rPr dirty="0" sz="1050" spc="-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endParaRPr sz="1050">
              <a:latin typeface="Calibri"/>
              <a:cs typeface="Calibri"/>
            </a:endParaRPr>
          </a:p>
          <a:p>
            <a:pPr marL="708025">
              <a:lnSpc>
                <a:spcPct val="100000"/>
              </a:lnSpc>
              <a:spcBef>
                <a:spcPts val="34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1.</a:t>
            </a:r>
            <a:r>
              <a:rPr dirty="0" sz="1050" spc="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Аутентификация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050">
              <a:latin typeface="Calibri"/>
              <a:cs typeface="Calibri"/>
            </a:endParaRPr>
          </a:p>
          <a:p>
            <a:pPr marL="1641475">
              <a:lnSpc>
                <a:spcPct val="100000"/>
              </a:lnSpc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SSH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поддерживается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четыре алгоритма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аутентификации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по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открытым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ключам: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83664" y="7970253"/>
            <a:ext cx="4634865" cy="154622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119505" indent="-193040">
              <a:lnSpc>
                <a:spcPct val="100000"/>
              </a:lnSpc>
              <a:spcBef>
                <a:spcPts val="375"/>
              </a:spcBef>
              <a:buSzPct val="95238"/>
              <a:buFont typeface="Arial"/>
              <a:buChar char="▪"/>
              <a:tabLst>
                <a:tab pos="1119505" algn="l"/>
              </a:tabLst>
            </a:pP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DSA:</a:t>
            </a:r>
            <a:endParaRPr sz="1050">
              <a:latin typeface="Calibri"/>
              <a:cs typeface="Calibri"/>
            </a:endParaRPr>
          </a:p>
          <a:p>
            <a:pPr marL="469265" marR="129539" indent="650240">
              <a:lnSpc>
                <a:spcPct val="114900"/>
              </a:lnSpc>
              <a:spcBef>
                <a:spcPts val="90"/>
              </a:spcBef>
              <a:buSzPct val="95238"/>
              <a:buFont typeface="Arial"/>
              <a:buChar char="▪"/>
              <a:tabLst>
                <a:tab pos="1119505" algn="l"/>
                <a:tab pos="15709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ключей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DSA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может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превышать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1024,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следует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отключить;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	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RSA:</a:t>
            </a:r>
            <a:endParaRPr sz="1050">
              <a:latin typeface="Calibri"/>
              <a:cs typeface="Calibri"/>
            </a:endParaRPr>
          </a:p>
          <a:p>
            <a:pPr marL="1119505" indent="-193040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▪"/>
              <a:tabLst>
                <a:tab pos="111950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следует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создавать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большого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размера: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4096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бит; </a:t>
            </a: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endParaRPr sz="1000">
              <a:latin typeface="Arial"/>
              <a:cs typeface="Arial"/>
            </a:endParaRPr>
          </a:p>
          <a:p>
            <a:pPr marL="1119505" indent="-193040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▪"/>
              <a:tabLst>
                <a:tab pos="111950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ECDSA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завязан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технологиях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NIST,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следует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отключить;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endParaRPr sz="1000">
              <a:latin typeface="Arial"/>
              <a:cs typeface="Arial"/>
            </a:endParaRPr>
          </a:p>
          <a:p>
            <a:pPr marL="671830">
              <a:lnSpc>
                <a:spcPct val="100000"/>
              </a:lnSpc>
              <a:spcBef>
                <a:spcPts val="190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Ed25519:</a:t>
            </a:r>
            <a:endParaRPr sz="1050">
              <a:latin typeface="Calibri"/>
              <a:cs typeface="Calibri"/>
            </a:endParaRPr>
          </a:p>
          <a:p>
            <a:pPr marL="1119505" indent="-193040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▪"/>
              <a:tabLst>
                <a:tab pos="111950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используется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пока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везде.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  <a:tabLst>
                <a:tab pos="240665" algn="l"/>
              </a:tabLst>
            </a:pP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2.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Симметричные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шифры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089652" y="8571725"/>
            <a:ext cx="41783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ECDSA: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383664" y="719138"/>
            <a:ext cx="5414010" cy="14141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99135" marR="614680" indent="-229235">
              <a:lnSpc>
                <a:spcPct val="114900"/>
              </a:lnSpc>
              <a:spcBef>
                <a:spcPts val="100"/>
              </a:spcBef>
              <a:buSzPct val="95238"/>
              <a:buFont typeface="Arial"/>
              <a:buChar char="▪"/>
              <a:tabLst>
                <a:tab pos="69913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15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поддерживаемых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алгоритмов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симметричного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шифрования, безопасными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считать:</a:t>
            </a:r>
            <a:endParaRPr sz="105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390"/>
              </a:spcBef>
              <a:buClr>
                <a:srgbClr val="202528"/>
              </a:buClr>
              <a:buSzPct val="111111"/>
              <a:buChar char="▪"/>
              <a:tabLst>
                <a:tab pos="698500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chacha20-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poly1305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;</a:t>
            </a:r>
            <a:endParaRPr sz="105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455"/>
              </a:spcBef>
              <a:buClr>
                <a:srgbClr val="202528"/>
              </a:buClr>
              <a:buSzPct val="111111"/>
              <a:buChar char="▪"/>
              <a:tabLst>
                <a:tab pos="698500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aes*-ctr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;</a:t>
            </a:r>
            <a:r>
              <a:rPr dirty="0" sz="1050" spc="1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395">
                <a:solidFill>
                  <a:srgbClr val="202528"/>
                </a:solidFill>
                <a:latin typeface="Arial"/>
                <a:cs typeface="Arial"/>
              </a:rPr>
              <a:t>▪</a:t>
            </a:r>
            <a:r>
              <a:rPr dirty="0" sz="100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aes*-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gcm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335"/>
              </a:spcBef>
              <a:buSzPct val="95238"/>
              <a:buFont typeface="Arial"/>
              <a:buChar char="▪"/>
              <a:tabLst>
                <a:tab pos="6985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Шифры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3des-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cbc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arcfour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потенциально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уязвимы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силу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использования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DES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RC4.</a:t>
            </a:r>
            <a:endParaRPr sz="1050">
              <a:latin typeface="Calibri"/>
              <a:cs typeface="Calibri"/>
            </a:endParaRPr>
          </a:p>
          <a:p>
            <a:pPr marL="698500" indent="-22923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▪"/>
              <a:tabLst>
                <a:tab pos="6985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Шифр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cast128-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cbc</a:t>
            </a:r>
            <a:r>
              <a:rPr dirty="0" sz="900" spc="-2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применяет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слишком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короткий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блока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(64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бит).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  <a:tabLst>
                <a:tab pos="240665" algn="l"/>
              </a:tabLst>
            </a:pP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3.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	Обмен</a:t>
            </a:r>
            <a:r>
              <a:rPr dirty="0" sz="1050" spc="-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ключами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29633" y="3735552"/>
            <a:ext cx="130302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2.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ssh-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ключей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065020" y="2110790"/>
            <a:ext cx="4894580" cy="18103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41935" marR="145415" indent="-229235">
              <a:lnSpc>
                <a:spcPct val="114900"/>
              </a:lnSpc>
              <a:spcBef>
                <a:spcPts val="100"/>
              </a:spcBef>
              <a:buSzPct val="95238"/>
              <a:buFont typeface="Arial"/>
              <a:buChar char="▪"/>
              <a:tabLst>
                <a:tab pos="24193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Применяемые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методы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обмена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ключей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DH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(Diffie-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Hellman)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ECDH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(Elliptic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Curve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Diffie-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Hellman)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считать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безопасными.</a:t>
            </a:r>
            <a:endParaRPr sz="1050">
              <a:latin typeface="Calibri"/>
              <a:cs typeface="Calibri"/>
            </a:endParaRPr>
          </a:p>
          <a:p>
            <a:pPr marL="241935" marR="5080" indent="-229235">
              <a:lnSpc>
                <a:spcPct val="114900"/>
              </a:lnSpc>
              <a:spcBef>
                <a:spcPts val="25"/>
              </a:spcBef>
              <a:buSzPct val="95238"/>
              <a:buFont typeface="Arial"/>
              <a:buChar char="▪"/>
              <a:tabLst>
                <a:tab pos="24193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8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поддерживаемых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протоколов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обмена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ключами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вызывают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подозрения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три, основанные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рекомендациях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NIST:</a:t>
            </a:r>
            <a:endParaRPr sz="1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80"/>
              </a:spcBef>
              <a:buClr>
                <a:srgbClr val="202528"/>
              </a:buClr>
              <a:buSzPct val="111111"/>
              <a:buChar char="▪"/>
              <a:tabLst>
                <a:tab pos="241300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ecdh-sha2-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nistp256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;</a:t>
            </a:r>
            <a:endParaRPr sz="1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5"/>
              </a:spcBef>
              <a:buClr>
                <a:srgbClr val="202528"/>
              </a:buClr>
              <a:buSzPct val="111111"/>
              <a:buChar char="▪"/>
              <a:tabLst>
                <a:tab pos="241300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ecdh-sha2-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nistp384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;</a:t>
            </a:r>
            <a:endParaRPr sz="1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450"/>
              </a:spcBef>
              <a:buClr>
                <a:srgbClr val="202528"/>
              </a:buClr>
              <a:buSzPct val="111111"/>
              <a:buChar char="▪"/>
              <a:tabLst>
                <a:tab pos="241300" algn="l"/>
              </a:tabLst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ecdh-sha2-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nistp521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35"/>
              </a:spcBef>
              <a:buSzPct val="95238"/>
              <a:buFont typeface="Arial"/>
              <a:buChar char="▪"/>
              <a:tabLst>
                <a:tab pos="2413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стоит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использовать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протоколы,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основанные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Calibri"/>
                <a:cs typeface="Calibri"/>
              </a:rPr>
              <a:t>SHA1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440055">
              <a:lnSpc>
                <a:spcPct val="100000"/>
              </a:lnSpc>
              <a:spcBef>
                <a:spcPts val="31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умолчанию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пользовательские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ssh-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ключи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сохраняются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в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каталоге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91319" y="3921985"/>
            <a:ext cx="2066289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Убедитесь,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вас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ещё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нет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ключа.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374133" y="3892403"/>
            <a:ext cx="2925445" cy="58864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30"/>
              </a:spcBef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~/.ssh</a:t>
            </a:r>
            <a:r>
              <a:rPr dirty="0" sz="900" spc="-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домашнем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каталоге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пользователя.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endParaRPr sz="1000">
              <a:latin typeface="Courier New"/>
              <a:cs typeface="Courier New"/>
            </a:endParaRPr>
          </a:p>
          <a:p>
            <a:pPr marL="250190" indent="-227965">
              <a:lnSpc>
                <a:spcPct val="100000"/>
              </a:lnSpc>
              <a:spcBef>
                <a:spcPts val="235"/>
              </a:spcBef>
              <a:buSzPct val="95238"/>
              <a:buFont typeface="Courier New"/>
              <a:buChar char="o"/>
              <a:tabLst>
                <a:tab pos="2501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Файлы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закрытых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ключей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имеют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названия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типа</a:t>
            </a:r>
            <a:endParaRPr sz="1050">
              <a:latin typeface="Calibri"/>
              <a:cs typeface="Calibri"/>
            </a:endParaRPr>
          </a:p>
          <a:p>
            <a:pPr marL="250825">
              <a:lnSpc>
                <a:spcPct val="100000"/>
              </a:lnSpc>
              <a:spcBef>
                <a:spcPts val="185"/>
              </a:spcBef>
            </a:pP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id_&lt;алгоритм&gt;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(например,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id_dsa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,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id_rsa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).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8340" y="4438184"/>
            <a:ext cx="6394450" cy="517779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814830" indent="-193040">
              <a:lnSpc>
                <a:spcPct val="100000"/>
              </a:lnSpc>
              <a:spcBef>
                <a:spcPts val="445"/>
              </a:spcBef>
              <a:buSzPct val="95238"/>
              <a:buFont typeface="Arial"/>
              <a:buChar char="▪"/>
              <a:tabLst>
                <a:tab pos="181483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умолчанию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закрытые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имеют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имена:</a:t>
            </a:r>
            <a:endParaRPr sz="1050">
              <a:latin typeface="Calibri"/>
              <a:cs typeface="Calibri"/>
            </a:endParaRPr>
          </a:p>
          <a:p>
            <a:pPr marL="1814830" indent="-193040">
              <a:lnSpc>
                <a:spcPct val="100000"/>
              </a:lnSpc>
              <a:spcBef>
                <a:spcPts val="334"/>
              </a:spcBef>
              <a:buChar char="▪"/>
              <a:tabLst>
                <a:tab pos="1814830" algn="l"/>
              </a:tabLst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id_dsa</a:t>
            </a:r>
            <a:endParaRPr sz="1000">
              <a:latin typeface="Arial"/>
              <a:cs typeface="Arial"/>
            </a:endParaRPr>
          </a:p>
          <a:p>
            <a:pPr marL="1814830" indent="-193040">
              <a:lnSpc>
                <a:spcPct val="100000"/>
              </a:lnSpc>
              <a:spcBef>
                <a:spcPts val="275"/>
              </a:spcBef>
              <a:buChar char="▪"/>
              <a:tabLst>
                <a:tab pos="1814830" algn="l"/>
              </a:tabLst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id_ecdsa</a:t>
            </a:r>
            <a:endParaRPr sz="1000">
              <a:latin typeface="Arial"/>
              <a:cs typeface="Arial"/>
            </a:endParaRPr>
          </a:p>
          <a:p>
            <a:pPr marL="1814830" indent="-193040">
              <a:lnSpc>
                <a:spcPct val="100000"/>
              </a:lnSpc>
              <a:spcBef>
                <a:spcPts val="280"/>
              </a:spcBef>
              <a:buChar char="▪"/>
              <a:tabLst>
                <a:tab pos="1814830" algn="l"/>
              </a:tabLst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id_ed25519</a:t>
            </a:r>
            <a:endParaRPr sz="1000">
              <a:latin typeface="Arial"/>
              <a:cs typeface="Arial"/>
            </a:endParaRPr>
          </a:p>
          <a:p>
            <a:pPr marL="1814830" indent="-193040">
              <a:lnSpc>
                <a:spcPct val="100000"/>
              </a:lnSpc>
              <a:spcBef>
                <a:spcPts val="225"/>
              </a:spcBef>
              <a:buChar char="▪"/>
              <a:tabLst>
                <a:tab pos="1814830" algn="l"/>
                <a:tab pos="271589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id_rsa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Открытые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имеют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дополнительные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расширения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.pub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1814830" indent="-193040">
              <a:lnSpc>
                <a:spcPct val="100000"/>
              </a:lnSpc>
              <a:spcBef>
                <a:spcPts val="244"/>
              </a:spcBef>
              <a:buSzPct val="95238"/>
              <a:buFont typeface="Arial"/>
              <a:buChar char="▪"/>
              <a:tabLst>
                <a:tab pos="181483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умолчанию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публичные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имеют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имена:</a:t>
            </a:r>
            <a:endParaRPr sz="1050">
              <a:latin typeface="Calibri"/>
              <a:cs typeface="Calibri"/>
            </a:endParaRPr>
          </a:p>
          <a:p>
            <a:pPr marL="1814830" indent="-193040">
              <a:lnSpc>
                <a:spcPct val="100000"/>
              </a:lnSpc>
              <a:spcBef>
                <a:spcPts val="330"/>
              </a:spcBef>
              <a:buChar char="▪"/>
              <a:tabLst>
                <a:tab pos="1814830" algn="l"/>
              </a:tabLst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id_dsa.pub</a:t>
            </a:r>
            <a:endParaRPr sz="1000">
              <a:latin typeface="Arial"/>
              <a:cs typeface="Arial"/>
            </a:endParaRPr>
          </a:p>
          <a:p>
            <a:pPr marL="1814830" indent="-193040">
              <a:lnSpc>
                <a:spcPct val="100000"/>
              </a:lnSpc>
              <a:spcBef>
                <a:spcPts val="280"/>
              </a:spcBef>
              <a:buChar char="▪"/>
              <a:tabLst>
                <a:tab pos="1814830" algn="l"/>
              </a:tabLst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id_ecdsa.pub</a:t>
            </a:r>
            <a:endParaRPr sz="1000">
              <a:latin typeface="Arial"/>
              <a:cs typeface="Arial"/>
            </a:endParaRPr>
          </a:p>
          <a:p>
            <a:pPr marL="1814830" indent="-193040">
              <a:lnSpc>
                <a:spcPct val="100000"/>
              </a:lnSpc>
              <a:spcBef>
                <a:spcPts val="275"/>
              </a:spcBef>
              <a:buChar char="▪"/>
              <a:tabLst>
                <a:tab pos="1814830" algn="l"/>
              </a:tabLst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id_ed25519.pub</a:t>
            </a:r>
            <a:endParaRPr sz="1000">
              <a:latin typeface="Arial"/>
              <a:cs typeface="Arial"/>
            </a:endParaRPr>
          </a:p>
          <a:p>
            <a:pPr algn="just" marL="1165225" marR="5080" indent="650240">
              <a:lnSpc>
                <a:spcPct val="115999"/>
              </a:lnSpc>
              <a:spcBef>
                <a:spcPts val="25"/>
              </a:spcBef>
              <a:buChar char="▪"/>
              <a:tabLst>
                <a:tab pos="1815464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id_rsa.pub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225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Пр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создани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ключа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команда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попросит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ввести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любую</a:t>
            </a:r>
            <a:r>
              <a:rPr dirty="0" sz="1050" spc="9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ключевую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фраз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более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надёжной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защиты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вашег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пароля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пропустить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этот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этап,</a:t>
            </a:r>
            <a:r>
              <a:rPr dirty="0" sz="1050" spc="1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жав 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Enter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algn="just" marL="935990" indent="-227965">
              <a:lnSpc>
                <a:spcPct val="100000"/>
              </a:lnSpc>
              <a:spcBef>
                <a:spcPts val="295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Сменить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пароль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помощью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команды:</a:t>
            </a:r>
            <a:endParaRPr sz="1050">
              <a:latin typeface="Calibri"/>
              <a:cs typeface="Calibri"/>
            </a:endParaRPr>
          </a:p>
          <a:p>
            <a:pPr algn="just" marL="935990" indent="-227965">
              <a:lnSpc>
                <a:spcPct val="100000"/>
              </a:lnSpc>
              <a:spcBef>
                <a:spcPts val="204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ssh-keygen -p</a:t>
            </a:r>
            <a:r>
              <a:rPr dirty="0" sz="100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Создание</a:t>
            </a:r>
            <a:r>
              <a:rPr dirty="0" sz="120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ключа</a:t>
            </a:r>
            <a:r>
              <a:rPr dirty="0" sz="1200" spc="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создаётся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командой: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80"/>
              </a:spcBef>
              <a:buChar char="•"/>
              <a:tabLst>
                <a:tab pos="469265" algn="l"/>
                <a:tab pos="226631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ssh-keygen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-t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&lt;алгоритм&gt;</a:t>
            </a:r>
            <a:r>
              <a:rPr dirty="0" sz="100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Создайте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ключи:</a:t>
            </a:r>
            <a:endParaRPr sz="1050">
              <a:latin typeface="Calibri"/>
              <a:cs typeface="Calibri"/>
            </a:endParaRPr>
          </a:p>
          <a:p>
            <a:pPr algn="just" lvl="1" marL="935990" indent="-227965">
              <a:lnSpc>
                <a:spcPct val="100000"/>
              </a:lnSpc>
              <a:spcBef>
                <a:spcPts val="235"/>
              </a:spcBef>
              <a:buSzPct val="95238"/>
              <a:buFont typeface="Courier New"/>
              <a:buChar char="o"/>
              <a:tabLst>
                <a:tab pos="9359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алгоритму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rsa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ключём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размером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4096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бит:</a:t>
            </a:r>
            <a:endParaRPr sz="1050">
              <a:latin typeface="Calibri"/>
              <a:cs typeface="Calibri"/>
            </a:endParaRPr>
          </a:p>
          <a:p>
            <a:pPr lvl="1" marL="935990" marR="2154555" indent="-228600">
              <a:lnSpc>
                <a:spcPct val="116700"/>
              </a:lnSpc>
              <a:spcBef>
                <a:spcPts val="70"/>
              </a:spcBef>
              <a:buFont typeface="Courier New"/>
              <a:buChar char="o"/>
              <a:tabLst>
                <a:tab pos="935990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ssh-keygen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-t</a:t>
            </a:r>
            <a:r>
              <a:rPr dirty="0" sz="100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rsa</a:t>
            </a:r>
            <a:r>
              <a:rPr dirty="0" sz="100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-b</a:t>
            </a:r>
            <a:r>
              <a:rPr dirty="0" sz="1000" spc="-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4096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1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алгоритму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ed25519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31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ssh-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keygen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-t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ed25519</a:t>
            </a:r>
            <a:endParaRPr sz="1000">
              <a:latin typeface="Arial"/>
              <a:cs typeface="Arial"/>
            </a:endParaRPr>
          </a:p>
          <a:p>
            <a:pPr marL="469900" marR="180975" indent="-228600">
              <a:lnSpc>
                <a:spcPct val="114900"/>
              </a:lnSpc>
              <a:spcBef>
                <a:spcPts val="170"/>
              </a:spcBef>
              <a:buSzPct val="95238"/>
              <a:buFont typeface="Arial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создании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ключа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команда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попросит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ввести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любую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ключевую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фразу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более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надёжной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защиты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вашего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пароля.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пропустить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этап,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нажав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Enter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Сменить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пароль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помощью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команды: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ssh-keygen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p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Добавление</a:t>
            </a:r>
            <a:r>
              <a:rPr dirty="0" sz="120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202528"/>
                </a:solidFill>
                <a:latin typeface="Calibri"/>
                <a:cs typeface="Calibri"/>
              </a:rPr>
              <a:t>SSH-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ключа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учётную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запись</a:t>
            </a:r>
            <a:r>
              <a:rPr dirty="0" sz="120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13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Скопируйте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созданный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SSH-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буфер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обмена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командой: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xclip -i</a:t>
            </a:r>
            <a:r>
              <a:rPr dirty="0" sz="1000" spc="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&lt;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~/.ssh/id_ed25519.pub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0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Откройте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настройки своего аккаунта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 GitHub и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перейдем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раздел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80">
                <a:solidFill>
                  <a:srgbClr val="E73E8C"/>
                </a:solidFill>
                <a:latin typeface="Arial"/>
                <a:cs typeface="Arial"/>
              </a:rPr>
              <a:t>SSH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and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 spc="-75">
                <a:solidFill>
                  <a:srgbClr val="E73E8C"/>
                </a:solidFill>
                <a:latin typeface="Arial"/>
                <a:cs typeface="Arial"/>
              </a:rPr>
              <a:t>GPC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keys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715975"/>
            <a:ext cx="4549140" cy="77343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Нажмите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кнопку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ew</a:t>
            </a:r>
            <a:r>
              <a:rPr dirty="0" sz="900" spc="-3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E73E8C"/>
                </a:solidFill>
                <a:latin typeface="Arial"/>
                <a:cs typeface="Arial"/>
              </a:rPr>
              <a:t>SSH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 key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Добавьте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Title</a:t>
            </a:r>
            <a:r>
              <a:rPr dirty="0" sz="900" spc="-3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название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ключа,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например,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ed25519@hostname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Вставьте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буфера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обмена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Key</a:t>
            </a:r>
            <a:r>
              <a:rPr dirty="0" sz="900" spc="-3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Нажмите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кнопку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Add</a:t>
            </a:r>
            <a:r>
              <a:rPr dirty="0" sz="900" spc="-2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 spc="-80">
                <a:solidFill>
                  <a:srgbClr val="E73E8C"/>
                </a:solidFill>
                <a:latin typeface="Arial"/>
                <a:cs typeface="Arial"/>
              </a:rPr>
              <a:t>SSH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 key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688341" y="1740559"/>
            <a:ext cx="375856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Верификация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коммитов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с</a:t>
            </a:r>
            <a:r>
              <a:rPr dirty="0" sz="1650" spc="-1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помощью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 i="1">
                <a:solidFill>
                  <a:srgbClr val="282C3D"/>
                </a:solidFill>
                <a:latin typeface="Calibri"/>
                <a:cs typeface="Calibri"/>
              </a:rPr>
              <a:t>PGP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6939" y="2142185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565910" y="2135835"/>
            <a:ext cx="3126740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настроить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PGP-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подпись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помощью 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gpg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8342" y="2527010"/>
            <a:ext cx="133413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Общая</a:t>
            </a:r>
            <a:r>
              <a:rPr dirty="0" sz="1200" spc="-5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информация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939" y="2904998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83664" y="2871687"/>
            <a:ext cx="5433060" cy="1705610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194945">
              <a:lnSpc>
                <a:spcPct val="100000"/>
              </a:lnSpc>
              <a:spcBef>
                <a:spcPts val="31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Коммиты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имеют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следующие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свойства: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author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(автор)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контрибьютор,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выполнивший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работу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(указывается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справки);</a:t>
            </a:r>
            <a:endParaRPr sz="1050">
              <a:latin typeface="Calibri"/>
              <a:cs typeface="Calibri"/>
            </a:endParaRPr>
          </a:p>
          <a:p>
            <a:pPr marL="194945" marR="1007744" indent="-182245">
              <a:lnSpc>
                <a:spcPct val="116799"/>
              </a:lnSpc>
              <a:buChar char="o"/>
              <a:tabLst>
                <a:tab pos="194945" algn="l"/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committer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(коммитер)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пользователь,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который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закоммитил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изменения.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свойства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переопределить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совершении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коммита.</a:t>
            </a:r>
            <a:r>
              <a:rPr dirty="0" sz="1050" spc="50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Авторство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подделать.</a:t>
            </a:r>
            <a:endParaRPr sz="10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21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есть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функция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подписи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коммитов.</a:t>
            </a:r>
            <a:endParaRPr sz="1050">
              <a:latin typeface="Calibri"/>
              <a:cs typeface="Calibri"/>
            </a:endParaRPr>
          </a:p>
          <a:p>
            <a:pPr marL="194945">
              <a:lnSpc>
                <a:spcPct val="100000"/>
              </a:lnSpc>
              <a:spcBef>
                <a:spcPts val="21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подписывания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технология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PGP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(см.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Работа</a:t>
            </a:r>
            <a:r>
              <a:rPr dirty="0" u="sng" sz="1050" spc="-1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с</a:t>
            </a:r>
            <a:r>
              <a:rPr dirty="0" u="sng" sz="1050" spc="-2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PGP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2"/>
              </a:rPr>
              <a:t>).</a:t>
            </a:r>
            <a:endParaRPr sz="1050">
              <a:latin typeface="Calibri"/>
              <a:cs typeface="Calibri"/>
            </a:endParaRPr>
          </a:p>
          <a:p>
            <a:pPr marL="194945" marR="5080">
              <a:lnSpc>
                <a:spcPct val="114900"/>
              </a:lnSpc>
              <a:spcBef>
                <a:spcPts val="2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Подпись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позволяет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удостовериться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том,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кто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является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коммитером.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Авторство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не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проверяется.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6939" y="3431361"/>
            <a:ext cx="70485" cy="96075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8340" y="4784410"/>
            <a:ext cx="10864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Создание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ключа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6939" y="4947602"/>
            <a:ext cx="70485" cy="5962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65910" y="4940418"/>
            <a:ext cx="2099945" cy="60452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Генерируем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2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--full-generate-</a:t>
            </a:r>
            <a:r>
              <a:rPr dirty="0" sz="1000" spc="-25">
                <a:solidFill>
                  <a:srgbClr val="202528"/>
                </a:solidFill>
                <a:latin typeface="Arial"/>
                <a:cs typeface="Arial"/>
              </a:rPr>
              <a:t>key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предложенных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опций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выбираем: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383664" y="5516689"/>
            <a:ext cx="5571490" cy="152336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30"/>
              </a:spcBef>
              <a:buSzPct val="95238"/>
              <a:buFont typeface="Courier New"/>
              <a:buChar char="o"/>
              <a:tabLst>
                <a:tab pos="240665" algn="l"/>
                <a:tab pos="15709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тип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RSA</a:t>
            </a: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and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RSA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;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</a:t>
            </a:r>
            <a:r>
              <a:rPr dirty="0" sz="1050" spc="-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4096;</a:t>
            </a:r>
            <a:endParaRPr sz="1050">
              <a:latin typeface="Calibri"/>
              <a:cs typeface="Calibri"/>
            </a:endParaRPr>
          </a:p>
          <a:p>
            <a:pPr marL="194945" marR="106045" indent="-182245">
              <a:lnSpc>
                <a:spcPct val="116799"/>
              </a:lnSpc>
              <a:spcBef>
                <a:spcPts val="25"/>
              </a:spcBef>
              <a:buChar char="o"/>
              <a:tabLst>
                <a:tab pos="194945" algn="l"/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выберите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срок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действия;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значение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умолчанию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0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(срок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действия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истекает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никогда).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GPG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запросит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личную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информацию,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которая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сохранится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ключе: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(не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менее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5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символов).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Courier New"/>
              <a:buChar char="o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Адрес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электронной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почты.</a:t>
            </a:r>
            <a:endParaRPr sz="1050">
              <a:latin typeface="Calibri"/>
              <a:cs typeface="Calibri"/>
            </a:endParaRPr>
          </a:p>
          <a:p>
            <a:pPr lvl="1" marL="697865" indent="-228600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▪"/>
              <a:tabLst>
                <a:tab pos="6978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вводе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email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убедитесь,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он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соответствует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адресу,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используемому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на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GitHub.</a:t>
            </a:r>
            <a:endParaRPr sz="1050">
              <a:latin typeface="Calibri"/>
              <a:cs typeface="Calibri"/>
            </a:endParaRPr>
          </a:p>
          <a:p>
            <a:pPr marL="241300" marR="5080" indent="-228600">
              <a:lnSpc>
                <a:spcPct val="114900"/>
              </a:lnSpc>
              <a:spcBef>
                <a:spcPts val="25"/>
              </a:spcBef>
              <a:buSzPct val="95238"/>
              <a:buFont typeface="Courier New"/>
              <a:buChar char="o"/>
              <a:tabLst>
                <a:tab pos="2413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Комментарий.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ввести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угодно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нажать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клавишу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ввода,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чтобы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оставить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поле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пустым.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16939" y="5929198"/>
            <a:ext cx="704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688340" y="7245124"/>
            <a:ext cx="9804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Экспорт</a:t>
            </a:r>
            <a:r>
              <a:rPr dirty="0" sz="120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ключа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16939" y="7408316"/>
            <a:ext cx="70485" cy="5962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565910" y="7401131"/>
            <a:ext cx="5375275" cy="174815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Выводим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список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ключей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копируем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отпечаток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приватного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ключа: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--list-secret-keys</a:t>
            </a:r>
            <a:r>
              <a:rPr dirty="0" sz="100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--keyid-format</a:t>
            </a:r>
            <a:r>
              <a:rPr dirty="0" sz="100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LONG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4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Отпечаток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ключа — это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последовательность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байтов,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используемая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для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идентификации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более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длинного,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сравнению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самим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отпечатком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ключа.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Формат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строки:</a:t>
            </a:r>
            <a:endParaRPr sz="1050">
              <a:latin typeface="Calibri"/>
              <a:cs typeface="Calibri"/>
            </a:endParaRPr>
          </a:p>
          <a:p>
            <a:pPr marL="12700" marR="1179195">
              <a:lnSpc>
                <a:spcPct val="123700"/>
              </a:lnSpc>
              <a:spcBef>
                <a:spcPts val="50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sec</a:t>
            </a:r>
            <a:r>
              <a:rPr dirty="0" sz="1000" spc="320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Алгоритм/Отпечаток_ключа</a:t>
            </a:r>
            <a:r>
              <a:rPr dirty="0" sz="100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Дата_создания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[Флаги]</a:t>
            </a:r>
            <a:r>
              <a:rPr dirty="0" sz="100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[Годен_до] ID_ключа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Экспортируем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формате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ASCII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отпечатку: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--armor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--export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202528"/>
                </a:solidFill>
                <a:latin typeface="Arial"/>
                <a:cs typeface="Arial"/>
              </a:rPr>
              <a:t>&lt;PGP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Fingerprint&gt;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Добавление</a:t>
            </a:r>
            <a:r>
              <a:rPr dirty="0" sz="1200" spc="8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PGP</a:t>
            </a:r>
            <a:r>
              <a:rPr dirty="0" sz="1200" spc="8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ключа</a:t>
            </a:r>
            <a:r>
              <a:rPr dirty="0" sz="1200" spc="8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200" spc="8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916939" y="8153781"/>
            <a:ext cx="70485" cy="99060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916939" y="9288869"/>
            <a:ext cx="70485" cy="399415"/>
          </a:xfrm>
          <a:prstGeom prst="rect">
            <a:avLst/>
          </a:prstGeom>
        </p:spPr>
        <p:txBody>
          <a:bodyPr wrap="square" lIns="0" tIns="46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565910" y="9290139"/>
            <a:ext cx="4494530" cy="399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99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Копируем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добавляем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настройках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профиля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(или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GitLab).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Cкопируйте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ваш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сгенерированный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PGP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буфер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обмена: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731521"/>
            <a:ext cx="70485" cy="383540"/>
          </a:xfrm>
          <a:prstGeom prst="rect">
            <a:avLst/>
          </a:prstGeom>
        </p:spPr>
        <p:txBody>
          <a:bodyPr wrap="square" lIns="0" tIns="387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65902" y="738831"/>
            <a:ext cx="5389880" cy="561340"/>
          </a:xfrm>
          <a:prstGeom prst="rect">
            <a:avLst/>
          </a:prstGeom>
        </p:spPr>
        <p:txBody>
          <a:bodyPr wrap="square" lIns="0" tIns="317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--armor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--export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202528"/>
                </a:solidFill>
                <a:latin typeface="Arial"/>
                <a:cs typeface="Arial"/>
              </a:rPr>
              <a:t>&lt;PGP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Fingerprint&gt;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285">
                <a:solidFill>
                  <a:srgbClr val="202528"/>
                </a:solidFill>
                <a:latin typeface="Arial"/>
                <a:cs typeface="Arial"/>
              </a:rPr>
              <a:t>|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xclip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sel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clip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50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Перейдите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настройки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2"/>
              </a:rPr>
              <a:t>(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https://github.com/settings/keys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2"/>
              </a:rPr>
              <a:t>),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нажмите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кнопку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New</a:t>
            </a:r>
            <a:r>
              <a:rPr dirty="0" sz="1050" spc="1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202528"/>
                </a:solidFill>
                <a:latin typeface="Calibri"/>
                <a:cs typeface="Calibri"/>
              </a:rPr>
              <a:t>GPG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key</a:t>
            </a: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вставьте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полученный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ввода.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8340" y="1507503"/>
            <a:ext cx="187642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Подписывание</a:t>
            </a:r>
            <a:r>
              <a:rPr dirty="0" sz="120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20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1670685"/>
            <a:ext cx="70485" cy="5962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565910" y="1663501"/>
            <a:ext cx="5041265" cy="78867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Подпись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через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терминал: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commit</a:t>
            </a:r>
            <a:r>
              <a:rPr dirty="0" sz="100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a</a:t>
            </a:r>
            <a:r>
              <a:rPr dirty="0" sz="100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-95">
                <a:solidFill>
                  <a:srgbClr val="202528"/>
                </a:solidFill>
                <a:latin typeface="Arial"/>
                <a:cs typeface="Arial"/>
              </a:rPr>
              <a:t>S</a:t>
            </a:r>
            <a:r>
              <a:rPr dirty="0" sz="100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m</a:t>
            </a:r>
            <a:r>
              <a:rPr dirty="0" sz="100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'your</a:t>
            </a:r>
            <a:r>
              <a:rPr dirty="0" sz="100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commit</a:t>
            </a:r>
            <a:r>
              <a:rPr dirty="0" sz="100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message'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4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Флаг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50">
                <a:solidFill>
                  <a:srgbClr val="E73E8C"/>
                </a:solidFill>
                <a:latin typeface="Arial"/>
                <a:cs typeface="Arial"/>
              </a:rPr>
              <a:t>-</a:t>
            </a:r>
            <a:r>
              <a:rPr dirty="0" sz="900" spc="-85">
                <a:solidFill>
                  <a:srgbClr val="E73E8C"/>
                </a:solidFill>
                <a:latin typeface="Arial"/>
                <a:cs typeface="Arial"/>
              </a:rPr>
              <a:t>S</a:t>
            </a:r>
            <a:r>
              <a:rPr dirty="0" sz="900" spc="-1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означает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подписанного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коммита.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может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потребоваться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ввод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кодовой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фразы,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заданной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генерации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GPG-ключа.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688340" y="2659255"/>
            <a:ext cx="3310254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Настройка</a:t>
            </a:r>
            <a:r>
              <a:rPr dirty="0" sz="120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автоматических</a:t>
            </a:r>
            <a:r>
              <a:rPr dirty="0" sz="120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подписей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20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916939" y="2822448"/>
            <a:ext cx="70485" cy="7924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565910" y="2815264"/>
            <a:ext cx="4512310" cy="8001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введёный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email,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укажите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применять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подписи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коммитов:</a:t>
            </a:r>
            <a:endParaRPr sz="1050">
              <a:latin typeface="Calibri"/>
              <a:cs typeface="Calibri"/>
            </a:endParaRPr>
          </a:p>
          <a:p>
            <a:pPr marL="12700" marR="1423035">
              <a:lnSpc>
                <a:spcPct val="123200"/>
              </a:lnSpc>
              <a:spcBef>
                <a:spcPts val="55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user.signingkey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202528"/>
                </a:solidFill>
                <a:latin typeface="Arial"/>
                <a:cs typeface="Arial"/>
              </a:rPr>
              <a:t>&lt;PGP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Fingerprint&gt;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commit.gpgsign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5">
                <a:solidFill>
                  <a:srgbClr val="202528"/>
                </a:solidFill>
                <a:latin typeface="Arial"/>
                <a:cs typeface="Arial"/>
              </a:rPr>
              <a:t>true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5"/>
              </a:spcBef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gpg.program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$(which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gpg2)</a:t>
            </a:r>
            <a:endParaRPr sz="1000">
              <a:latin typeface="Arial"/>
              <a:cs typeface="Arial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8340" y="3676977"/>
            <a:ext cx="234378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Проверка</a:t>
            </a:r>
            <a:r>
              <a:rPr dirty="0" sz="1650" spc="-1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коммитов</a:t>
            </a:r>
            <a:r>
              <a:rPr dirty="0" sz="1650" spc="-1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в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Git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688341" y="4072242"/>
            <a:ext cx="6209665" cy="1504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228600">
              <a:lnSpc>
                <a:spcPct val="100000"/>
              </a:lnSpc>
              <a:spcBef>
                <a:spcPts val="100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GitLab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будут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показывать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значок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Verified</a:t>
            </a:r>
            <a:r>
              <a:rPr dirty="0" sz="1050" spc="-3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рядом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вашими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новыми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коммитами.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2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Режим</a:t>
            </a:r>
            <a:r>
              <a:rPr dirty="0" sz="120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бдительности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(vigilant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mode)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20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есть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vigilant</a:t>
            </a:r>
            <a:r>
              <a:rPr dirty="0" u="sng" sz="1050" spc="-1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mode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3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469265" indent="-228600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Все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неподписанные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коммиты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будут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явно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помечены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Calibri"/>
                <a:cs typeface="Calibri"/>
              </a:rPr>
              <a:t>Unverified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469265" marR="5080" indent="-228600">
              <a:lnSpc>
                <a:spcPct val="114900"/>
              </a:lnSpc>
              <a:spcBef>
                <a:spcPts val="2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Включается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настройках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разделе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and</a:t>
            </a:r>
            <a:r>
              <a:rPr dirty="0" sz="1050" spc="-1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GPG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keys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Установите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метку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Flag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unsigned</a:t>
            </a:r>
            <a:r>
              <a:rPr dirty="0" sz="1050" spc="-10" i="1">
                <a:solidFill>
                  <a:srgbClr val="202528"/>
                </a:solidFill>
                <a:latin typeface="Calibri"/>
                <a:cs typeface="Calibri"/>
              </a:rPr>
              <a:t> commits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as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Calibri"/>
                <a:cs typeface="Calibri"/>
              </a:rPr>
              <a:t>unverified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688341" y="5924677"/>
            <a:ext cx="11398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202528"/>
                </a:solidFill>
                <a:latin typeface="Calibri"/>
                <a:cs typeface="Calibri"/>
              </a:rPr>
              <a:t>Задание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6939" y="6358877"/>
            <a:ext cx="4072254" cy="114744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базовую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конфигурацию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git.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SSH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PGP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подписи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git.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Зарегистрироваться</a:t>
            </a:r>
            <a:r>
              <a:rPr dirty="0" sz="1050" spc="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локальный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каталог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выполнения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заданий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предмету.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88340" y="7366060"/>
            <a:ext cx="5550535" cy="1193800"/>
          </a:xfrm>
          <a:prstGeom prst="rect">
            <a:avLst/>
          </a:prstGeom>
        </p:spPr>
        <p:txBody>
          <a:bodyPr wrap="square" lIns="0" tIns="1460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0"/>
              </a:spcBef>
            </a:pPr>
            <a:r>
              <a:rPr dirty="0" sz="2400" spc="-10" b="1">
                <a:solidFill>
                  <a:srgbClr val="202528"/>
                </a:solidFill>
                <a:latin typeface="Calibri"/>
                <a:cs typeface="Calibri"/>
              </a:rPr>
              <a:t>Последовательность</a:t>
            </a:r>
            <a:r>
              <a:rPr dirty="0" sz="2400" spc="-3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02528"/>
                </a:solidFill>
                <a:latin typeface="Calibri"/>
                <a:cs typeface="Calibri"/>
              </a:rPr>
              <a:t>выполнения</a:t>
            </a:r>
            <a:r>
              <a:rPr dirty="0" sz="2400" spc="-3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Установка</a:t>
            </a:r>
            <a:r>
              <a:rPr dirty="0" sz="1650" spc="-5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программного</a:t>
            </a:r>
            <a:r>
              <a:rPr dirty="0" sz="1650" spc="-5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обеспечения</a:t>
            </a:r>
            <a:endParaRPr sz="16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Установка</a:t>
            </a:r>
            <a:r>
              <a:rPr dirty="0" sz="120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145539" y="8528793"/>
            <a:ext cx="2109470" cy="799465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marL="460375" indent="-447675">
              <a:lnSpc>
                <a:spcPct val="100000"/>
              </a:lnSpc>
              <a:spcBef>
                <a:spcPts val="280"/>
              </a:spcBef>
              <a:buSzPct val="95238"/>
              <a:buFont typeface="Arial"/>
              <a:buChar char="•"/>
              <a:tabLst>
                <a:tab pos="46037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Установим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460375" indent="-447675">
              <a:lnSpc>
                <a:spcPct val="100000"/>
              </a:lnSpc>
              <a:spcBef>
                <a:spcPts val="204"/>
              </a:spcBef>
              <a:buChar char="•"/>
              <a:tabLst>
                <a:tab pos="460375" algn="l"/>
              </a:tabLst>
            </a:pP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install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Установка</a:t>
            </a:r>
            <a:r>
              <a:rPr dirty="0" sz="1200" spc="7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gh</a:t>
            </a:r>
            <a:endParaRPr sz="1200">
              <a:latin typeface="Calibri"/>
              <a:cs typeface="Calibri"/>
            </a:endParaRPr>
          </a:p>
          <a:p>
            <a:pPr marL="460375" indent="-447675">
              <a:lnSpc>
                <a:spcPct val="100000"/>
              </a:lnSpc>
              <a:spcBef>
                <a:spcPts val="150"/>
              </a:spcBef>
              <a:buSzPct val="95238"/>
              <a:buFont typeface="Arial"/>
              <a:buChar char="•"/>
              <a:tabLst>
                <a:tab pos="46037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Fedora:</a:t>
            </a:r>
            <a:endParaRPr sz="1050">
              <a:latin typeface="Calibri"/>
              <a:cs typeface="Calibri"/>
            </a:endParaRPr>
          </a:p>
          <a:p>
            <a:pPr marL="460375" indent="-447675">
              <a:lnSpc>
                <a:spcPct val="100000"/>
              </a:lnSpc>
              <a:spcBef>
                <a:spcPts val="395"/>
              </a:spcBef>
              <a:buChar char="•"/>
              <a:tabLst>
                <a:tab pos="460375" algn="l"/>
              </a:tabLst>
            </a:pP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install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5">
                <a:solidFill>
                  <a:srgbClr val="202528"/>
                </a:solidFill>
                <a:latin typeface="Arial"/>
                <a:cs typeface="Arial"/>
              </a:rPr>
              <a:t>gh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88340" y="739267"/>
            <a:ext cx="2012314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Базовая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настройка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git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064314"/>
            <a:ext cx="6086475" cy="21082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4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Зададим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email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владельца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репозитория: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240665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user.name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"Name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Surname"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user.email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"work@mail"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Настроим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utf-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8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выводе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сообщений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git: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1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core.quotepath</a:t>
            </a:r>
            <a:r>
              <a:rPr dirty="0" sz="1000" spc="1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false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Настройте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верификацию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подписание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(см.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Верификация</a:t>
            </a:r>
            <a:r>
              <a:rPr dirty="0" u="sng" sz="1050" spc="-1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коммитов</a:t>
            </a:r>
            <a:r>
              <a:rPr dirty="0" u="sng" sz="1050" spc="-2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git</a:t>
            </a:r>
            <a:r>
              <a:rPr dirty="0" u="sng" sz="1050" spc="-1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с</a:t>
            </a:r>
            <a:r>
              <a:rPr dirty="0" u="sng" sz="1050" spc="-1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помощью</a:t>
            </a:r>
            <a:r>
              <a:rPr dirty="0" u="sng" sz="1050" spc="-1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GPG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2"/>
              </a:rPr>
              <a:t>).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Зададим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начальной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ветки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(будем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называть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её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master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):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1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1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init.defaultBranch</a:t>
            </a:r>
            <a:r>
              <a:rPr dirty="0" sz="1000" spc="1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master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6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Параметр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autocrlf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240665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core.autocrlf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input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6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Параметр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safecrlf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20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core.safecrlf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warn</a:t>
            </a:r>
            <a:endParaRPr sz="10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8340" y="3234649"/>
            <a:ext cx="182880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Создайте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ключи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 i="1">
                <a:solidFill>
                  <a:srgbClr val="282C3D"/>
                </a:solidFill>
                <a:latin typeface="Calibri"/>
                <a:cs typeface="Calibri"/>
              </a:rPr>
              <a:t>ssh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3561592"/>
            <a:ext cx="2942590" cy="79883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4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алгоритму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rsa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ключём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размером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4096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бит: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ssh-keygen</a:t>
            </a:r>
            <a:r>
              <a:rPr dirty="0" sz="100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-t</a:t>
            </a:r>
            <a:r>
              <a:rPr dirty="0" sz="100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rsa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-b</a:t>
            </a:r>
            <a:r>
              <a:rPr dirty="0" sz="100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4096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алгоритму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Calibri"/>
                <a:cs typeface="Calibri"/>
              </a:rPr>
              <a:t>ed25519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ssh-keygen</a:t>
            </a:r>
            <a:r>
              <a:rPr dirty="0" sz="100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-t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ed25519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8340" y="4423242"/>
            <a:ext cx="1885314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Создайте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ключи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 i="1">
                <a:solidFill>
                  <a:srgbClr val="282C3D"/>
                </a:solidFill>
                <a:latin typeface="Calibri"/>
                <a:cs typeface="Calibri"/>
              </a:rPr>
              <a:t>pgp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939" y="4750184"/>
            <a:ext cx="5928360" cy="209931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4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Генерируем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2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--full-generate-</a:t>
            </a:r>
            <a:r>
              <a:rPr dirty="0" sz="1000" spc="-25">
                <a:solidFill>
                  <a:srgbClr val="202528"/>
                </a:solidFill>
                <a:latin typeface="Arial"/>
                <a:cs typeface="Arial"/>
              </a:rPr>
              <a:t>key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предложенных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опций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выбираем:</a:t>
            </a:r>
            <a:endParaRPr sz="1050">
              <a:latin typeface="Calibri"/>
              <a:cs typeface="Calibri"/>
            </a:endParaRPr>
          </a:p>
          <a:p>
            <a:pPr lvl="1" marL="707390" indent="-227965">
              <a:lnSpc>
                <a:spcPct val="100000"/>
              </a:lnSpc>
              <a:spcBef>
                <a:spcPts val="215"/>
              </a:spcBef>
              <a:buSzPct val="95238"/>
              <a:buFont typeface="Courier New"/>
              <a:buChar char="o"/>
              <a:tabLst>
                <a:tab pos="707390" algn="l"/>
                <a:tab pos="2037714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тип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RSA</a:t>
            </a: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and</a:t>
            </a:r>
            <a:r>
              <a:rPr dirty="0" sz="1050" spc="-15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RSA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;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размер</a:t>
            </a:r>
            <a:r>
              <a:rPr dirty="0" sz="1050" spc="-6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4096;</a:t>
            </a:r>
            <a:endParaRPr sz="1050">
              <a:latin typeface="Calibri"/>
              <a:cs typeface="Calibri"/>
            </a:endParaRPr>
          </a:p>
          <a:p>
            <a:pPr lvl="1" marL="708025" marR="1797685" indent="-228600">
              <a:lnSpc>
                <a:spcPct val="114900"/>
              </a:lnSpc>
              <a:spcBef>
                <a:spcPts val="45"/>
              </a:spcBef>
              <a:buSzPct val="95238"/>
              <a:buFont typeface="Courier New"/>
              <a:buChar char="o"/>
              <a:tabLst>
                <a:tab pos="70802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выберите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срок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действия;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значение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умолчанию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0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(срок действия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истекает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никогда).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0"/>
              </a:spcBef>
              <a:buSzPct val="95238"/>
              <a:buFont typeface="Arial"/>
              <a:buChar char="•"/>
              <a:tabLst>
                <a:tab pos="240665" algn="l"/>
                <a:tab pos="4794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GPG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запросит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личную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информацию,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которая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сохранится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ключе:</a:t>
            </a:r>
            <a:endParaRPr sz="1050">
              <a:latin typeface="Calibri"/>
              <a:cs typeface="Calibri"/>
            </a:endParaRPr>
          </a:p>
          <a:p>
            <a:pPr lvl="1" marL="707390" indent="-227965">
              <a:lnSpc>
                <a:spcPct val="100000"/>
              </a:lnSpc>
              <a:spcBef>
                <a:spcPts val="215"/>
              </a:spcBef>
              <a:buSzPct val="95238"/>
              <a:buFont typeface="Courier New"/>
              <a:buChar char="o"/>
              <a:tabLst>
                <a:tab pos="7073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(не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менее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5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символов).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202528"/>
                </a:solidFill>
                <a:latin typeface="Courier New"/>
                <a:cs typeface="Courier New"/>
              </a:rPr>
              <a:t>o</a:t>
            </a:r>
            <a:r>
              <a:rPr dirty="0" sz="1000" spc="-50">
                <a:solidFill>
                  <a:srgbClr val="202528"/>
                </a:solidFill>
                <a:latin typeface="Courier New"/>
                <a:cs typeface="Courier New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Адрес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электронной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почты.</a:t>
            </a:r>
            <a:endParaRPr sz="1050">
              <a:latin typeface="Calibri"/>
              <a:cs typeface="Calibri"/>
            </a:endParaRPr>
          </a:p>
          <a:p>
            <a:pPr lvl="2" marL="1164590" indent="-227965">
              <a:lnSpc>
                <a:spcPct val="100000"/>
              </a:lnSpc>
              <a:spcBef>
                <a:spcPts val="229"/>
              </a:spcBef>
              <a:buSzPct val="95238"/>
              <a:buFont typeface="Arial"/>
              <a:buChar char="▪"/>
              <a:tabLst>
                <a:tab pos="11645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вводе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email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убедитесь,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он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соответствует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адресу,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используемому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на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GitHub.</a:t>
            </a:r>
            <a:endParaRPr sz="1050">
              <a:latin typeface="Calibri"/>
              <a:cs typeface="Calibri"/>
            </a:endParaRPr>
          </a:p>
          <a:p>
            <a:pPr lvl="1" marL="708025" marR="1705610" indent="-228600">
              <a:lnSpc>
                <a:spcPct val="114900"/>
              </a:lnSpc>
              <a:spcBef>
                <a:spcPts val="25"/>
              </a:spcBef>
              <a:buSzPct val="95238"/>
              <a:buFont typeface="Courier New"/>
              <a:buChar char="o"/>
              <a:tabLst>
                <a:tab pos="7080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Комментарий.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ввести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угодно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нажать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клавишу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ввода,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чтобы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оставить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пустым.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88340" y="7100505"/>
            <a:ext cx="158686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Настройка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github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16939" y="7468806"/>
            <a:ext cx="3169920" cy="399415"/>
          </a:xfrm>
          <a:prstGeom prst="rect">
            <a:avLst/>
          </a:prstGeom>
        </p:spPr>
        <p:txBody>
          <a:bodyPr wrap="square" lIns="0" tIns="3937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310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Создайте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учётную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запись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https://github.com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3"/>
              </a:rPr>
              <a:t>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Заполните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основные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данные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https://github.com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3"/>
              </a:rPr>
              <a:t>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688340" y="8115643"/>
            <a:ext cx="29908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Добавление</a:t>
            </a:r>
            <a:r>
              <a:rPr dirty="0" sz="1650" spc="-1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PGP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ключа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в</a:t>
            </a:r>
            <a:r>
              <a:rPr dirty="0" sz="1650" spc="-1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GitHub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916939" y="8447862"/>
            <a:ext cx="70485" cy="59626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565910" y="8440677"/>
            <a:ext cx="5375275" cy="116967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Выводим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список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ключей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копируем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отпечаток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приватного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ключа: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--list-secret-keys</a:t>
            </a:r>
            <a:r>
              <a:rPr dirty="0" sz="100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--keyid-format</a:t>
            </a:r>
            <a:r>
              <a:rPr dirty="0" sz="100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LONG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4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Отпечаток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ключа — это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последовательность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байтов,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используемая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для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идентификации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более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длинного,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сравнению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самим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отпечатком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ключа.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Формат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строки: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sec</a:t>
            </a:r>
            <a:r>
              <a:rPr dirty="0" sz="1000" spc="320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Алгоритм/Отпечаток_ключа</a:t>
            </a:r>
            <a:r>
              <a:rPr dirty="0" sz="100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Дата_создания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[Флаги]</a:t>
            </a:r>
            <a:r>
              <a:rPr dirty="0" sz="100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[Годен_до]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16939" y="9193331"/>
            <a:ext cx="70485" cy="417195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730657"/>
            <a:ext cx="70485" cy="76009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"/>
              </a:spcBef>
            </a:pP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•</a:t>
            </a:r>
            <a:endParaRPr sz="1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565902" y="738009"/>
            <a:ext cx="5389880" cy="937894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ID_ключа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Cкопируйте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ваш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сгенерированный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PGP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буфер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обмена: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--armor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--export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202528"/>
                </a:solidFill>
                <a:latin typeface="Arial"/>
                <a:cs typeface="Arial"/>
              </a:rPr>
              <a:t>&lt;PGP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Fingerprint&gt;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285">
                <a:solidFill>
                  <a:srgbClr val="202528"/>
                </a:solidFill>
                <a:latin typeface="Arial"/>
                <a:cs typeface="Arial"/>
              </a:rPr>
              <a:t>|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xclip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sel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clip</a:t>
            </a:r>
            <a:endParaRPr sz="1000">
              <a:latin typeface="Arial"/>
              <a:cs typeface="Arial"/>
            </a:endParaRPr>
          </a:p>
          <a:p>
            <a:pPr marL="12700" marR="5080">
              <a:lnSpc>
                <a:spcPts val="1450"/>
              </a:lnSpc>
              <a:spcBef>
                <a:spcPts val="45"/>
              </a:spcBef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Перейдите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настройки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GitHub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2"/>
              </a:rPr>
              <a:t>(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2"/>
              </a:rPr>
              <a:t>https://github.com/settings/keys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2"/>
              </a:rPr>
              <a:t>),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нажмите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кнопку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New</a:t>
            </a:r>
            <a:r>
              <a:rPr dirty="0" sz="1050" spc="1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 i="1">
                <a:solidFill>
                  <a:srgbClr val="202528"/>
                </a:solidFill>
                <a:latin typeface="Calibri"/>
                <a:cs typeface="Calibri"/>
              </a:rPr>
              <a:t>GPG </a:t>
            </a:r>
            <a:r>
              <a:rPr dirty="0" sz="1050" i="1">
                <a:solidFill>
                  <a:srgbClr val="202528"/>
                </a:solidFill>
                <a:latin typeface="Calibri"/>
                <a:cs typeface="Calibri"/>
              </a:rPr>
              <a:t>key</a:t>
            </a:r>
            <a:r>
              <a:rPr dirty="0" sz="1050" spc="-20" i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вставьте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полученный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ключ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ввода.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88340" y="1926006"/>
            <a:ext cx="4669155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Настройка</a:t>
            </a:r>
            <a:r>
              <a:rPr dirty="0" sz="1650" spc="-4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автоматических</a:t>
            </a:r>
            <a:r>
              <a:rPr dirty="0" sz="1650" spc="-3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подписей</a:t>
            </a:r>
            <a:r>
              <a:rPr dirty="0" sz="1650" spc="-4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коммитов</a:t>
            </a:r>
            <a:r>
              <a:rPr dirty="0" sz="1650" spc="-3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git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2251053"/>
            <a:ext cx="4740910" cy="800100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4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введёный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email,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укажите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применять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подписи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коммитов: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--global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user.signingkey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5">
                <a:solidFill>
                  <a:srgbClr val="202528"/>
                </a:solidFill>
                <a:latin typeface="Arial"/>
                <a:cs typeface="Arial"/>
              </a:rPr>
              <a:t>&lt;PGP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Fingerprint&gt;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75"/>
              </a:spcBef>
              <a:buChar char="•"/>
              <a:tabLst>
                <a:tab pos="240665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commit.gpgsign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5">
                <a:solidFill>
                  <a:srgbClr val="202528"/>
                </a:solidFill>
                <a:latin typeface="Arial"/>
                <a:cs typeface="Arial"/>
              </a:rPr>
              <a:t>true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280"/>
              </a:spcBef>
              <a:buChar char="•"/>
              <a:tabLst>
                <a:tab pos="240665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config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global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gpg.program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$(which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gpg2)</a:t>
            </a:r>
            <a:endParaRPr sz="10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688340" y="3112768"/>
            <a:ext cx="123825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Настройка</a:t>
            </a:r>
            <a:r>
              <a:rPr dirty="0" sz="1650" spc="-20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gh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916939" y="3437805"/>
            <a:ext cx="2983865" cy="79184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4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начала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необходимо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авторизоваться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334"/>
              </a:spcBef>
              <a:buChar char="•"/>
              <a:tabLst>
                <a:tab pos="240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gh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auth</a:t>
            </a:r>
            <a:r>
              <a:rPr dirty="0" sz="100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login</a:t>
            </a:r>
            <a:endParaRPr sz="10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15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Утилита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задаст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несколько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наводящих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вопросов.</a:t>
            </a:r>
            <a:endParaRPr sz="105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15"/>
              </a:spcBef>
              <a:buSzPct val="95238"/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Авторизоваться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через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броузер.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688340" y="4476545"/>
            <a:ext cx="3290570" cy="27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Шаблон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для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b="1">
                <a:solidFill>
                  <a:srgbClr val="282C3D"/>
                </a:solidFill>
                <a:latin typeface="Calibri"/>
                <a:cs typeface="Calibri"/>
              </a:rPr>
              <a:t>рабочего</a:t>
            </a:r>
            <a:r>
              <a:rPr dirty="0" sz="1650" spc="-25" b="1">
                <a:solidFill>
                  <a:srgbClr val="282C3D"/>
                </a:solidFill>
                <a:latin typeface="Calibri"/>
                <a:cs typeface="Calibri"/>
              </a:rPr>
              <a:t> </a:t>
            </a:r>
            <a:r>
              <a:rPr dirty="0" sz="1650" spc="-10" b="1">
                <a:solidFill>
                  <a:srgbClr val="282C3D"/>
                </a:solidFill>
                <a:latin typeface="Calibri"/>
                <a:cs typeface="Calibri"/>
              </a:rPr>
              <a:t>пространства</a:t>
            </a:r>
            <a:endParaRPr sz="1650">
              <a:latin typeface="Calibri"/>
              <a:cs typeface="Calibri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688340" y="4842192"/>
            <a:ext cx="6386830" cy="476821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330"/>
              </a:spcBef>
              <a:buClr>
                <a:srgbClr val="202528"/>
              </a:buClr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Рабочее</a:t>
            </a:r>
            <a:r>
              <a:rPr dirty="0" u="sng" sz="1050" spc="-3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пространство</a:t>
            </a:r>
            <a:r>
              <a:rPr dirty="0" u="sng" sz="1050" spc="-2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для</a:t>
            </a:r>
            <a:r>
              <a:rPr dirty="0" u="sng" sz="1050" spc="-2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лабораторной</a:t>
            </a:r>
            <a:r>
              <a:rPr dirty="0" u="sng" sz="1050" spc="-3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работы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3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Репозиторий:</a:t>
            </a:r>
            <a:r>
              <a:rPr dirty="0" sz="1050" spc="2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4"/>
              </a:rPr>
              <a:t>https://github.com/yamadharma/course-direct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4"/>
              </a:rPr>
              <a:t>ory-st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4"/>
              </a:rPr>
              <a:t>udent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4"/>
              </a:rPr>
              <a:t>-t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4"/>
              </a:rPr>
              <a:t>emplate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4"/>
              </a:rPr>
              <a:t>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9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Сознание</a:t>
            </a:r>
            <a:r>
              <a:rPr dirty="0" sz="120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репозитория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курса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20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основе</a:t>
            </a:r>
            <a:r>
              <a:rPr dirty="0" sz="120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шаблона</a:t>
            </a:r>
            <a:endParaRPr sz="1200">
              <a:latin typeface="Calibri"/>
              <a:cs typeface="Calibri"/>
            </a:endParaRPr>
          </a:p>
          <a:p>
            <a:pPr marL="469265" marR="282575" indent="-228600">
              <a:lnSpc>
                <a:spcPct val="114900"/>
              </a:lnSpc>
              <a:spcBef>
                <a:spcPts val="129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Необходимо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создать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шаблон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рабочего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пространства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(см.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Рабочее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 пространство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дл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я</a:t>
            </a:r>
            <a:r>
              <a:rPr dirty="0" u="sng" sz="1050" spc="-15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лабораторной</a:t>
            </a:r>
            <a:r>
              <a:rPr dirty="0" sz="1050" spc="-10">
                <a:solidFill>
                  <a:srgbClr val="0079C0"/>
                </a:solidFill>
                <a:latin typeface="Calibri"/>
                <a:cs typeface="Calibri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Calibri"/>
                <a:cs typeface="Calibri"/>
                <a:hlinkClick r:id="rId3"/>
              </a:rPr>
              <a:t>работы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  <a:hlinkClick r:id="rId3"/>
              </a:rPr>
              <a:t>).</a:t>
            </a:r>
            <a:endParaRPr sz="1050">
              <a:latin typeface="Calibri"/>
              <a:cs typeface="Calibri"/>
            </a:endParaRPr>
          </a:p>
          <a:p>
            <a:pPr marL="469900" marR="5080" indent="-228600">
              <a:lnSpc>
                <a:spcPct val="114900"/>
              </a:lnSpc>
              <a:spcBef>
                <a:spcPts val="20"/>
              </a:spcBef>
              <a:buSzPct val="95238"/>
              <a:buFont typeface="Arial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Например,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2022–2023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учебного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года и предмета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«Операционные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системы»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(код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предмета</a:t>
            </a:r>
            <a:r>
              <a:rPr dirty="0" sz="1050" spc="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os-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intro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) создание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примет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следующий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вид: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mkdir</a:t>
            </a:r>
            <a:r>
              <a:rPr dirty="0" sz="1000" spc="140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-p</a:t>
            </a:r>
            <a:r>
              <a:rPr dirty="0" sz="1000" spc="145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~/work/study/2022-2023/"Операционные</a:t>
            </a:r>
            <a:r>
              <a:rPr dirty="0" sz="1000" spc="145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системы"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275"/>
              </a:spcBef>
              <a:buChar char="•"/>
              <a:tabLst>
                <a:tab pos="469265" algn="l"/>
              </a:tabLst>
            </a:pP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cd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~/work/study/2022-2023/"Операционные</a:t>
            </a:r>
            <a:r>
              <a:rPr dirty="0" sz="100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системы"</a:t>
            </a:r>
            <a:endParaRPr sz="1000">
              <a:latin typeface="Arial"/>
              <a:cs typeface="Arial"/>
            </a:endParaRPr>
          </a:p>
          <a:p>
            <a:pPr marL="469900" marR="474980" indent="-228600">
              <a:lnSpc>
                <a:spcPct val="117700"/>
              </a:lnSpc>
              <a:spcBef>
                <a:spcPts val="75"/>
              </a:spcBef>
              <a:buChar char="•"/>
              <a:tabLst>
                <a:tab pos="469900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gh</a:t>
            </a:r>
            <a:r>
              <a:rPr dirty="0" sz="1000" spc="3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repo</a:t>
            </a:r>
            <a:r>
              <a:rPr dirty="0" sz="1000" spc="3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create</a:t>
            </a:r>
            <a:r>
              <a:rPr dirty="0" sz="1000" spc="3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study_2022-2023_os-intro</a:t>
            </a:r>
            <a:r>
              <a:rPr dirty="0" sz="1000" spc="3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--template=yamadharma/course-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directorystudent- </a:t>
            </a:r>
            <a:r>
              <a:rPr dirty="0" sz="1000" spc="20">
                <a:solidFill>
                  <a:srgbClr val="202528"/>
                </a:solidFill>
                <a:latin typeface="Arial"/>
                <a:cs typeface="Arial"/>
              </a:rPr>
              <a:t>template</a:t>
            </a:r>
            <a:r>
              <a:rPr dirty="0" sz="1000" spc="1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public</a:t>
            </a:r>
            <a:endParaRPr sz="1000">
              <a:latin typeface="Arial"/>
              <a:cs typeface="Arial"/>
            </a:endParaRPr>
          </a:p>
          <a:p>
            <a:pPr marL="469265" marR="285750" indent="-228600">
              <a:lnSpc>
                <a:spcPct val="105500"/>
              </a:lnSpc>
              <a:spcBef>
                <a:spcPts val="20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3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clone</a:t>
            </a:r>
            <a:r>
              <a:rPr dirty="0" sz="1000" spc="3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--recursive</a:t>
            </a:r>
            <a:r>
              <a:rPr dirty="0" sz="1000" spc="3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  <a:hlinkClick r:id="rId5"/>
              </a:rPr>
              <a:t>git@github.com:&lt;owner&gt;/study_2022-2023_os-intro.git</a:t>
            </a:r>
            <a:r>
              <a:rPr dirty="0" sz="1000" spc="3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os-intro</a:t>
            </a:r>
            <a:r>
              <a:rPr dirty="0" sz="1000" spc="3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202528"/>
                </a:solidFill>
                <a:latin typeface="Calibri"/>
                <a:cs typeface="Calibri"/>
              </a:rPr>
              <a:t>Настройка </a:t>
            </a:r>
            <a:r>
              <a:rPr dirty="0" sz="1200">
                <a:solidFill>
                  <a:srgbClr val="202528"/>
                </a:solidFill>
                <a:latin typeface="Calibri"/>
                <a:cs typeface="Calibri"/>
              </a:rPr>
              <a:t>каталога</a:t>
            </a:r>
            <a:r>
              <a:rPr dirty="0" sz="1200" spc="-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200" spc="-20">
                <a:solidFill>
                  <a:srgbClr val="202528"/>
                </a:solidFill>
                <a:latin typeface="Calibri"/>
                <a:cs typeface="Calibri"/>
              </a:rPr>
              <a:t>курса</a:t>
            </a:r>
            <a:endParaRPr sz="120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26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Перейдите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каталог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курса: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469265" algn="l"/>
              </a:tabLst>
            </a:pP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cd</a:t>
            </a:r>
            <a:r>
              <a:rPr dirty="0" sz="1000" spc="1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~/work/study/2022-2023/"Операционные</a:t>
            </a:r>
            <a:r>
              <a:rPr dirty="0" sz="1000" spc="1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системы"/os-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intro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Удалите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лишние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файлы: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469265" algn="l"/>
              </a:tabLst>
            </a:pP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rm</a:t>
            </a:r>
            <a:r>
              <a:rPr dirty="0" sz="1000" spc="-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package.json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0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Создайте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необходимые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каталоги: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echo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os-intro</a:t>
            </a:r>
            <a:r>
              <a:rPr dirty="0" sz="100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&gt;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COURSE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280"/>
              </a:spcBef>
              <a:buChar char="•"/>
              <a:tabLst>
                <a:tab pos="469265" algn="l"/>
              </a:tabLst>
            </a:pP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make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0"/>
              </a:spcBef>
              <a:buSzPct val="95238"/>
              <a:buFont typeface="Arial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Отправьте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файлы на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сервер:</a:t>
            </a:r>
            <a:endParaRPr sz="105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3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add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28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commit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-am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'feat(main):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make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course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structure'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push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Контрольные</a:t>
            </a:r>
            <a:r>
              <a:rPr dirty="0" spc="-100"/>
              <a:t> </a:t>
            </a:r>
            <a:r>
              <a:rPr dirty="0" spc="-10"/>
              <a:t>вопросы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1195885"/>
            <a:ext cx="5721350" cy="18942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492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такое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системы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контроля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версий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(VCS)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решения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каких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задач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они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предназначаются?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Clr>
                <a:srgbClr val="202528"/>
              </a:buClr>
              <a:buFont typeface="Calibri"/>
              <a:buAutoNum type="arabicPeriod"/>
            </a:pPr>
            <a:endParaRPr sz="1050">
              <a:latin typeface="Calibri"/>
              <a:cs typeface="Calibri"/>
            </a:endParaRPr>
          </a:p>
          <a:p>
            <a:pPr lvl="1" marL="240665" marR="5080" indent="-228600">
              <a:lnSpc>
                <a:spcPct val="144000"/>
              </a:lnSpc>
              <a:buFont typeface="Arial"/>
              <a:buChar char="•"/>
              <a:tabLst>
                <a:tab pos="2501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Система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контроля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версий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(VCS)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управления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изменениями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коде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документах. 	Задачи: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1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Сохранение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истории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(кто,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когда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изменил).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Возможность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отката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любой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предыдущей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версии.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7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Совместная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нескольких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человек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над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одним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проектом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без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риска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затереть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чужой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код.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149225" algn="l"/>
              </a:tabLst>
            </a:pPr>
            <a:r>
              <a:rPr dirty="0" spc="-10"/>
              <a:t>Объясните</a:t>
            </a:r>
            <a:r>
              <a:rPr dirty="0" spc="-20"/>
              <a:t> </a:t>
            </a:r>
            <a:r>
              <a:rPr dirty="0" spc="-10"/>
              <a:t>следующие</a:t>
            </a:r>
            <a:r>
              <a:rPr dirty="0" spc="-20"/>
              <a:t> </a:t>
            </a:r>
            <a:r>
              <a:rPr dirty="0" spc="-10"/>
              <a:t>понятия</a:t>
            </a:r>
            <a:r>
              <a:rPr dirty="0" spc="-20"/>
              <a:t> </a:t>
            </a:r>
            <a:r>
              <a:rPr dirty="0"/>
              <a:t>VCS</a:t>
            </a:r>
            <a:r>
              <a:rPr dirty="0" spc="-20"/>
              <a:t> </a:t>
            </a:r>
            <a:r>
              <a:rPr dirty="0"/>
              <a:t>и</a:t>
            </a:r>
            <a:r>
              <a:rPr dirty="0" spc="-20"/>
              <a:t> </a:t>
            </a:r>
            <a:r>
              <a:rPr dirty="0"/>
              <a:t>их</a:t>
            </a:r>
            <a:r>
              <a:rPr dirty="0" spc="-20"/>
              <a:t> </a:t>
            </a:r>
            <a:r>
              <a:rPr dirty="0"/>
              <a:t>отношения:</a:t>
            </a:r>
            <a:r>
              <a:rPr dirty="0" spc="-15"/>
              <a:t> </a:t>
            </a:r>
            <a:r>
              <a:rPr dirty="0"/>
              <a:t>хранилище,</a:t>
            </a:r>
            <a:r>
              <a:rPr dirty="0" spc="-20"/>
              <a:t> </a:t>
            </a:r>
            <a:r>
              <a:rPr dirty="0"/>
              <a:t>commit,</a:t>
            </a:r>
            <a:r>
              <a:rPr dirty="0" spc="-20"/>
              <a:t> </a:t>
            </a:r>
            <a:r>
              <a:rPr dirty="0"/>
              <a:t>история,</a:t>
            </a:r>
            <a:r>
              <a:rPr dirty="0" spc="-20"/>
              <a:t> </a:t>
            </a:r>
            <a:r>
              <a:rPr dirty="0"/>
              <a:t>рабочая</a:t>
            </a:r>
            <a:r>
              <a:rPr dirty="0" spc="-20"/>
              <a:t> </a:t>
            </a:r>
            <a:r>
              <a:rPr dirty="0" spc="-10"/>
              <a:t>копия.</a:t>
            </a:r>
          </a:p>
          <a:p>
            <a:pPr>
              <a:lnSpc>
                <a:spcPct val="100000"/>
              </a:lnSpc>
              <a:spcBef>
                <a:spcPts val="795"/>
              </a:spcBef>
              <a:buClr>
                <a:srgbClr val="202528"/>
              </a:buClr>
              <a:buFont typeface="Calibri"/>
              <a:buAutoNum type="arabicPeriod" startAt="2"/>
            </a:p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Хранилище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(Репозиторий):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база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данных,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где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VCS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хранит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всю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историю изменений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метаданные.</a:t>
            </a:r>
            <a:endParaRPr sz="1050">
              <a:latin typeface="Calibri"/>
              <a:cs typeface="Calibri"/>
            </a:endParaRPr>
          </a:p>
          <a:p>
            <a:pPr lvl="1" marL="241300" marR="666750" indent="-228600">
              <a:lnSpc>
                <a:spcPct val="1433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Рабочая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копия: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текущее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состояние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проекта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диске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пользователя,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которыми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он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непосредственно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работает.</a:t>
            </a:r>
            <a:endParaRPr sz="1050">
              <a:latin typeface="Calibri"/>
              <a:cs typeface="Calibri"/>
            </a:endParaRPr>
          </a:p>
          <a:p>
            <a:pPr lvl="1" marL="241300" marR="5080" indent="-228600">
              <a:lnSpc>
                <a:spcPct val="143300"/>
              </a:lnSpc>
              <a:spcBef>
                <a:spcPts val="1020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Commit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(Коммит):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фиксация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изменений.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Снимок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состояния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определенный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момент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времени</a:t>
            </a:r>
            <a:r>
              <a:rPr dirty="0" sz="1050" spc="50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уникальным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ID.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95"/>
              </a:spcBef>
              <a:buClr>
                <a:srgbClr val="202528"/>
              </a:buClr>
              <a:buFont typeface="Arial"/>
              <a:buChar char="•"/>
            </a:p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История: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цепочка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позволяющая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проследить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развитие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проекта.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</a:p>
          <a:p>
            <a:pPr>
              <a:lnSpc>
                <a:spcPct val="100000"/>
              </a:lnSpc>
              <a:spcBef>
                <a:spcPts val="75"/>
              </a:spcBef>
            </a:pPr>
          </a:p>
          <a:p>
            <a:pPr marL="149225" marR="40640" indent="-136525">
              <a:lnSpc>
                <a:spcPct val="114900"/>
              </a:lnSpc>
              <a:buAutoNum type="arabicPeriod" startAt="3"/>
              <a:tabLst>
                <a:tab pos="241300" algn="l"/>
              </a:tabLst>
            </a:pPr>
            <a:r>
              <a:rPr dirty="0"/>
              <a:t>Что</a:t>
            </a:r>
            <a:r>
              <a:rPr dirty="0" spc="-5"/>
              <a:t> </a:t>
            </a:r>
            <a:r>
              <a:rPr dirty="0" spc="-10"/>
              <a:t>представляют</a:t>
            </a:r>
            <a:r>
              <a:rPr dirty="0"/>
              <a:t> собой</a:t>
            </a:r>
            <a:r>
              <a:rPr dirty="0" spc="-5"/>
              <a:t> </a:t>
            </a:r>
            <a:r>
              <a:rPr dirty="0"/>
              <a:t>и чем</a:t>
            </a:r>
            <a:r>
              <a:rPr dirty="0" spc="-5"/>
              <a:t> </a:t>
            </a:r>
            <a:r>
              <a:rPr dirty="0" spc="-10"/>
              <a:t>отличаются</a:t>
            </a:r>
            <a:r>
              <a:rPr dirty="0"/>
              <a:t> </a:t>
            </a:r>
            <a:r>
              <a:rPr dirty="0" spc="-10"/>
              <a:t>централизованные</a:t>
            </a:r>
            <a:r>
              <a:rPr dirty="0"/>
              <a:t> и</a:t>
            </a:r>
            <a:r>
              <a:rPr dirty="0" spc="-5"/>
              <a:t> </a:t>
            </a:r>
            <a:r>
              <a:rPr dirty="0" spc="-10"/>
              <a:t>децентрализованные</a:t>
            </a:r>
            <a:r>
              <a:rPr dirty="0"/>
              <a:t> VCS?</a:t>
            </a:r>
            <a:r>
              <a:rPr dirty="0" spc="-5"/>
              <a:t> </a:t>
            </a:r>
            <a:r>
              <a:rPr dirty="0" spc="-10"/>
              <a:t>Приведите </a:t>
            </a:r>
            <a:r>
              <a:rPr dirty="0" spc="-10"/>
              <a:t>	</a:t>
            </a:r>
            <a:r>
              <a:rPr dirty="0"/>
              <a:t>примеры</a:t>
            </a:r>
            <a:r>
              <a:rPr dirty="0" spc="-35"/>
              <a:t> </a:t>
            </a:r>
            <a:r>
              <a:rPr dirty="0"/>
              <a:t>VCS</a:t>
            </a:r>
            <a:r>
              <a:rPr dirty="0" spc="-30"/>
              <a:t> </a:t>
            </a:r>
            <a:r>
              <a:rPr dirty="0"/>
              <a:t>каждого</a:t>
            </a:r>
            <a:r>
              <a:rPr dirty="0" spc="-30"/>
              <a:t> </a:t>
            </a:r>
            <a:r>
              <a:rPr dirty="0" spc="-10"/>
              <a:t>вида.</a:t>
            </a:r>
          </a:p>
          <a:p>
            <a:pPr>
              <a:lnSpc>
                <a:spcPct val="100000"/>
              </a:lnSpc>
              <a:spcBef>
                <a:spcPts val="260"/>
              </a:spcBef>
              <a:buClr>
                <a:srgbClr val="202528"/>
              </a:buClr>
              <a:buFont typeface="Calibri"/>
              <a:buAutoNum type="arabicPeriod" startAt="3"/>
            </a:pPr>
          </a:p>
          <a:p>
            <a:pPr lvl="1" marL="241300" marR="433070" indent="-228600">
              <a:lnSpc>
                <a:spcPct val="1424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Центлизованные: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есть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один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сервер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репозиторием.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Пользователи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скачивают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только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рабочую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копию.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Если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сервер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недоступен,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история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недоступна.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Subversion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(SVN).</a:t>
            </a:r>
            <a:endParaRPr sz="1050">
              <a:latin typeface="Calibri"/>
              <a:cs typeface="Calibri"/>
            </a:endParaRPr>
          </a:p>
          <a:p>
            <a:pPr lvl="1" marL="241300" marR="111125" indent="-228600">
              <a:lnSpc>
                <a:spcPct val="14330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Децентрализованные: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каждый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пользователь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имеет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полную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копию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всего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репозитория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(включая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всю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историю).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возможна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без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интернета.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Mercurial.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8276365"/>
            <a:ext cx="390144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4922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Опишите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действия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VCS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единоличной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хранилищем.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202528"/>
              </a:buClr>
              <a:buFont typeface="Calibri"/>
              <a:buAutoNum type="arabicPeriod" startAt="4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Инициализация</a:t>
            </a:r>
            <a:r>
              <a:rPr dirty="0" sz="1050" spc="7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репозитория.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Внесение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в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файлы.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Индексация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 (подготовка к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сохранению).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1119886"/>
            <a:ext cx="4743450" cy="1651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 startAt="5"/>
              <a:tabLst>
                <a:tab pos="14922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Опишите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порядок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общим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хранилищем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VCS.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202528"/>
              </a:buClr>
              <a:buFont typeface="Calibri"/>
              <a:buAutoNum type="arabicPeriod" startAt="5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Клонирование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(или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обновление)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актуальной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версии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общего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хранилища.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Внесение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локальных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правок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создание коммитов.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Слияние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(Pull/Fetch)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чужих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если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они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появились,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пока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работали.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Отправка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(Push)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своих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коммитов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общее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хранилище.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3306775"/>
            <a:ext cx="4259580" cy="1306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 startAt="6"/>
              <a:tabLst>
                <a:tab pos="1492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Каковы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основные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задачи,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решаемые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инструментальным средством</a:t>
            </a:r>
            <a:r>
              <a:rPr dirty="0" sz="1050" spc="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Clr>
                <a:srgbClr val="202528"/>
              </a:buClr>
              <a:buFont typeface="Calibri"/>
              <a:buAutoNum type="arabicPeriod" startAt="6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Обеспечение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целостности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данных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(через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хеширование).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Высокая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скорость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локальными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операциями.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Поддержка</a:t>
            </a:r>
            <a:r>
              <a:rPr dirty="0" sz="1050" spc="-4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нелинейной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разработки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(тысячи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параллельных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веток).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16939" y="5149851"/>
            <a:ext cx="4566920" cy="2533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 startAt="7"/>
              <a:tabLst>
                <a:tab pos="1492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Назовите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дайте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краткую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характеристику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командам</a:t>
            </a:r>
            <a:r>
              <a:rPr dirty="0" sz="1050" spc="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9"/>
              </a:spcBef>
              <a:buClr>
                <a:srgbClr val="202528"/>
              </a:buClr>
              <a:buFont typeface="Calibri"/>
              <a:buAutoNum type="arabicPeriod" startAt="7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init: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создание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нового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репозитория.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4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clone: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копирование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удаленного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репозитория.</a:t>
            </a: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spcBef>
                <a:spcPts val="210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add: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добавление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файлов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индекс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(stage).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 commit: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фиксация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проиндексированных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изменений.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status: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просмотр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состояния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рабочей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копии.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push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/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pull: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отправка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/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получение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данных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удаленного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репозитория.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8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log: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просмотр истории.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16939" y="8217740"/>
            <a:ext cx="5400040" cy="9563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 startAt="8"/>
              <a:tabLst>
                <a:tab pos="1492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Приведите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примеры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использования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локальным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удалённым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репозиториями.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  <a:buClr>
                <a:srgbClr val="202528"/>
              </a:buClr>
              <a:buFont typeface="Calibri"/>
              <a:buAutoNum type="arabicPeriod" startAt="8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Локально: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add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main.py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&gt;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commit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-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"Fix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bug"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(сохранили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правку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себя).</a:t>
            </a:r>
            <a:endParaRPr sz="105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7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Удалённо: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push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origin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master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(отправили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локальный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код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сервер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GitHub/GitLab).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916939" y="742925"/>
            <a:ext cx="6026785" cy="1295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9225" indent="-136525">
              <a:lnSpc>
                <a:spcPct val="100000"/>
              </a:lnSpc>
              <a:spcBef>
                <a:spcPts val="100"/>
              </a:spcBef>
              <a:buAutoNum type="arabicPeriod" startAt="9"/>
              <a:tabLst>
                <a:tab pos="14922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такое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зачем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могут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быть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нужны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ветви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(branches)?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65"/>
              </a:spcBef>
              <a:buClr>
                <a:srgbClr val="202528"/>
              </a:buClr>
              <a:buFont typeface="Calibri"/>
              <a:buAutoNum type="arabicPeriod" startAt="9"/>
            </a:pPr>
            <a:endParaRPr sz="1050">
              <a:latin typeface="Calibri"/>
              <a:cs typeface="Calibri"/>
            </a:endParaRPr>
          </a:p>
          <a:p>
            <a:pPr lvl="1" marL="240665" marR="5080" indent="-228600">
              <a:lnSpc>
                <a:spcPct val="142700"/>
              </a:lnSpc>
              <a:buFont typeface="Arial"/>
              <a:buChar char="•"/>
              <a:tabLst>
                <a:tab pos="25019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Ветви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указатели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определенный коммит,</a:t>
            </a:r>
            <a:r>
              <a:rPr dirty="0" sz="1050" spc="-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позволяющие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вести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разработку параллельно.</a:t>
            </a:r>
            <a:r>
              <a:rPr dirty="0" sz="1050" spc="50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500">
                <a:solidFill>
                  <a:srgbClr val="202528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Зачем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нужны: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изоляции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над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новой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функцией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исправления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бага,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чтобы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основной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код 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	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(master/main)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всегда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оставался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рабочим.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После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завершения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задачи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ветку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«вливают»</a:t>
            </a:r>
            <a:r>
              <a:rPr dirty="0" sz="1050" spc="-3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(merge)</a:t>
            </a:r>
            <a:r>
              <a:rPr dirty="0" sz="1050" spc="-3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	основную.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16939" y="2589742"/>
            <a:ext cx="6007735" cy="15233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100"/>
              </a:spcBef>
              <a:buAutoNum type="arabicPeriod" startAt="10"/>
              <a:tabLst>
                <a:tab pos="21653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Как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зачем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можно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игнорировать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некоторые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commit?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Clr>
                <a:srgbClr val="202528"/>
              </a:buClr>
              <a:buFont typeface="Calibri"/>
              <a:buAutoNum type="arabicPeriod" startAt="10"/>
            </a:pPr>
            <a:endParaRPr sz="1050">
              <a:latin typeface="Calibri"/>
              <a:cs typeface="Calibri"/>
            </a:endParaRPr>
          </a:p>
          <a:p>
            <a:pPr lvl="1" marL="240665" indent="-227965">
              <a:lnSpc>
                <a:spcPct val="100000"/>
              </a:lnSpc>
              <a:buFont typeface="Arial"/>
              <a:buChar char="•"/>
              <a:tabLst>
                <a:tab pos="240665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этого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используется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.gitignore.</a:t>
            </a:r>
            <a:endParaRPr sz="1050">
              <a:latin typeface="Calibri"/>
              <a:cs typeface="Calibri"/>
            </a:endParaRPr>
          </a:p>
          <a:p>
            <a:pPr marL="257175" marR="5080" indent="-6350">
              <a:lnSpc>
                <a:spcPts val="1789"/>
              </a:lnSpc>
              <a:spcBef>
                <a:spcPts val="40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Зачем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нужно: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чтобы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историю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попадал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«мусор»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—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 временные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файлы,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кеши,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скомпилированные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бинарники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или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конфиги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с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секретными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паролями,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которые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должны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быть</a:t>
            </a:r>
            <a:r>
              <a:rPr dirty="0" sz="1050" spc="-2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публичными.</a:t>
            </a:r>
            <a:endParaRPr sz="1050">
              <a:latin typeface="Calibri"/>
              <a:cs typeface="Calibri"/>
            </a:endParaRPr>
          </a:p>
          <a:p>
            <a:pPr lvl="1" marL="241300" marR="483870" indent="-228600">
              <a:lnSpc>
                <a:spcPct val="142000"/>
              </a:lnSpc>
              <a:buFont typeface="Arial"/>
              <a:buChar char="•"/>
              <a:tabLst>
                <a:tab pos="241300" algn="l"/>
              </a:tabLst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Нужно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ли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подготовить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вас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пример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содержимого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файла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.gitignore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для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конкретного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языка программирования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(например,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Python или</a:t>
            </a:r>
            <a:r>
              <a:rPr dirty="0" sz="1050" spc="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C++)?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694690" y="4740977"/>
            <a:ext cx="5692140" cy="63373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dirty="0" sz="2400" spc="-10">
                <a:solidFill>
                  <a:srgbClr val="202528"/>
                </a:solidFill>
                <a:latin typeface="Arial"/>
                <a:cs typeface="Arial"/>
              </a:rPr>
              <a:t>Вывод</a:t>
            </a:r>
            <a:endParaRPr sz="2400">
              <a:latin typeface="Arial"/>
              <a:cs typeface="Arial"/>
            </a:endParaRPr>
          </a:p>
          <a:p>
            <a:pPr marL="54610">
              <a:lnSpc>
                <a:spcPct val="100000"/>
              </a:lnSpc>
              <a:spcBef>
                <a:spcPts val="195"/>
              </a:spcBef>
            </a:pP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В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ходе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я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изучил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принципы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работы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02528"/>
                </a:solidFill>
                <a:latin typeface="Calibri"/>
                <a:cs typeface="Calibri"/>
              </a:rPr>
              <a:t>систем</a:t>
            </a:r>
            <a:r>
              <a:rPr dirty="0" sz="1050" spc="-20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02528"/>
                </a:solidFill>
                <a:latin typeface="Calibri"/>
                <a:cs typeface="Calibri"/>
              </a:rPr>
              <a:t>контроля</a:t>
            </a:r>
            <a:r>
              <a:rPr dirty="0" sz="1050" spc="-15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202528"/>
                </a:solidFill>
                <a:latin typeface="Calibri"/>
                <a:cs typeface="Calibri"/>
              </a:rPr>
              <a:t>версий</a:t>
            </a:r>
            <a:r>
              <a:rPr dirty="0" sz="1050" spc="-15" b="1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и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освоил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Calibri"/>
                <a:cs typeface="Calibri"/>
              </a:rPr>
              <a:t>базовые</a:t>
            </a:r>
            <a:r>
              <a:rPr dirty="0" sz="1050" spc="-20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202528"/>
                </a:solidFill>
                <a:latin typeface="Calibri"/>
                <a:cs typeface="Calibri"/>
              </a:rPr>
              <a:t>команды</a:t>
            </a:r>
            <a:r>
              <a:rPr dirty="0" sz="1050" spc="-15">
                <a:solidFill>
                  <a:srgbClr val="202528"/>
                </a:solidFill>
                <a:latin typeface="Calibri"/>
                <a:cs typeface="Calibri"/>
              </a:rPr>
              <a:t> </a:t>
            </a:r>
            <a:r>
              <a:rPr dirty="0" sz="1050" spc="-25" b="1">
                <a:solidFill>
                  <a:srgbClr val="202528"/>
                </a:solidFill>
                <a:latin typeface="Calibri"/>
                <a:cs typeface="Calibri"/>
              </a:rPr>
              <a:t>Git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2026-03-07T18:42:06Z</dcterms:created>
  <dcterms:modified xsi:type="dcterms:W3CDTF">2026-03-07T18:42:06Z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2026-03-07T00:00:00Z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2026-03-07T00:00:00Z</vt:filetime>
  </property>
  <property fmtid="{D5CDD505-2E9C-101B-9397-08002B2CF9AE}" pid="5" name="Producer">
    <vt:lpwstr>3-Heights(TM) PDF Security Shell 4.8.25.2 (http://www.pdf-tools.com)</vt:lpwstr>
  </property>
</Properties>
</file>
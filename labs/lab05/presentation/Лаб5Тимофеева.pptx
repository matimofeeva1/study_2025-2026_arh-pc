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024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2024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024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2024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024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024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7483" y="615718"/>
            <a:ext cx="1555114" cy="722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024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7483" y="2911666"/>
            <a:ext cx="5746115" cy="4396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20242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mailto:git@github.com" TargetMode="External"/><Relationship Id="rId4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hyperlink" Target="https://github.com/browserpass/browserpass-extension" TargetMode="External"/><Relationship Id="rId5" Type="http://schemas.openxmlformats.org/officeDocument/2006/relationships/hyperlink" Target="https://addons.mozilla.org/en-US/firefox/addon/browserpass-ce/" TargetMode="External"/><Relationship Id="rId6" Type="http://schemas.openxmlformats.org/officeDocument/2006/relationships/hyperlink" Target="https://chrome.google.com/webstore/detail/browserpass-ce/naepdomgkenhinolocfifgehidddafch" TargetMode="External"/><Relationship Id="rId7" Type="http://schemas.openxmlformats.org/officeDocument/2006/relationships/hyperlink" Target="https://github.com/browserpass/browserpass-native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hyperlink" Target="mailto:git@github.com" TargetMode="Externa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hyperlink" Target="mailto:git@github.com" TargetMode="Externa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03172" y="646312"/>
            <a:ext cx="5063490" cy="91503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600" spc="-10" b="1">
                <a:latin typeface="Times New Roman"/>
                <a:cs typeface="Times New Roman"/>
              </a:rPr>
              <a:t>РОССИЙСКИЙУНИВЕРСИТЕТДРУЖБЫНАРОДОВ</a:t>
            </a:r>
            <a:endParaRPr sz="1600">
              <a:latin typeface="Times New Roman"/>
              <a:cs typeface="Times New Roman"/>
            </a:endParaRPr>
          </a:p>
          <a:p>
            <a:pPr marL="454025" marR="178435" indent="77470">
              <a:lnSpc>
                <a:spcPts val="2260"/>
              </a:lnSpc>
            </a:pPr>
            <a:r>
              <a:rPr dirty="0" sz="1300" b="1">
                <a:latin typeface="Times New Roman"/>
                <a:cs typeface="Times New Roman"/>
              </a:rPr>
              <a:t>Факультет</a:t>
            </a:r>
            <a:r>
              <a:rPr dirty="0" sz="1300" spc="-20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физико-математических</a:t>
            </a:r>
            <a:r>
              <a:rPr dirty="0" sz="1300" spc="-2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и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естественных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20" b="1">
                <a:latin typeface="Times New Roman"/>
                <a:cs typeface="Times New Roman"/>
              </a:rPr>
              <a:t>наук </a:t>
            </a:r>
            <a:r>
              <a:rPr dirty="0" sz="1300" b="1">
                <a:latin typeface="Times New Roman"/>
                <a:cs typeface="Times New Roman"/>
              </a:rPr>
              <a:t>Кафедра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прикладной</a:t>
            </a:r>
            <a:r>
              <a:rPr dirty="0" sz="1300" spc="-40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информатики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и</a:t>
            </a:r>
            <a:r>
              <a:rPr dirty="0" sz="1300" spc="-4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теории</a:t>
            </a:r>
            <a:r>
              <a:rPr dirty="0" sz="1300" spc="-30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вероятностей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05685" y="2862350"/>
            <a:ext cx="3834129" cy="1240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0185" marR="408305" indent="1348740">
              <a:lnSpc>
                <a:spcPct val="142700"/>
              </a:lnSpc>
              <a:spcBef>
                <a:spcPts val="100"/>
              </a:spcBef>
            </a:pPr>
            <a:r>
              <a:rPr dirty="0" sz="1600" spc="-20" b="1">
                <a:latin typeface="Times New Roman"/>
                <a:cs typeface="Times New Roman"/>
              </a:rPr>
              <a:t>ОТЧЕТ </a:t>
            </a:r>
            <a:r>
              <a:rPr dirty="0" sz="1600" spc="-10" b="1">
                <a:latin typeface="Times New Roman"/>
                <a:cs typeface="Times New Roman"/>
              </a:rPr>
              <a:t>ПОЛАБОРАТОРНОЙРАБОТЕ№5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477010" algn="l"/>
              </a:tabLst>
            </a:pP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dirty="0" u="sng" sz="16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Архитектура</a:t>
            </a:r>
            <a:r>
              <a:rPr dirty="0" u="sng" sz="1600" spc="-9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компьютера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72966" y="6635876"/>
            <a:ext cx="3188970" cy="728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dirty="0" u="sng" sz="130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Тимофеева</a:t>
            </a:r>
            <a:r>
              <a:rPr dirty="0" u="sng" sz="130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Милана</a:t>
            </a:r>
            <a:r>
              <a:rPr dirty="0" u="sng" sz="1300" spc="-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Александровна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300">
              <a:latin typeface="Times New Roman"/>
              <a:cs typeface="Times New Roman"/>
            </a:endParaRPr>
          </a:p>
          <a:p>
            <a:pPr algn="r" marR="6350">
              <a:lnSpc>
                <a:spcPct val="100000"/>
              </a:lnSpc>
            </a:pP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dirty="0" u="sng" sz="13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НБИбд-02-</a:t>
            </a:r>
            <a:r>
              <a:rPr dirty="0" u="sng" sz="13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391027" y="9170009"/>
            <a:ext cx="776605" cy="619760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80"/>
              </a:spcBef>
            </a:pPr>
            <a:r>
              <a:rPr dirty="0" sz="1300" spc="-10" b="1">
                <a:latin typeface="Times New Roman"/>
                <a:cs typeface="Times New Roman"/>
              </a:rPr>
              <a:t>МОСКВА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780"/>
              </a:spcBef>
            </a:pPr>
            <a:r>
              <a:rPr dirty="0" sz="1300">
                <a:latin typeface="Times New Roman"/>
                <a:cs typeface="Times New Roman"/>
              </a:rPr>
              <a:t>2026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 spc="-25">
                <a:latin typeface="Times New Roman"/>
                <a:cs typeface="Times New Roman"/>
              </a:rPr>
              <a:t>г.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0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pc="-20"/>
              <a:t>Цель</a:t>
            </a:r>
          </a:p>
          <a:p>
            <a:pPr marL="21590">
              <a:lnSpc>
                <a:spcPct val="100000"/>
              </a:lnSpc>
              <a:spcBef>
                <a:spcPts val="415"/>
              </a:spcBef>
            </a:pPr>
            <a:r>
              <a:rPr dirty="0" sz="1050"/>
              <a:t>Настройка</a:t>
            </a:r>
            <a:r>
              <a:rPr dirty="0" sz="1050" spc="-35"/>
              <a:t> </a:t>
            </a:r>
            <a:r>
              <a:rPr dirty="0" sz="1050"/>
              <a:t>рабочей</a:t>
            </a:r>
            <a:r>
              <a:rPr dirty="0" sz="1050" spc="-40"/>
              <a:t> </a:t>
            </a:r>
            <a:r>
              <a:rPr dirty="0" sz="1050" spc="-10"/>
              <a:t>среды.</a:t>
            </a:r>
            <a:endParaRPr sz="1050"/>
          </a:p>
        </p:txBody>
      </p:sp>
      <p:sp>
        <p:nvSpPr>
          <p:cNvPr id="3" name="object 3" descr=""/>
          <p:cNvSpPr txBox="1"/>
          <p:nvPr/>
        </p:nvSpPr>
        <p:spPr>
          <a:xfrm>
            <a:off x="697483" y="1499074"/>
            <a:ext cx="4471035" cy="1314450"/>
          </a:xfrm>
          <a:prstGeom prst="rect">
            <a:avLst/>
          </a:prstGeom>
        </p:spPr>
        <p:txBody>
          <a:bodyPr wrap="square" lIns="0" tIns="200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dirty="0" sz="2400" spc="-10">
                <a:solidFill>
                  <a:srgbClr val="202429"/>
                </a:solidFill>
                <a:latin typeface="Calibri"/>
                <a:cs typeface="Calibri"/>
              </a:rPr>
              <a:t>Выполнениелабораторнойработы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1650" spc="-10" b="1">
                <a:solidFill>
                  <a:srgbClr val="292C3C"/>
                </a:solidFill>
                <a:latin typeface="Calibri"/>
                <a:cs typeface="Calibri"/>
              </a:rPr>
              <a:t>Менеджерпаролейpass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1350" spc="-10">
                <a:solidFill>
                  <a:srgbClr val="202429"/>
                </a:solidFill>
                <a:latin typeface="Calibri"/>
                <a:cs typeface="Calibri"/>
              </a:rPr>
              <a:t>Установка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088" y="2988817"/>
            <a:ext cx="128015" cy="153924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1859533" y="3386962"/>
            <a:ext cx="128270" cy="341630"/>
            <a:chOff x="1859533" y="3386962"/>
            <a:chExt cx="128270" cy="34163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533" y="3386962"/>
              <a:ext cx="128016" cy="15392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533" y="3574414"/>
              <a:ext cx="128016" cy="153924"/>
            </a:xfrm>
            <a:prstGeom prst="rect">
              <a:avLst/>
            </a:prstGeom>
          </p:spPr>
        </p:pic>
      </p:grp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6853" y="6455028"/>
            <a:ext cx="128015" cy="15392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088" y="6974713"/>
            <a:ext cx="128015" cy="153924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334010">
              <a:lnSpc>
                <a:spcPct val="100000"/>
              </a:lnSpc>
              <a:spcBef>
                <a:spcPts val="505"/>
              </a:spcBef>
            </a:pPr>
            <a:r>
              <a:rPr dirty="0"/>
              <a:t>Fedora</a:t>
            </a:r>
            <a:r>
              <a:rPr dirty="0" spc="-10"/>
              <a:t> </a:t>
            </a:r>
            <a:r>
              <a:rPr dirty="0" sz="1000">
                <a:latin typeface="Courier New"/>
                <a:cs typeface="Courier New"/>
              </a:rPr>
              <a:t>o</a:t>
            </a:r>
            <a:r>
              <a:rPr dirty="0" sz="1000" spc="-20">
                <a:latin typeface="Courier New"/>
                <a:cs typeface="Courier New"/>
              </a:rPr>
              <a:t> </a:t>
            </a:r>
            <a:r>
              <a:rPr dirty="0" sz="900" spc="-20">
                <a:solidFill>
                  <a:srgbClr val="E83D8B"/>
                </a:solidFill>
              </a:rPr>
              <a:t>pass</a:t>
            </a:r>
            <a:endParaRPr sz="900">
              <a:latin typeface="Courier New"/>
              <a:cs typeface="Courier New"/>
            </a:endParaRPr>
          </a:p>
          <a:p>
            <a:pPr marL="859155" indent="-151765">
              <a:lnSpc>
                <a:spcPct val="100000"/>
              </a:lnSpc>
              <a:spcBef>
                <a:spcPts val="375"/>
              </a:spcBef>
              <a:buFont typeface="Courier New"/>
              <a:buChar char="o"/>
              <a:tabLst>
                <a:tab pos="859155" algn="l"/>
              </a:tabLst>
            </a:pPr>
            <a:r>
              <a:rPr dirty="0" sz="1000"/>
              <a:t>dnf</a:t>
            </a:r>
            <a:r>
              <a:rPr dirty="0" sz="1000" spc="-15"/>
              <a:t> </a:t>
            </a:r>
            <a:r>
              <a:rPr dirty="0" sz="1000"/>
              <a:t>install</a:t>
            </a:r>
            <a:r>
              <a:rPr dirty="0" sz="1000" spc="-10"/>
              <a:t> </a:t>
            </a:r>
            <a:r>
              <a:rPr dirty="0" sz="1000"/>
              <a:t>pass</a:t>
            </a:r>
            <a:r>
              <a:rPr dirty="0" sz="1000" spc="-5"/>
              <a:t> </a:t>
            </a:r>
            <a:r>
              <a:rPr dirty="0" sz="1000"/>
              <a:t>pass-</a:t>
            </a:r>
            <a:r>
              <a:rPr dirty="0" sz="1000" spc="-25"/>
              <a:t>otp</a:t>
            </a:r>
            <a:endParaRPr sz="1000"/>
          </a:p>
          <a:p>
            <a:pPr marL="1422400">
              <a:lnSpc>
                <a:spcPct val="100000"/>
              </a:lnSpc>
              <a:spcBef>
                <a:spcPts val="450"/>
              </a:spcBef>
            </a:pPr>
            <a:r>
              <a:rPr dirty="0" sz="900" spc="-10">
                <a:solidFill>
                  <a:srgbClr val="E83D8B"/>
                </a:solidFill>
              </a:rPr>
              <a:t>gopass</a:t>
            </a:r>
            <a:endParaRPr sz="900"/>
          </a:p>
          <a:p>
            <a:pPr marL="1463675">
              <a:lnSpc>
                <a:spcPct val="100000"/>
              </a:lnSpc>
              <a:spcBef>
                <a:spcPts val="295"/>
              </a:spcBef>
            </a:pPr>
            <a:r>
              <a:rPr dirty="0" sz="1000"/>
              <a:t>dnf</a:t>
            </a:r>
            <a:r>
              <a:rPr dirty="0" sz="1000" spc="-15"/>
              <a:t> </a:t>
            </a:r>
            <a:r>
              <a:rPr dirty="0" sz="1000"/>
              <a:t>install</a:t>
            </a:r>
            <a:r>
              <a:rPr dirty="0" sz="1000" spc="-10"/>
              <a:t> gopass</a:t>
            </a:r>
            <a:endParaRPr sz="1000"/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350" spc="-10"/>
              <a:t>Настройка</a:t>
            </a:r>
            <a:endParaRPr sz="1350"/>
          </a:p>
          <a:p>
            <a:pPr marL="468630" marR="3472815" indent="-227329">
              <a:lnSpc>
                <a:spcPct val="116199"/>
              </a:lnSpc>
              <a:spcBef>
                <a:spcPts val="1190"/>
              </a:spcBef>
              <a:buAutoNum type="arabicPeriod"/>
              <a:tabLst>
                <a:tab pos="469900" algn="l"/>
              </a:tabLst>
            </a:pPr>
            <a:r>
              <a:rPr dirty="0"/>
              <a:t>Ключи</a:t>
            </a:r>
            <a:r>
              <a:rPr dirty="0" spc="-25"/>
              <a:t> </a:t>
            </a:r>
            <a:r>
              <a:rPr dirty="0"/>
              <a:t>GPG</a:t>
            </a:r>
            <a:r>
              <a:rPr dirty="0" spc="-5"/>
              <a:t> </a:t>
            </a:r>
            <a:r>
              <a:rPr dirty="0" sz="1000">
                <a:latin typeface="Courier New"/>
                <a:cs typeface="Courier New"/>
              </a:rPr>
              <a:t>o</a:t>
            </a:r>
            <a:r>
              <a:rPr dirty="0" sz="1000" spc="-45">
                <a:latin typeface="Courier New"/>
                <a:cs typeface="Courier New"/>
              </a:rPr>
              <a:t> </a:t>
            </a:r>
            <a:r>
              <a:rPr dirty="0"/>
              <a:t>Просмотр</a:t>
            </a:r>
            <a:r>
              <a:rPr dirty="0" spc="-25"/>
              <a:t> </a:t>
            </a:r>
            <a:r>
              <a:rPr dirty="0" spc="-10"/>
              <a:t>списка 	ключей:</a:t>
            </a:r>
            <a:endParaRPr sz="1000">
              <a:latin typeface="Courier New"/>
              <a:cs typeface="Courier New"/>
            </a:endParaRPr>
          </a:p>
          <a:p>
            <a:pPr lvl="1" marL="935990" indent="-228600">
              <a:lnSpc>
                <a:spcPct val="100000"/>
              </a:lnSpc>
              <a:spcBef>
                <a:spcPts val="215"/>
              </a:spcBef>
              <a:buFont typeface="Courier New"/>
              <a:buChar char="o"/>
              <a:tabLst>
                <a:tab pos="935990" algn="l"/>
              </a:tabLst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gpg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--list-secret-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keys</a:t>
            </a:r>
            <a:r>
              <a:rPr dirty="0" sz="1000" spc="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r>
              <a:rPr dirty="0" sz="1000" spc="5">
                <a:solidFill>
                  <a:srgbClr val="202429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Если</a:t>
            </a:r>
            <a:r>
              <a:rPr dirty="0" sz="105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ключа нет,</a:t>
            </a:r>
            <a:r>
              <a:rPr dirty="0" sz="1050" spc="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нужно создать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новый:</a:t>
            </a:r>
            <a:r>
              <a:rPr dirty="0" sz="1050" spc="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r>
              <a:rPr dirty="0" sz="1000" spc="10">
                <a:solidFill>
                  <a:srgbClr val="202429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gpg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--full-generate-</a:t>
            </a:r>
            <a:r>
              <a:rPr dirty="0" sz="1000" spc="-25">
                <a:solidFill>
                  <a:srgbClr val="202429"/>
                </a:solidFill>
                <a:latin typeface="Calibri"/>
                <a:cs typeface="Calibri"/>
              </a:rPr>
              <a:t>key</a:t>
            </a:r>
            <a:endParaRPr sz="1000">
              <a:latin typeface="Calibri"/>
              <a:cs typeface="Calibri"/>
            </a:endParaRPr>
          </a:p>
          <a:p>
            <a:pPr algn="r" marL="227329" marR="3586479" indent="-227329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227329" algn="l"/>
              </a:tabLst>
            </a:pPr>
            <a:r>
              <a:rPr dirty="0"/>
              <a:t>Инициализация</a:t>
            </a:r>
            <a:r>
              <a:rPr dirty="0" spc="-40"/>
              <a:t> </a:t>
            </a:r>
            <a:r>
              <a:rPr dirty="0"/>
              <a:t>хранилища</a:t>
            </a:r>
            <a:r>
              <a:rPr dirty="0" spc="-30"/>
              <a:t> </a:t>
            </a:r>
            <a:r>
              <a:rPr dirty="0" sz="1000" spc="-50"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  <a:p>
            <a:pPr algn="r" marR="3568065">
              <a:lnSpc>
                <a:spcPct val="100000"/>
              </a:lnSpc>
              <a:spcBef>
                <a:spcPts val="204"/>
              </a:spcBef>
            </a:pPr>
            <a:r>
              <a:rPr dirty="0"/>
              <a:t>Инициализируем</a:t>
            </a:r>
            <a:r>
              <a:rPr dirty="0" spc="-45"/>
              <a:t> </a:t>
            </a:r>
            <a:r>
              <a:rPr dirty="0" spc="-10"/>
              <a:t>хранилище:</a:t>
            </a:r>
          </a:p>
          <a:p>
            <a:pPr lvl="1" marL="935990" indent="-228600">
              <a:lnSpc>
                <a:spcPct val="100000"/>
              </a:lnSpc>
              <a:spcBef>
                <a:spcPts val="240"/>
              </a:spcBef>
              <a:buFont typeface="Courier New"/>
              <a:buChar char="o"/>
              <a:tabLst>
                <a:tab pos="935990" algn="l"/>
              </a:tabLst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pass</a:t>
            </a:r>
            <a:r>
              <a:rPr dirty="0" sz="100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init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&lt;gpg-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id or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email&gt;</a:t>
            </a:r>
            <a:endParaRPr sz="1000">
              <a:latin typeface="Calibri"/>
              <a:cs typeface="Calibri"/>
            </a:endParaRPr>
          </a:p>
          <a:p>
            <a:pPr marL="468630" marR="3372485" indent="-227329">
              <a:lnSpc>
                <a:spcPct val="117100"/>
              </a:lnSpc>
              <a:spcBef>
                <a:spcPts val="70"/>
              </a:spcBef>
              <a:buAutoNum type="arabicPeriod" startAt="3"/>
              <a:tabLst>
                <a:tab pos="469900" algn="l"/>
              </a:tabLst>
            </a:pPr>
            <a:r>
              <a:rPr dirty="0"/>
              <a:t>Синхронизация</a:t>
            </a:r>
            <a:r>
              <a:rPr dirty="0" spc="-15"/>
              <a:t> </a:t>
            </a:r>
            <a:r>
              <a:rPr dirty="0"/>
              <a:t>с</a:t>
            </a:r>
            <a:r>
              <a:rPr dirty="0" spc="-10"/>
              <a:t> </a:t>
            </a:r>
            <a:r>
              <a:rPr dirty="0"/>
              <a:t>git</a:t>
            </a:r>
            <a:r>
              <a:rPr dirty="0" spc="-5"/>
              <a:t> </a:t>
            </a:r>
            <a:r>
              <a:rPr dirty="0" sz="1000">
                <a:latin typeface="Courier New"/>
                <a:cs typeface="Courier New"/>
              </a:rPr>
              <a:t>o</a:t>
            </a:r>
            <a:r>
              <a:rPr dirty="0" sz="1000" spc="-20">
                <a:latin typeface="Courier New"/>
                <a:cs typeface="Courier New"/>
              </a:rPr>
              <a:t> </a:t>
            </a:r>
            <a:r>
              <a:rPr dirty="0" spc="-10"/>
              <a:t>Создадим </a:t>
            </a:r>
            <a:r>
              <a:rPr dirty="0" spc="-10"/>
              <a:t>	</a:t>
            </a:r>
            <a:r>
              <a:rPr dirty="0"/>
              <a:t>структуру</a:t>
            </a:r>
            <a:r>
              <a:rPr dirty="0" spc="-60"/>
              <a:t> </a:t>
            </a:r>
            <a:r>
              <a:rPr dirty="0" spc="-20"/>
              <a:t>git:</a:t>
            </a:r>
            <a:endParaRPr sz="1000">
              <a:latin typeface="Courier New"/>
              <a:cs typeface="Courier New"/>
            </a:endParaRPr>
          </a:p>
          <a:p>
            <a:pPr lvl="1" marL="935990" indent="-228600">
              <a:lnSpc>
                <a:spcPct val="100000"/>
              </a:lnSpc>
              <a:spcBef>
                <a:spcPts val="234"/>
              </a:spcBef>
              <a:buFont typeface="Courier New"/>
              <a:buChar char="o"/>
              <a:tabLst>
                <a:tab pos="935990" algn="l"/>
              </a:tabLst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pass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git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alibri"/>
                <a:cs typeface="Calibri"/>
              </a:rPr>
              <a:t>init</a:t>
            </a:r>
            <a:endParaRPr sz="1000">
              <a:latin typeface="Calibri"/>
              <a:cs typeface="Calibri"/>
            </a:endParaRPr>
          </a:p>
          <a:p>
            <a:pPr lvl="1" marL="935990" marR="259079" indent="-228600">
              <a:lnSpc>
                <a:spcPct val="113300"/>
              </a:lnSpc>
              <a:spcBef>
                <a:spcPts val="140"/>
              </a:spcBef>
              <a:buSzPct val="95238"/>
              <a:buFont typeface="Courier New"/>
              <a:buChar char="o"/>
              <a:tabLst>
                <a:tab pos="935990" algn="l"/>
              </a:tabLst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Также</a:t>
            </a:r>
            <a:r>
              <a:rPr dirty="0" sz="10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можно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задать</a:t>
            </a:r>
            <a:r>
              <a:rPr dirty="0" sz="10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адрес</a:t>
            </a:r>
            <a:r>
              <a:rPr dirty="0" sz="10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репозитория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на</a:t>
            </a:r>
            <a:r>
              <a:rPr dirty="0" sz="10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хостинге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(репозиторий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необходимо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предварительно</a:t>
            </a:r>
            <a:r>
              <a:rPr dirty="0" sz="1050" spc="-5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создать):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</a:p>
          <a:p>
            <a:pPr marL="241300" marR="1021715" indent="228600">
              <a:lnSpc>
                <a:spcPct val="111400"/>
              </a:lnSpc>
            </a:pPr>
            <a:r>
              <a:rPr dirty="0" sz="1000"/>
              <a:t>pass</a:t>
            </a:r>
            <a:r>
              <a:rPr dirty="0" sz="1000" spc="-35"/>
              <a:t> </a:t>
            </a:r>
            <a:r>
              <a:rPr dirty="0" sz="1000"/>
              <a:t>git</a:t>
            </a:r>
            <a:r>
              <a:rPr dirty="0" sz="1000" spc="-30"/>
              <a:t> </a:t>
            </a:r>
            <a:r>
              <a:rPr dirty="0" sz="1000"/>
              <a:t>remote</a:t>
            </a:r>
            <a:r>
              <a:rPr dirty="0" sz="1000" spc="-40"/>
              <a:t> </a:t>
            </a:r>
            <a:r>
              <a:rPr dirty="0" sz="1000"/>
              <a:t>add</a:t>
            </a:r>
            <a:r>
              <a:rPr dirty="0" sz="1000" spc="-30"/>
              <a:t> </a:t>
            </a:r>
            <a:r>
              <a:rPr dirty="0" sz="1000"/>
              <a:t>origin</a:t>
            </a:r>
            <a:r>
              <a:rPr dirty="0" sz="1000" spc="-35"/>
              <a:t> </a:t>
            </a:r>
            <a:r>
              <a:rPr dirty="0" sz="1000">
                <a:hlinkClick r:id="rId3"/>
              </a:rPr>
              <a:t>git@github.com:</a:t>
            </a:r>
            <a:r>
              <a:rPr dirty="0" sz="1000"/>
              <a:t>&lt;git_username&gt;/&lt;git_repo&gt;.git</a:t>
            </a:r>
            <a:r>
              <a:rPr dirty="0" sz="1000" spc="195"/>
              <a:t>  </a:t>
            </a:r>
            <a:r>
              <a:rPr dirty="0" sz="1300" spc="-10" b="1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dirty="0" spc="-25"/>
              <a:t>Для </a:t>
            </a:r>
            <a:r>
              <a:rPr dirty="0"/>
              <a:t>синхронизации</a:t>
            </a:r>
            <a:r>
              <a:rPr dirty="0" spc="-5"/>
              <a:t> </a:t>
            </a:r>
            <a:r>
              <a:rPr dirty="0" spc="-10"/>
              <a:t>выполняется</a:t>
            </a:r>
            <a:r>
              <a:rPr dirty="0" spc="-5"/>
              <a:t> </a:t>
            </a:r>
            <a:r>
              <a:rPr dirty="0" spc="-10"/>
              <a:t>следующая</a:t>
            </a:r>
            <a:r>
              <a:rPr dirty="0" spc="-15"/>
              <a:t> </a:t>
            </a:r>
            <a:r>
              <a:rPr dirty="0" spc="-10"/>
              <a:t>команда:</a:t>
            </a:r>
            <a:endParaRPr sz="1300">
              <a:latin typeface="Times New Roman"/>
              <a:cs typeface="Times New Roman"/>
            </a:endParaRPr>
          </a:p>
          <a:p>
            <a:pPr marL="469900" marR="4404995">
              <a:lnSpc>
                <a:spcPct val="114999"/>
              </a:lnSpc>
              <a:spcBef>
                <a:spcPts val="1215"/>
              </a:spcBef>
            </a:pPr>
            <a:r>
              <a:rPr dirty="0" sz="1000"/>
              <a:t>pass</a:t>
            </a:r>
            <a:r>
              <a:rPr dirty="0" sz="1000" spc="-10"/>
              <a:t> </a:t>
            </a:r>
            <a:r>
              <a:rPr dirty="0" sz="1000"/>
              <a:t>git</a:t>
            </a:r>
            <a:r>
              <a:rPr dirty="0" sz="1000" spc="-10"/>
              <a:t> </a:t>
            </a:r>
            <a:r>
              <a:rPr dirty="0" sz="1000"/>
              <a:t>pull</a:t>
            </a:r>
            <a:r>
              <a:rPr dirty="0" sz="1000" spc="-15"/>
              <a:t> </a:t>
            </a:r>
            <a:r>
              <a:rPr dirty="0" sz="1000" spc="-20"/>
              <a:t>pass </a:t>
            </a:r>
            <a:r>
              <a:rPr dirty="0" sz="1000"/>
              <a:t>git</a:t>
            </a:r>
            <a:r>
              <a:rPr dirty="0" sz="1000" spc="-15"/>
              <a:t> </a:t>
            </a:r>
            <a:r>
              <a:rPr dirty="0" sz="1000" spc="-20"/>
              <a:t>push</a:t>
            </a:r>
            <a:endParaRPr sz="1000"/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2582" y="8541765"/>
            <a:ext cx="128016" cy="15392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2582" y="9091929"/>
            <a:ext cx="128016" cy="15392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2582" y="9456115"/>
            <a:ext cx="128016" cy="153924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40658" y="9456115"/>
            <a:ext cx="131064" cy="153924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926388" y="7771638"/>
            <a:ext cx="5686425" cy="20199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1.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050">
              <a:latin typeface="Calibri"/>
              <a:cs typeface="Calibri"/>
            </a:endParaRPr>
          </a:p>
          <a:p>
            <a:pPr marL="484505">
              <a:lnSpc>
                <a:spcPct val="100000"/>
              </a:lnSpc>
              <a:tabLst>
                <a:tab pos="789305" algn="l"/>
              </a:tabLst>
            </a:pP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1.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	Прямые</a:t>
            </a:r>
            <a:r>
              <a:rPr dirty="0" sz="1050" spc="-4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изменения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050">
              <a:latin typeface="Calibri"/>
              <a:cs typeface="Calibri"/>
            </a:endParaRPr>
          </a:p>
          <a:p>
            <a:pPr marL="1164590">
              <a:lnSpc>
                <a:spcPct val="100000"/>
              </a:lnSpc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Следует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заметить,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что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отслеживаются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только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изменения,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сделанные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через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сам</a:t>
            </a:r>
            <a:endParaRPr sz="1050">
              <a:latin typeface="Calibri"/>
              <a:cs typeface="Calibri"/>
            </a:endParaRPr>
          </a:p>
          <a:p>
            <a:pPr marL="1164590">
              <a:lnSpc>
                <a:spcPct val="100000"/>
              </a:lnSpc>
              <a:spcBef>
                <a:spcPts val="170"/>
              </a:spcBef>
            </a:pPr>
            <a:r>
              <a:rPr dirty="0" sz="900">
                <a:solidFill>
                  <a:srgbClr val="E83D8B"/>
                </a:solidFill>
                <a:latin typeface="Calibri"/>
                <a:cs typeface="Calibri"/>
              </a:rPr>
              <a:t>gopass</a:t>
            </a:r>
            <a:r>
              <a:rPr dirty="0" sz="900" spc="-10">
                <a:solidFill>
                  <a:srgbClr val="E83D8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(или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alibri"/>
                <a:cs typeface="Calibri"/>
              </a:rPr>
              <a:t>pass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).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900">
              <a:latin typeface="Calibri"/>
              <a:cs typeface="Calibri"/>
            </a:endParaRPr>
          </a:p>
          <a:p>
            <a:pPr marL="1164590" marR="19685">
              <a:lnSpc>
                <a:spcPct val="114300"/>
              </a:lnSpc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Если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изменения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сделаны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непосредственно</a:t>
            </a:r>
            <a:r>
              <a:rPr dirty="0" sz="10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на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файловой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системе,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необходимо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вручную</a:t>
            </a:r>
            <a:r>
              <a:rPr dirty="0" sz="1050" spc="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закоммитить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 выложить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изменения:</a:t>
            </a:r>
            <a:endParaRPr sz="1050">
              <a:latin typeface="Calibri"/>
              <a:cs typeface="Calibri"/>
            </a:endParaRPr>
          </a:p>
          <a:p>
            <a:pPr marL="1141730" marR="3392804">
              <a:lnSpc>
                <a:spcPct val="115999"/>
              </a:lnSpc>
              <a:spcBef>
                <a:spcPts val="25"/>
              </a:spcBef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cd</a:t>
            </a:r>
            <a:r>
              <a:rPr dirty="0" sz="1000" spc="6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~/.password-store/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git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add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859533" y="763523"/>
            <a:ext cx="128270" cy="542925"/>
            <a:chOff x="1859533" y="763523"/>
            <a:chExt cx="128270" cy="54292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533" y="763523"/>
              <a:ext cx="128016" cy="153924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533" y="955547"/>
              <a:ext cx="128016" cy="15392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533" y="1152397"/>
              <a:ext cx="128016" cy="153924"/>
            </a:xfrm>
            <a:prstGeom prst="rect">
              <a:avLst/>
            </a:prstGeom>
          </p:spPr>
        </p:pic>
      </p:grp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9533" y="1513585"/>
            <a:ext cx="128016" cy="153924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939088" y="2130805"/>
            <a:ext cx="131445" cy="347980"/>
            <a:chOff x="939088" y="2130805"/>
            <a:chExt cx="131445" cy="347980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2130805"/>
              <a:ext cx="128015" cy="15392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9088" y="2324353"/>
              <a:ext cx="128015" cy="153924"/>
            </a:xfrm>
            <a:prstGeom prst="rect">
              <a:avLst/>
            </a:prstGeom>
          </p:spPr>
        </p:pic>
      </p:grpSp>
      <p:grpSp>
        <p:nvGrpSpPr>
          <p:cNvPr id="10" name="object 10" descr=""/>
          <p:cNvGrpSpPr/>
          <p:nvPr/>
        </p:nvGrpSpPr>
        <p:grpSpPr>
          <a:xfrm>
            <a:off x="1859533" y="3629278"/>
            <a:ext cx="131445" cy="344805"/>
            <a:chOff x="1859533" y="3629278"/>
            <a:chExt cx="131445" cy="344805"/>
          </a:xfrm>
        </p:grpSpPr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2581" y="3629278"/>
              <a:ext cx="128016" cy="15392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533" y="3819778"/>
              <a:ext cx="128016" cy="153924"/>
            </a:xfrm>
            <a:prstGeom prst="rect">
              <a:avLst/>
            </a:prstGeom>
          </p:spPr>
        </p:pic>
      </p:grpSp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76977" y="4554346"/>
            <a:ext cx="128015" cy="153924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92470" y="4926202"/>
            <a:ext cx="124967" cy="153924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2582" y="5671692"/>
            <a:ext cx="128016" cy="153924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3598" y="5671692"/>
            <a:ext cx="124967" cy="153924"/>
          </a:xfrm>
          <a:prstGeom prst="rect">
            <a:avLst/>
          </a:prstGeom>
        </p:spPr>
      </p:pic>
      <p:grpSp>
        <p:nvGrpSpPr>
          <p:cNvPr id="17" name="object 17" descr=""/>
          <p:cNvGrpSpPr/>
          <p:nvPr/>
        </p:nvGrpSpPr>
        <p:grpSpPr>
          <a:xfrm>
            <a:off x="1859533" y="6212712"/>
            <a:ext cx="128270" cy="346075"/>
            <a:chOff x="1859533" y="6212712"/>
            <a:chExt cx="128270" cy="346075"/>
          </a:xfrm>
        </p:grpSpPr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533" y="6212712"/>
              <a:ext cx="128016" cy="15392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9533" y="6404736"/>
              <a:ext cx="128016" cy="153924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697483" y="704494"/>
            <a:ext cx="6088380" cy="6134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25575" marR="3008630" indent="73025">
              <a:lnSpc>
                <a:spcPct val="126000"/>
              </a:lnSpc>
              <a:spcBef>
                <a:spcPts val="100"/>
              </a:spcBef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git</a:t>
            </a:r>
            <a:r>
              <a:rPr dirty="0" sz="100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commit</a:t>
            </a:r>
            <a:r>
              <a:rPr dirty="0" sz="100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-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am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'edit</a:t>
            </a:r>
            <a:r>
              <a:rPr dirty="0" sz="100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manually'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git</a:t>
            </a:r>
            <a:r>
              <a:rPr dirty="0" sz="100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alibri"/>
                <a:cs typeface="Calibri"/>
              </a:rPr>
              <a:t>push</a:t>
            </a:r>
            <a:endParaRPr sz="1000">
              <a:latin typeface="Calibri"/>
              <a:cs typeface="Calibri"/>
            </a:endParaRPr>
          </a:p>
          <a:p>
            <a:pPr marL="1612900">
              <a:lnSpc>
                <a:spcPct val="100000"/>
              </a:lnSpc>
              <a:spcBef>
                <a:spcPts val="300"/>
              </a:spcBef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Проверить</a:t>
            </a:r>
            <a:r>
              <a:rPr dirty="0" sz="1050" spc="-4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статус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синхронизации</a:t>
            </a:r>
            <a:r>
              <a:rPr dirty="0" sz="1050" spc="-4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модно</a:t>
            </a:r>
            <a:r>
              <a:rPr dirty="0" sz="1050" spc="-5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командой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050">
              <a:latin typeface="Calibri"/>
              <a:cs typeface="Calibri"/>
            </a:endParaRPr>
          </a:p>
          <a:p>
            <a:pPr marL="1449705">
              <a:lnSpc>
                <a:spcPct val="100000"/>
              </a:lnSpc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pass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git</a:t>
            </a:r>
            <a:r>
              <a:rPr dirty="0" sz="100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status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 sz="1350">
                <a:solidFill>
                  <a:srgbClr val="202429"/>
                </a:solidFill>
                <a:latin typeface="Calibri"/>
                <a:cs typeface="Calibri"/>
              </a:rPr>
              <a:t>Настройка</a:t>
            </a:r>
            <a:r>
              <a:rPr dirty="0" sz="1350" spc="-4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02429"/>
                </a:solidFill>
                <a:latin typeface="Calibri"/>
                <a:cs typeface="Calibri"/>
              </a:rPr>
              <a:t>интерфейса</a:t>
            </a:r>
            <a:r>
              <a:rPr dirty="0" sz="1350" spc="-4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02429"/>
                </a:solidFill>
                <a:latin typeface="Calibri"/>
                <a:cs typeface="Calibri"/>
              </a:rPr>
              <a:t>с</a:t>
            </a:r>
            <a:r>
              <a:rPr dirty="0" sz="13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02429"/>
                </a:solidFill>
                <a:latin typeface="Calibri"/>
                <a:cs typeface="Calibri"/>
              </a:rPr>
              <a:t>броузером</a:t>
            </a:r>
            <a:endParaRPr sz="1350">
              <a:latin typeface="Calibri"/>
              <a:cs typeface="Calibri"/>
            </a:endParaRPr>
          </a:p>
          <a:p>
            <a:pPr algn="ctr" marR="135255">
              <a:lnSpc>
                <a:spcPct val="100000"/>
              </a:lnSpc>
              <a:spcBef>
                <a:spcPts val="1375"/>
              </a:spcBef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Для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взаимодействия</a:t>
            </a:r>
            <a:r>
              <a:rPr dirty="0" sz="105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с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броузером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используется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интерфейс</a:t>
            </a:r>
            <a:r>
              <a:rPr dirty="0" sz="1050" spc="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02429"/>
                </a:solidFill>
                <a:latin typeface="Calibri"/>
                <a:cs typeface="Calibri"/>
              </a:rPr>
              <a:t>nativemessaging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 algn="ctr" marR="85725">
              <a:lnSpc>
                <a:spcPct val="100000"/>
              </a:lnSpc>
              <a:spcBef>
                <a:spcPts val="254"/>
              </a:spcBef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Поэтому</a:t>
            </a:r>
            <a:r>
              <a:rPr dirty="0" sz="105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кроме</a:t>
            </a:r>
            <a:r>
              <a:rPr dirty="0" sz="105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плагина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к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броузеру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устанавливается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программа,</a:t>
            </a:r>
            <a:r>
              <a:rPr dirty="0" sz="105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обеспечивающая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интерфейс</a:t>
            </a:r>
            <a:endParaRPr sz="1050">
              <a:latin typeface="Calibri"/>
              <a:cs typeface="Calibri"/>
            </a:endParaRPr>
          </a:p>
          <a:p>
            <a:pPr algn="ctr" marR="4159250">
              <a:lnSpc>
                <a:spcPct val="100000"/>
              </a:lnSpc>
              <a:spcBef>
                <a:spcPts val="165"/>
              </a:spcBef>
            </a:pPr>
            <a:r>
              <a:rPr dirty="0" sz="1100" spc="-10">
                <a:solidFill>
                  <a:srgbClr val="202429"/>
                </a:solidFill>
                <a:latin typeface="Calibri"/>
                <a:cs typeface="Calibri"/>
              </a:rPr>
              <a:t>nativemessaging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100">
              <a:latin typeface="Calibri"/>
              <a:cs typeface="Calibri"/>
            </a:endParaRPr>
          </a:p>
          <a:p>
            <a:pPr marL="572135" indent="-315595">
              <a:lnSpc>
                <a:spcPct val="100000"/>
              </a:lnSpc>
              <a:buAutoNum type="arabicPeriod"/>
              <a:tabLst>
                <a:tab pos="572135" algn="l"/>
              </a:tabLst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Плагин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Calibri"/>
                <a:cs typeface="Calibri"/>
                <a:hlinkClick r:id="rId4"/>
              </a:rPr>
              <a:t>browserpass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0"/>
              </a:spcBef>
              <a:buClr>
                <a:srgbClr val="202429"/>
              </a:buClr>
              <a:buFont typeface="Calibri"/>
              <a:buAutoNum type="arabicPeriod"/>
            </a:pPr>
            <a:endParaRPr sz="1050">
              <a:latin typeface="Calibri"/>
              <a:cs typeface="Calibri"/>
            </a:endParaRPr>
          </a:p>
          <a:p>
            <a:pPr lvl="1" marL="935990" marR="670560" indent="-228600">
              <a:lnSpc>
                <a:spcPct val="114500"/>
              </a:lnSpc>
              <a:buSzPct val="95238"/>
              <a:buFont typeface="Courier New"/>
              <a:buChar char="o"/>
              <a:tabLst>
                <a:tab pos="935990" algn="l"/>
              </a:tabLst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Репозиторий:</a:t>
            </a:r>
            <a:r>
              <a:rPr dirty="0" sz="1050" spc="6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Calibri"/>
                <a:cs typeface="Calibri"/>
                <a:hlinkClick r:id="rId4"/>
              </a:rPr>
              <a:t>https://github.com/browserpass/browserpass-</a:t>
            </a:r>
            <a:r>
              <a:rPr dirty="0" u="sng" sz="105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Calibri"/>
                <a:cs typeface="Calibri"/>
                <a:hlinkClick r:id="rId4"/>
              </a:rPr>
              <a:t>extension</a:t>
            </a:r>
            <a:r>
              <a:rPr dirty="0" u="sng" sz="1050" spc="5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r>
              <a:rPr dirty="0" sz="1000" spc="120">
                <a:solidFill>
                  <a:srgbClr val="202429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Плагин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для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брoузера</a:t>
            </a:r>
            <a:endParaRPr sz="1050">
              <a:latin typeface="Calibri"/>
              <a:cs typeface="Calibri"/>
            </a:endParaRPr>
          </a:p>
          <a:p>
            <a:pPr marL="1393190">
              <a:lnSpc>
                <a:spcPct val="100000"/>
              </a:lnSpc>
              <a:spcBef>
                <a:spcPts val="215"/>
              </a:spcBef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Плагин</a:t>
            </a:r>
            <a:r>
              <a:rPr dirty="0" sz="1050" spc="1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для</a:t>
            </a:r>
            <a:r>
              <a:rPr dirty="0" sz="1050" spc="1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Firefox:</a:t>
            </a:r>
            <a:r>
              <a:rPr dirty="0" sz="1050" spc="1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Calibri"/>
                <a:cs typeface="Calibri"/>
                <a:hlinkClick r:id="rId5"/>
              </a:rPr>
              <a:t>https://addons.mozilla.org/en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Calibri"/>
                <a:cs typeface="Calibri"/>
                <a:hlinkClick r:id="rId5"/>
              </a:rPr>
              <a:t>US/firefox/addon/browserpass-</a:t>
            </a:r>
            <a:r>
              <a:rPr dirty="0" u="sng" sz="1050" spc="-2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Calibri"/>
                <a:cs typeface="Calibri"/>
                <a:hlinkClick r:id="rId5"/>
              </a:rPr>
              <a:t>ce/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  <a:hlinkClick r:id="rId5"/>
              </a:rPr>
              <a:t>.</a:t>
            </a:r>
            <a:endParaRPr sz="1050">
              <a:latin typeface="Calibri"/>
              <a:cs typeface="Calibri"/>
            </a:endParaRPr>
          </a:p>
          <a:p>
            <a:pPr marL="1440815">
              <a:lnSpc>
                <a:spcPct val="100000"/>
              </a:lnSpc>
              <a:spcBef>
                <a:spcPts val="240"/>
              </a:spcBef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Плагин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для</a:t>
            </a:r>
            <a:endParaRPr sz="1050">
              <a:latin typeface="Calibri"/>
              <a:cs typeface="Calibri"/>
            </a:endParaRPr>
          </a:p>
          <a:p>
            <a:pPr marL="1399540" marR="334645" indent="-6350">
              <a:lnSpc>
                <a:spcPct val="113300"/>
              </a:lnSpc>
              <a:spcBef>
                <a:spcPts val="60"/>
              </a:spcBef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Chrome/Chromium:</a:t>
            </a:r>
            <a:r>
              <a:rPr dirty="0" sz="1050" spc="15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Calibri"/>
                <a:cs typeface="Calibri"/>
                <a:hlinkClick r:id="rId6"/>
              </a:rPr>
              <a:t>https://chrome.google.com/webstore/detail/browserpa</a:t>
            </a:r>
            <a:r>
              <a:rPr dirty="0" u="sng" sz="1050" spc="155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50" spc="-25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Calibri"/>
                <a:cs typeface="Calibri"/>
                <a:hlinkClick r:id="rId6"/>
              </a:rPr>
              <a:t>ss-</a:t>
            </a:r>
            <a:r>
              <a:rPr dirty="0" sz="1050" spc="-25">
                <a:solidFill>
                  <a:srgbClr val="0079C1"/>
                </a:solidFill>
                <a:latin typeface="Calibri"/>
                <a:cs typeface="Calibri"/>
              </a:rPr>
              <a:t> 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Calibri"/>
                <a:cs typeface="Calibri"/>
                <a:hlinkClick r:id="rId6"/>
              </a:rPr>
              <a:t>ce/naepdomgkenhinolocfifgehidddafch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  <a:hlinkClick r:id="rId6"/>
              </a:rPr>
              <a:t>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050">
              <a:latin typeface="Calibri"/>
              <a:cs typeface="Calibri"/>
            </a:endParaRPr>
          </a:p>
          <a:p>
            <a:pPr lvl="1" marL="935990" indent="-228600">
              <a:lnSpc>
                <a:spcPct val="100000"/>
              </a:lnSpc>
              <a:buSzPct val="95238"/>
              <a:buFont typeface="Courier New"/>
              <a:buChar char="o"/>
              <a:tabLst>
                <a:tab pos="935990" algn="l"/>
              </a:tabLst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Интерфейс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для</a:t>
            </a:r>
            <a:r>
              <a:rPr dirty="0" sz="105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взаимодействия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 с</a:t>
            </a:r>
            <a:r>
              <a:rPr dirty="0" sz="1050" spc="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броузером</a:t>
            </a:r>
            <a:r>
              <a:rPr dirty="0" sz="1050" spc="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(native</a:t>
            </a:r>
            <a:r>
              <a:rPr dirty="0" sz="1050" spc="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messaging)</a:t>
            </a:r>
            <a:endParaRPr sz="1050">
              <a:latin typeface="Calibri"/>
              <a:cs typeface="Calibri"/>
            </a:endParaRPr>
          </a:p>
          <a:p>
            <a:pPr marL="1370330" marR="984885">
              <a:lnSpc>
                <a:spcPts val="2940"/>
              </a:lnSpc>
              <a:spcBef>
                <a:spcPts val="370"/>
              </a:spcBef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Репозиторий:</a:t>
            </a:r>
            <a:r>
              <a:rPr dirty="0" sz="1050" spc="16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u="sng" sz="1050" spc="-1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Calibri"/>
                <a:cs typeface="Calibri"/>
                <a:hlinkClick r:id="rId7"/>
              </a:rPr>
              <a:t>https://github.com/browserpass/browserpass-</a:t>
            </a:r>
            <a:r>
              <a:rPr dirty="0" u="sng" sz="105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Calibri"/>
                <a:cs typeface="Calibri"/>
                <a:hlinkClick r:id="rId7"/>
              </a:rPr>
              <a:t>native</a:t>
            </a:r>
            <a:r>
              <a:rPr dirty="0" u="sng" sz="1050" spc="160">
                <a:solidFill>
                  <a:srgbClr val="0079C1"/>
                </a:solidFill>
                <a:uFill>
                  <a:solidFill>
                    <a:srgbClr val="0079C1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dirty="0" sz="1050" spc="160">
                <a:solidFill>
                  <a:srgbClr val="0079C1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Gentoo: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50">
              <a:latin typeface="Calibri"/>
              <a:cs typeface="Calibri"/>
            </a:endParaRPr>
          </a:p>
          <a:p>
            <a:pPr marL="1370330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emerge</a:t>
            </a:r>
            <a:r>
              <a:rPr dirty="0" sz="100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www-plugins/browserpass</a:t>
            </a:r>
            <a:endParaRPr sz="1000">
              <a:latin typeface="Calibri"/>
              <a:cs typeface="Calibri"/>
            </a:endParaRPr>
          </a:p>
          <a:p>
            <a:pPr marL="1370330">
              <a:lnSpc>
                <a:spcPct val="100000"/>
              </a:lnSpc>
              <a:spcBef>
                <a:spcPts val="175"/>
              </a:spcBef>
            </a:pP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Fedora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50">
              <a:latin typeface="Calibri"/>
              <a:cs typeface="Calibri"/>
            </a:endParaRPr>
          </a:p>
          <a:p>
            <a:pPr marL="1484630" marR="2462530" indent="66675">
              <a:lnSpc>
                <a:spcPct val="126000"/>
              </a:lnSpc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dnf</a:t>
            </a:r>
            <a:r>
              <a:rPr dirty="0" sz="100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copr</a:t>
            </a:r>
            <a:r>
              <a:rPr dirty="0" sz="100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enable</a:t>
            </a:r>
            <a:r>
              <a:rPr dirty="0" sz="100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maximbaz/browserpass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dnf</a:t>
            </a:r>
            <a:r>
              <a:rPr dirty="0" sz="100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install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 browserpass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350" spc="-10">
                <a:solidFill>
                  <a:srgbClr val="202429"/>
                </a:solidFill>
                <a:latin typeface="Calibri"/>
                <a:cs typeface="Calibri"/>
              </a:rPr>
              <a:t>Сохранение</a:t>
            </a:r>
            <a:r>
              <a:rPr dirty="0" sz="1350" spc="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02429"/>
                </a:solidFill>
                <a:latin typeface="Calibri"/>
                <a:cs typeface="Calibri"/>
              </a:rPr>
              <a:t>пароля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926388" y="6989444"/>
            <a:ext cx="12890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1.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83538" y="6967498"/>
            <a:ext cx="2307590" cy="74930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Добавить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новый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пароль</a:t>
            </a:r>
            <a:endParaRPr sz="1050">
              <a:latin typeface="Calibri"/>
              <a:cs typeface="Calibri"/>
            </a:endParaRPr>
          </a:p>
          <a:p>
            <a:pPr marL="164465" indent="-151765">
              <a:lnSpc>
                <a:spcPct val="100000"/>
              </a:lnSpc>
              <a:spcBef>
                <a:spcPts val="180"/>
              </a:spcBef>
              <a:buSzPct val="95238"/>
              <a:buFont typeface="Courier New"/>
              <a:buChar char="o"/>
              <a:tabLst>
                <a:tab pos="164465" algn="l"/>
              </a:tabLst>
            </a:pP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Выполните: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buClr>
                <a:srgbClr val="202429"/>
              </a:buClr>
              <a:buFont typeface="Courier New"/>
              <a:buChar char="o"/>
            </a:pPr>
            <a:endParaRPr sz="1050">
              <a:latin typeface="Calibri"/>
              <a:cs typeface="Calibri"/>
            </a:endParaRPr>
          </a:p>
          <a:p>
            <a:pPr marL="234950" indent="-213360">
              <a:lnSpc>
                <a:spcPct val="100000"/>
              </a:lnSpc>
              <a:spcBef>
                <a:spcPts val="5"/>
              </a:spcBef>
              <a:buFont typeface="Courier New"/>
              <a:buChar char="o"/>
              <a:tabLst>
                <a:tab pos="234950" algn="l"/>
              </a:tabLst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pass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insert</a:t>
            </a:r>
            <a:r>
              <a:rPr dirty="0" sz="100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[OPTIONAL</a:t>
            </a:r>
            <a:r>
              <a:rPr dirty="0" sz="100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DIR]/[FILENAME]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23" name="object 2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2582" y="7942833"/>
            <a:ext cx="128016" cy="153924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2582" y="8314690"/>
            <a:ext cx="128016" cy="153924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1392682" y="7894472"/>
            <a:ext cx="5264150" cy="1496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98500" marR="5080">
              <a:lnSpc>
                <a:spcPct val="114300"/>
              </a:lnSpc>
              <a:spcBef>
                <a:spcPts val="95"/>
              </a:spcBef>
            </a:pPr>
            <a:r>
              <a:rPr dirty="0" sz="900">
                <a:solidFill>
                  <a:srgbClr val="E83D8B"/>
                </a:solidFill>
                <a:latin typeface="Calibri"/>
                <a:cs typeface="Calibri"/>
              </a:rPr>
              <a:t>OPTIONAL</a:t>
            </a:r>
            <a:r>
              <a:rPr dirty="0" sz="900" spc="5">
                <a:solidFill>
                  <a:srgbClr val="E83D8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83D8B"/>
                </a:solidFill>
                <a:latin typeface="Calibri"/>
                <a:cs typeface="Calibri"/>
              </a:rPr>
              <a:t>DIR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:</a:t>
            </a:r>
            <a:r>
              <a:rPr dirty="0" sz="1050" spc="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необязательное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 имя каталога,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определяющее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файловую</a:t>
            </a:r>
            <a:r>
              <a:rPr dirty="0" sz="1050" spc="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структуру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для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вашего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хранилища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паролей;</a:t>
            </a:r>
            <a:endParaRPr sz="1050">
              <a:latin typeface="Calibri"/>
              <a:cs typeface="Calibri"/>
            </a:endParaRPr>
          </a:p>
          <a:p>
            <a:pPr marL="698500">
              <a:lnSpc>
                <a:spcPct val="100000"/>
              </a:lnSpc>
              <a:spcBef>
                <a:spcPts val="229"/>
              </a:spcBef>
            </a:pPr>
            <a:r>
              <a:rPr dirty="0" sz="900">
                <a:solidFill>
                  <a:srgbClr val="E83D8B"/>
                </a:solidFill>
                <a:latin typeface="Calibri"/>
                <a:cs typeface="Calibri"/>
              </a:rPr>
              <a:t>FILENAME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: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имя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файла,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который</a:t>
            </a:r>
            <a:r>
              <a:rPr dirty="0" sz="10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будет</a:t>
            </a:r>
            <a:r>
              <a:rPr dirty="0" sz="10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использоваться</a:t>
            </a:r>
            <a:r>
              <a:rPr dirty="0" sz="10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для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хранения</a:t>
            </a:r>
            <a:r>
              <a:rPr dirty="0" sz="10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пароля.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050">
              <a:latin typeface="Calibri"/>
              <a:cs typeface="Calibri"/>
            </a:endParaRPr>
          </a:p>
          <a:p>
            <a:pPr marL="225425" indent="-212725">
              <a:lnSpc>
                <a:spcPct val="100000"/>
              </a:lnSpc>
              <a:spcBef>
                <a:spcPts val="5"/>
              </a:spcBef>
              <a:buSzPct val="95238"/>
              <a:buFont typeface="Courier New"/>
              <a:buChar char="o"/>
              <a:tabLst>
                <a:tab pos="225425" algn="l"/>
              </a:tabLst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Отобразите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пароль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для</a:t>
            </a:r>
            <a:r>
              <a:rPr dirty="0" sz="10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указанного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имени</a:t>
            </a:r>
            <a:r>
              <a:rPr dirty="0" sz="10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файла: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Clr>
                <a:srgbClr val="202429"/>
              </a:buClr>
              <a:buFont typeface="Courier New"/>
              <a:buChar char="o"/>
            </a:pPr>
            <a:endParaRPr sz="1050">
              <a:latin typeface="Calibri"/>
              <a:cs typeface="Calibri"/>
            </a:endParaRPr>
          </a:p>
          <a:p>
            <a:pPr marL="12700" marR="67945" indent="212725">
              <a:lnSpc>
                <a:spcPct val="119200"/>
              </a:lnSpc>
              <a:buFont typeface="Courier New"/>
              <a:buChar char="o"/>
              <a:tabLst>
                <a:tab pos="225425" algn="l"/>
              </a:tabLst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pass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[OPTIONAL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DIR]/[FILENAME]</a:t>
            </a:r>
            <a:r>
              <a:rPr dirty="0" sz="1000" spc="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r>
              <a:rPr dirty="0" sz="1000" spc="5">
                <a:solidFill>
                  <a:srgbClr val="202429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Замените</a:t>
            </a:r>
            <a:r>
              <a:rPr dirty="0" sz="1050" spc="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существующий</a:t>
            </a:r>
            <a:r>
              <a:rPr dirty="0" sz="1050" spc="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пароль:</a:t>
            </a:r>
            <a:r>
              <a:rPr dirty="0" sz="1050" spc="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r>
              <a:rPr dirty="0" sz="1000" spc="-5">
                <a:solidFill>
                  <a:srgbClr val="202429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pass</a:t>
            </a:r>
            <a:r>
              <a:rPr dirty="0" sz="100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generate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--</a:t>
            </a:r>
            <a:r>
              <a:rPr dirty="0" sz="1000" spc="-25">
                <a:solidFill>
                  <a:srgbClr val="202429"/>
                </a:solidFill>
                <a:latin typeface="Calibri"/>
                <a:cs typeface="Calibri"/>
              </a:rPr>
              <a:t>in-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 place</a:t>
            </a:r>
            <a:r>
              <a:rPr dirty="0" sz="100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FILENAME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97483" y="738631"/>
            <a:ext cx="4022090" cy="7156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10" b="1">
                <a:solidFill>
                  <a:srgbClr val="292C3C"/>
                </a:solidFill>
                <a:latin typeface="Calibri"/>
                <a:cs typeface="Calibri"/>
              </a:rPr>
              <a:t>Управлениефайламиконфигурации</a:t>
            </a:r>
            <a:endParaRPr sz="165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465"/>
              </a:spcBef>
            </a:pPr>
            <a:r>
              <a:rPr dirty="0" sz="1650" spc="-10" b="1">
                <a:solidFill>
                  <a:srgbClr val="292C3C"/>
                </a:solidFill>
                <a:latin typeface="Calibri"/>
                <a:cs typeface="Calibri"/>
              </a:rPr>
              <a:t>Дополнительноепрограммноеобеспечение</a:t>
            </a:r>
            <a:endParaRPr sz="165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136" y="1646173"/>
            <a:ext cx="128015" cy="153924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942136" y="2007361"/>
            <a:ext cx="128270" cy="2651125"/>
            <a:chOff x="942136" y="2007361"/>
            <a:chExt cx="128270" cy="265112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2007361"/>
              <a:ext cx="128015" cy="15392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2199385"/>
              <a:ext cx="128015" cy="15392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2389885"/>
              <a:ext cx="128015" cy="15392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2581909"/>
              <a:ext cx="128015" cy="15392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2773933"/>
              <a:ext cx="128015" cy="15392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2964433"/>
              <a:ext cx="128015" cy="15392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3156457"/>
              <a:ext cx="128015" cy="15392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3348862"/>
              <a:ext cx="128015" cy="15392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3539362"/>
              <a:ext cx="128015" cy="153924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3731386"/>
              <a:ext cx="128015" cy="153924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3923410"/>
              <a:ext cx="128015" cy="15392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4113910"/>
              <a:ext cx="128015" cy="153924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4305934"/>
              <a:ext cx="128015" cy="15392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4504054"/>
              <a:ext cx="128015" cy="153924"/>
            </a:xfrm>
            <a:prstGeom prst="rect">
              <a:avLst/>
            </a:prstGeom>
          </p:spPr>
        </p:pic>
      </p:grpSp>
      <p:grpSp>
        <p:nvGrpSpPr>
          <p:cNvPr id="19" name="object 19" descr=""/>
          <p:cNvGrpSpPr/>
          <p:nvPr/>
        </p:nvGrpSpPr>
        <p:grpSpPr>
          <a:xfrm>
            <a:off x="939088" y="4865242"/>
            <a:ext cx="131445" cy="535305"/>
            <a:chOff x="939088" y="4865242"/>
            <a:chExt cx="131445" cy="535305"/>
          </a:xfrm>
        </p:grpSpPr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4865242"/>
              <a:ext cx="128015" cy="153924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5055742"/>
              <a:ext cx="128015" cy="153924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9088" y="5246242"/>
              <a:ext cx="128015" cy="153924"/>
            </a:xfrm>
            <a:prstGeom prst="rect">
              <a:avLst/>
            </a:prstGeom>
          </p:spPr>
        </p:pic>
      </p:grpSp>
      <p:pic>
        <p:nvPicPr>
          <p:cNvPr id="23" name="object 2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088" y="6029832"/>
            <a:ext cx="128015" cy="153924"/>
          </a:xfrm>
          <a:prstGeom prst="rect">
            <a:avLst/>
          </a:prstGeom>
        </p:spPr>
      </p:pic>
      <p:grpSp>
        <p:nvGrpSpPr>
          <p:cNvPr id="24" name="object 24" descr=""/>
          <p:cNvGrpSpPr/>
          <p:nvPr/>
        </p:nvGrpSpPr>
        <p:grpSpPr>
          <a:xfrm>
            <a:off x="942136" y="7195692"/>
            <a:ext cx="128270" cy="344805"/>
            <a:chOff x="942136" y="7195692"/>
            <a:chExt cx="128270" cy="344805"/>
          </a:xfrm>
        </p:grpSpPr>
        <p:pic>
          <p:nvPicPr>
            <p:cNvPr id="25" name="object 2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7195692"/>
              <a:ext cx="128015" cy="153924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7386192"/>
              <a:ext cx="128015" cy="153923"/>
            </a:xfrm>
            <a:prstGeom prst="rect">
              <a:avLst/>
            </a:prstGeom>
          </p:spPr>
        </p:pic>
      </p:grpSp>
      <p:grpSp>
        <p:nvGrpSpPr>
          <p:cNvPr id="27" name="object 27" descr=""/>
          <p:cNvGrpSpPr/>
          <p:nvPr/>
        </p:nvGrpSpPr>
        <p:grpSpPr>
          <a:xfrm>
            <a:off x="939088" y="8628633"/>
            <a:ext cx="131445" cy="916305"/>
            <a:chOff x="939088" y="8628633"/>
            <a:chExt cx="131445" cy="916305"/>
          </a:xfrm>
        </p:grpSpPr>
        <p:pic>
          <p:nvPicPr>
            <p:cNvPr id="28" name="object 2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8628633"/>
              <a:ext cx="128015" cy="153924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8813037"/>
              <a:ext cx="128015" cy="153924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9009633"/>
              <a:ext cx="128015" cy="153924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9194037"/>
              <a:ext cx="128015" cy="153924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9088" y="9390582"/>
              <a:ext cx="128015" cy="153924"/>
            </a:xfrm>
            <a:prstGeom prst="rect">
              <a:avLst/>
            </a:prstGeom>
          </p:spPr>
        </p:pic>
      </p:grpSp>
      <p:pic>
        <p:nvPicPr>
          <p:cNvPr id="33" name="object 3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2325" y="9390582"/>
            <a:ext cx="128015" cy="153924"/>
          </a:xfrm>
          <a:prstGeom prst="rect">
            <a:avLst/>
          </a:prstGeom>
        </p:spPr>
      </p:pic>
      <p:sp>
        <p:nvSpPr>
          <p:cNvPr id="34" name="object 34" descr=""/>
          <p:cNvSpPr txBox="1"/>
          <p:nvPr/>
        </p:nvSpPr>
        <p:spPr>
          <a:xfrm>
            <a:off x="697483" y="1619757"/>
            <a:ext cx="5906770" cy="81064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2771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Установите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дополнительное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программное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обеспечение: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50">
              <a:latin typeface="Calibri"/>
              <a:cs typeface="Calibri"/>
            </a:endParaRPr>
          </a:p>
          <a:p>
            <a:pPr marL="800735" marR="4361180" indent="-254635">
              <a:lnSpc>
                <a:spcPct val="126000"/>
              </a:lnSpc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sudo</a:t>
            </a:r>
            <a:r>
              <a:rPr dirty="0" sz="100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dnf</a:t>
            </a:r>
            <a:r>
              <a:rPr dirty="0" sz="100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-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y</a:t>
            </a:r>
            <a:r>
              <a:rPr dirty="0" sz="100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install </a:t>
            </a:r>
            <a:r>
              <a:rPr dirty="0" sz="1000" spc="-50">
                <a:solidFill>
                  <a:srgbClr val="202429"/>
                </a:solidFill>
                <a:latin typeface="Calibri"/>
                <a:cs typeface="Calibri"/>
              </a:rPr>
              <a:t>\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 dunst</a:t>
            </a:r>
            <a:r>
              <a:rPr dirty="0" sz="100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alibri"/>
                <a:cs typeface="Calibri"/>
              </a:rPr>
              <a:t>\</a:t>
            </a:r>
            <a:endParaRPr sz="1000">
              <a:latin typeface="Calibri"/>
              <a:cs typeface="Calibri"/>
            </a:endParaRPr>
          </a:p>
          <a:p>
            <a:pPr marL="791210" marR="3958590" indent="54610">
              <a:lnSpc>
                <a:spcPts val="1510"/>
              </a:lnSpc>
              <a:spcBef>
                <a:spcPts val="90"/>
              </a:spcBef>
            </a:pP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fontawesome-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fonts</a:t>
            </a:r>
            <a:r>
              <a:rPr dirty="0" sz="1000" spc="8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alibri"/>
                <a:cs typeface="Calibri"/>
              </a:rPr>
              <a:t>\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 powerline-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fonts</a:t>
            </a:r>
            <a:r>
              <a:rPr dirty="0" sz="1000" spc="5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alibri"/>
                <a:cs typeface="Calibri"/>
              </a:rPr>
              <a:t>\</a:t>
            </a:r>
            <a:r>
              <a:rPr dirty="0" sz="1000" spc="50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light</a:t>
            </a:r>
            <a:r>
              <a:rPr dirty="0" sz="100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alibri"/>
                <a:cs typeface="Calibri"/>
              </a:rPr>
              <a:t>\</a:t>
            </a:r>
            <a:endParaRPr sz="1000">
              <a:latin typeface="Calibri"/>
              <a:cs typeface="Calibri"/>
            </a:endParaRPr>
          </a:p>
          <a:p>
            <a:pPr marL="798830">
              <a:lnSpc>
                <a:spcPct val="100000"/>
              </a:lnSpc>
              <a:spcBef>
                <a:spcPts val="204"/>
              </a:spcBef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fuzzel</a:t>
            </a:r>
            <a:r>
              <a:rPr dirty="0" sz="100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alibri"/>
                <a:cs typeface="Calibri"/>
              </a:rPr>
              <a:t>\</a:t>
            </a:r>
            <a:endParaRPr sz="1000">
              <a:latin typeface="Calibri"/>
              <a:cs typeface="Calibri"/>
            </a:endParaRPr>
          </a:p>
          <a:p>
            <a:pPr marL="788035" marR="4544060" indent="20955">
              <a:lnSpc>
                <a:spcPts val="1520"/>
              </a:lnSpc>
              <a:spcBef>
                <a:spcPts val="95"/>
              </a:spcBef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swaylock </a:t>
            </a:r>
            <a:r>
              <a:rPr dirty="0" sz="1000" spc="-50">
                <a:solidFill>
                  <a:srgbClr val="202429"/>
                </a:solidFill>
                <a:latin typeface="Calibri"/>
                <a:cs typeface="Calibri"/>
              </a:rPr>
              <a:t>\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 kitty </a:t>
            </a:r>
            <a:r>
              <a:rPr dirty="0" sz="1000" spc="-50">
                <a:solidFill>
                  <a:srgbClr val="202429"/>
                </a:solidFill>
                <a:latin typeface="Calibri"/>
                <a:cs typeface="Calibri"/>
              </a:rPr>
              <a:t>\</a:t>
            </a:r>
            <a:endParaRPr sz="1000">
              <a:latin typeface="Calibri"/>
              <a:cs typeface="Calibri"/>
            </a:endParaRPr>
          </a:p>
          <a:p>
            <a:pPr marL="834390">
              <a:lnSpc>
                <a:spcPct val="100000"/>
              </a:lnSpc>
              <a:spcBef>
                <a:spcPts val="190"/>
              </a:spcBef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waybar</a:t>
            </a:r>
            <a:r>
              <a:rPr dirty="0" sz="100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swaybg</a:t>
            </a:r>
            <a:r>
              <a:rPr dirty="0" sz="100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alibri"/>
                <a:cs typeface="Calibri"/>
              </a:rPr>
              <a:t>\</a:t>
            </a:r>
            <a:endParaRPr sz="1000">
              <a:latin typeface="Calibri"/>
              <a:cs typeface="Calibri"/>
            </a:endParaRPr>
          </a:p>
          <a:p>
            <a:pPr marL="794385" marR="4356735" indent="25400">
              <a:lnSpc>
                <a:spcPct val="126000"/>
              </a:lnSpc>
            </a:pP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wl-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clipboard</a:t>
            </a:r>
            <a:r>
              <a:rPr dirty="0" sz="1000" spc="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alibri"/>
                <a:cs typeface="Calibri"/>
              </a:rPr>
              <a:t>\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 mpv</a:t>
            </a:r>
            <a:r>
              <a:rPr dirty="0" sz="100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alibri"/>
                <a:cs typeface="Calibri"/>
              </a:rPr>
              <a:t>\</a:t>
            </a:r>
            <a:endParaRPr sz="1000">
              <a:latin typeface="Calibri"/>
              <a:cs typeface="Calibri"/>
            </a:endParaRPr>
          </a:p>
          <a:p>
            <a:pPr marL="797560" marR="4791075" indent="-1905">
              <a:lnSpc>
                <a:spcPts val="1510"/>
              </a:lnSpc>
              <a:spcBef>
                <a:spcPts val="95"/>
              </a:spcBef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grim</a:t>
            </a:r>
            <a:r>
              <a:rPr dirty="0" sz="100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alibri"/>
                <a:cs typeface="Calibri"/>
              </a:rPr>
              <a:t>\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 slurp</a:t>
            </a:r>
            <a:endParaRPr sz="1000">
              <a:latin typeface="Calibri"/>
              <a:cs typeface="Calibri"/>
            </a:endParaRPr>
          </a:p>
          <a:p>
            <a:pPr marL="575310">
              <a:lnSpc>
                <a:spcPct val="100000"/>
              </a:lnSpc>
              <a:spcBef>
                <a:spcPts val="209"/>
              </a:spcBef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Установите</a:t>
            </a:r>
            <a:r>
              <a:rPr dirty="0" sz="1050" spc="-4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шрифты: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50">
              <a:latin typeface="Calibri"/>
              <a:cs typeface="Calibri"/>
            </a:endParaRPr>
          </a:p>
          <a:p>
            <a:pPr marL="575310" marR="3291204" indent="43815">
              <a:lnSpc>
                <a:spcPct val="125000"/>
              </a:lnSpc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sudo</a:t>
            </a:r>
            <a:r>
              <a:rPr dirty="0" sz="100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dnf</a:t>
            </a:r>
            <a:r>
              <a:rPr dirty="0" sz="100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copr</a:t>
            </a:r>
            <a:r>
              <a:rPr dirty="0" sz="100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enable</a:t>
            </a:r>
            <a:r>
              <a:rPr dirty="0" sz="100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peterwu/iosevka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sudo</a:t>
            </a:r>
            <a:r>
              <a:rPr dirty="0" sz="100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dnf</a:t>
            </a:r>
            <a:r>
              <a:rPr dirty="0" sz="100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search</a:t>
            </a:r>
            <a:r>
              <a:rPr dirty="0" sz="100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iosevka</a:t>
            </a:r>
            <a:endParaRPr sz="1000">
              <a:latin typeface="Calibri"/>
              <a:cs typeface="Calibri"/>
            </a:endParaRPr>
          </a:p>
          <a:p>
            <a:pPr marL="469900" marR="5080">
              <a:lnSpc>
                <a:spcPct val="114999"/>
              </a:lnSpc>
              <a:spcBef>
                <a:spcPts val="120"/>
              </a:spcBef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sudo</a:t>
            </a:r>
            <a:r>
              <a:rPr dirty="0" sz="1000" spc="6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dnf</a:t>
            </a:r>
            <a:r>
              <a:rPr dirty="0" sz="1000" spc="4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install</a:t>
            </a:r>
            <a:r>
              <a:rPr dirty="0" sz="1000" spc="5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iosevka-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fonts</a:t>
            </a:r>
            <a:r>
              <a:rPr dirty="0" sz="1000" spc="5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iosevka-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aile-fonts</a:t>
            </a:r>
            <a:r>
              <a:rPr dirty="0" sz="1000" spc="7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iosevka-curly-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fonts</a:t>
            </a:r>
            <a:r>
              <a:rPr dirty="0" sz="1000" spc="6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iosevka-slab-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fonts</a:t>
            </a:r>
            <a:r>
              <a:rPr dirty="0" sz="1000" spc="6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iosevkaetoile-fonts iosevka-term-fonts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1350" spc="-10">
                <a:solidFill>
                  <a:srgbClr val="202429"/>
                </a:solidFill>
                <a:latin typeface="Calibri"/>
                <a:cs typeface="Calibri"/>
              </a:rPr>
              <a:t>Установка</a:t>
            </a:r>
            <a:endParaRPr sz="1350">
              <a:latin typeface="Calibri"/>
              <a:cs typeface="Calibri"/>
            </a:endParaRPr>
          </a:p>
          <a:p>
            <a:pPr marL="469900" marR="280670">
              <a:lnSpc>
                <a:spcPct val="113300"/>
              </a:lnSpc>
              <a:spcBef>
                <a:spcPts val="1235"/>
              </a:spcBef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Установка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бинарного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файла.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Скрипт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определяет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архитектуру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процессора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операционную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систему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</a:t>
            </a:r>
            <a:r>
              <a:rPr dirty="0" sz="105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скачивает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необходимый 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файл:</a:t>
            </a:r>
            <a:endParaRPr sz="1050">
              <a:latin typeface="Calibri"/>
              <a:cs typeface="Calibri"/>
            </a:endParaRPr>
          </a:p>
          <a:p>
            <a:pPr marL="935990" indent="-228600">
              <a:lnSpc>
                <a:spcPct val="100000"/>
              </a:lnSpc>
              <a:spcBef>
                <a:spcPts val="240"/>
              </a:spcBef>
              <a:buSzPct val="95238"/>
              <a:buFont typeface="Courier New"/>
              <a:buChar char="o"/>
              <a:tabLst>
                <a:tab pos="935990" algn="l"/>
              </a:tabLst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с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помощью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E83D8B"/>
                </a:solidFill>
                <a:latin typeface="Calibri"/>
                <a:cs typeface="Calibri"/>
              </a:rPr>
              <a:t>wget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:</a:t>
            </a:r>
            <a:endParaRPr sz="1050">
              <a:latin typeface="Calibri"/>
              <a:cs typeface="Calibri"/>
            </a:endParaRPr>
          </a:p>
          <a:p>
            <a:pPr marL="935990" indent="-228600">
              <a:lnSpc>
                <a:spcPct val="100000"/>
              </a:lnSpc>
              <a:spcBef>
                <a:spcPts val="229"/>
              </a:spcBef>
              <a:buFont typeface="Courier New"/>
              <a:buChar char="o"/>
              <a:tabLst>
                <a:tab pos="935990" algn="l"/>
              </a:tabLst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sh</a:t>
            </a:r>
            <a:r>
              <a:rPr dirty="0" sz="1000" spc="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-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c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"$(wget</a:t>
            </a:r>
            <a:r>
              <a:rPr dirty="0" sz="1000" spc="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-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qO-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chezmoi.io/get)"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350">
                <a:solidFill>
                  <a:srgbClr val="202429"/>
                </a:solidFill>
                <a:latin typeface="Calibri"/>
                <a:cs typeface="Calibri"/>
              </a:rPr>
              <a:t>Создание</a:t>
            </a:r>
            <a:r>
              <a:rPr dirty="0" sz="13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02429"/>
                </a:solidFill>
                <a:latin typeface="Calibri"/>
                <a:cs typeface="Calibri"/>
              </a:rPr>
              <a:t>собственного</a:t>
            </a:r>
            <a:r>
              <a:rPr dirty="0" sz="13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02429"/>
                </a:solidFill>
                <a:latin typeface="Calibri"/>
                <a:cs typeface="Calibri"/>
              </a:rPr>
              <a:t>репозитория </a:t>
            </a:r>
            <a:r>
              <a:rPr dirty="0" sz="1350">
                <a:solidFill>
                  <a:srgbClr val="202429"/>
                </a:solidFill>
                <a:latin typeface="Calibri"/>
                <a:cs typeface="Calibri"/>
              </a:rPr>
              <a:t>с</a:t>
            </a:r>
            <a:r>
              <a:rPr dirty="0" sz="13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02429"/>
                </a:solidFill>
                <a:latin typeface="Calibri"/>
                <a:cs typeface="Calibri"/>
              </a:rPr>
              <a:t>помощью</a:t>
            </a:r>
            <a:r>
              <a:rPr dirty="0" sz="1350" spc="-10">
                <a:solidFill>
                  <a:srgbClr val="202429"/>
                </a:solidFill>
                <a:latin typeface="Calibri"/>
                <a:cs typeface="Calibri"/>
              </a:rPr>
              <a:t> утилит</a:t>
            </a:r>
            <a:endParaRPr sz="1350">
              <a:latin typeface="Calibri"/>
              <a:cs typeface="Calibri"/>
            </a:endParaRPr>
          </a:p>
          <a:p>
            <a:pPr marL="763905">
              <a:lnSpc>
                <a:spcPct val="100000"/>
              </a:lnSpc>
              <a:spcBef>
                <a:spcPts val="1395"/>
              </a:spcBef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Будем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использовать</a:t>
            </a:r>
            <a:r>
              <a:rPr dirty="0" sz="1050" spc="-4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утилиты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командной</a:t>
            </a:r>
            <a:r>
              <a:rPr dirty="0" sz="10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строки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для</a:t>
            </a:r>
            <a:r>
              <a:rPr dirty="0" sz="10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работы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с</a:t>
            </a:r>
            <a:r>
              <a:rPr dirty="0" sz="10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github.</a:t>
            </a:r>
            <a:endParaRPr sz="1050">
              <a:latin typeface="Calibri"/>
              <a:cs typeface="Calibri"/>
            </a:endParaRPr>
          </a:p>
          <a:p>
            <a:pPr marL="828040">
              <a:lnSpc>
                <a:spcPct val="100000"/>
              </a:lnSpc>
              <a:spcBef>
                <a:spcPts val="240"/>
              </a:spcBef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Создадим</a:t>
            </a:r>
            <a:r>
              <a:rPr dirty="0" sz="105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свой</a:t>
            </a:r>
            <a:r>
              <a:rPr dirty="0" sz="105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репозиторий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для</a:t>
            </a:r>
            <a:r>
              <a:rPr dirty="0" sz="105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конфигурационных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файлов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на</a:t>
            </a:r>
            <a:r>
              <a:rPr dirty="0" sz="105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основе</a:t>
            </a:r>
            <a:r>
              <a:rPr dirty="0" sz="105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шаблона: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050">
              <a:latin typeface="Calibri"/>
              <a:cs typeface="Calibri"/>
            </a:endParaRPr>
          </a:p>
          <a:p>
            <a:pPr marL="478790">
              <a:lnSpc>
                <a:spcPct val="100000"/>
              </a:lnSpc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gh</a:t>
            </a:r>
            <a:r>
              <a:rPr dirty="0" sz="1000" spc="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repo</a:t>
            </a:r>
            <a:r>
              <a:rPr dirty="0" sz="1000" spc="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create</a:t>
            </a:r>
            <a:r>
              <a:rPr dirty="0" sz="1000" spc="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dotfiles</a:t>
            </a:r>
            <a:r>
              <a:rPr dirty="0" sz="1000" spc="5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--template="yamadharma/dotfiles-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template"</a:t>
            </a:r>
            <a:r>
              <a:rPr dirty="0" sz="1000" spc="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-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-private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350" spc="-10">
                <a:solidFill>
                  <a:srgbClr val="202429"/>
                </a:solidFill>
                <a:latin typeface="Calibri"/>
                <a:cs typeface="Calibri"/>
              </a:rPr>
              <a:t>Подключение</a:t>
            </a:r>
            <a:r>
              <a:rPr dirty="0" sz="135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02429"/>
                </a:solidFill>
                <a:latin typeface="Calibri"/>
                <a:cs typeface="Calibri"/>
              </a:rPr>
              <a:t>репозитория</a:t>
            </a:r>
            <a:r>
              <a:rPr dirty="0" sz="1350" spc="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02429"/>
                </a:solidFill>
                <a:latin typeface="Calibri"/>
                <a:cs typeface="Calibri"/>
              </a:rPr>
              <a:t>к</a:t>
            </a:r>
            <a:r>
              <a:rPr dirty="0" sz="1350" spc="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02429"/>
                </a:solidFill>
                <a:latin typeface="Calibri"/>
                <a:cs typeface="Calibri"/>
              </a:rPr>
              <a:t>своей</a:t>
            </a:r>
            <a:r>
              <a:rPr dirty="0" sz="135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02429"/>
                </a:solidFill>
                <a:latin typeface="Calibri"/>
                <a:cs typeface="Calibri"/>
              </a:rPr>
              <a:t>системе</a:t>
            </a:r>
            <a:endParaRPr sz="1350">
              <a:latin typeface="Calibri"/>
              <a:cs typeface="Calibri"/>
            </a:endParaRPr>
          </a:p>
          <a:p>
            <a:pPr marL="727710">
              <a:lnSpc>
                <a:spcPct val="100000"/>
              </a:lnSpc>
              <a:spcBef>
                <a:spcPts val="1395"/>
              </a:spcBef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Инициализируйте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83D8B"/>
                </a:solidFill>
                <a:latin typeface="Calibri"/>
                <a:cs typeface="Calibri"/>
              </a:rPr>
              <a:t>chezmoi</a:t>
            </a:r>
            <a:r>
              <a:rPr dirty="0" sz="900" spc="-20">
                <a:solidFill>
                  <a:srgbClr val="E83D8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с</a:t>
            </a:r>
            <a:r>
              <a:rPr dirty="0" sz="1050" spc="-4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вашим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репозиторием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alibri"/>
                <a:cs typeface="Calibri"/>
              </a:rPr>
              <a:t>dotfiles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:</a:t>
            </a:r>
            <a:endParaRPr sz="1050">
              <a:latin typeface="Calibri"/>
              <a:cs typeface="Calibri"/>
            </a:endParaRPr>
          </a:p>
          <a:p>
            <a:pPr marL="658495">
              <a:lnSpc>
                <a:spcPct val="100000"/>
              </a:lnSpc>
              <a:spcBef>
                <a:spcPts val="240"/>
              </a:spcBef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chezmoi</a:t>
            </a:r>
            <a:r>
              <a:rPr dirty="0" sz="100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init</a:t>
            </a:r>
            <a:r>
              <a:rPr dirty="0" sz="100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  <a:hlinkClick r:id="rId3"/>
              </a:rPr>
              <a:t>git@github.com: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&lt;username&gt;/dotfiles.git</a:t>
            </a:r>
            <a:endParaRPr sz="1000">
              <a:latin typeface="Calibri"/>
              <a:cs typeface="Calibri"/>
            </a:endParaRPr>
          </a:p>
          <a:p>
            <a:pPr marL="803910">
              <a:lnSpc>
                <a:spcPct val="100000"/>
              </a:lnSpc>
              <a:spcBef>
                <a:spcPts val="300"/>
              </a:spcBef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Проверьте,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какие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изменения</a:t>
            </a:r>
            <a:r>
              <a:rPr dirty="0" sz="10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внесёт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83D8B"/>
                </a:solidFill>
                <a:latin typeface="Calibri"/>
                <a:cs typeface="Calibri"/>
              </a:rPr>
              <a:t>chezmoi</a:t>
            </a:r>
            <a:r>
              <a:rPr dirty="0" sz="900" spc="-20">
                <a:solidFill>
                  <a:srgbClr val="E83D8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</a:t>
            </a:r>
            <a:r>
              <a:rPr dirty="0" sz="10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домашний</a:t>
            </a:r>
            <a:r>
              <a:rPr dirty="0" sz="10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каталог,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запустив:</a:t>
            </a:r>
            <a:endParaRPr sz="1050">
              <a:latin typeface="Calibri"/>
              <a:cs typeface="Calibri"/>
            </a:endParaRPr>
          </a:p>
          <a:p>
            <a:pPr marL="524510">
              <a:lnSpc>
                <a:spcPct val="100000"/>
              </a:lnSpc>
              <a:spcBef>
                <a:spcPts val="240"/>
              </a:spcBef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chezmoi</a:t>
            </a:r>
            <a:r>
              <a:rPr dirty="0" sz="1000" spc="-4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alibri"/>
                <a:cs typeface="Calibri"/>
              </a:rPr>
              <a:t>diff</a:t>
            </a:r>
            <a:endParaRPr sz="1000">
              <a:latin typeface="Calibri"/>
              <a:cs typeface="Calibri"/>
            </a:endParaRPr>
          </a:p>
          <a:p>
            <a:pPr marL="247650" marR="1440815" indent="86360">
              <a:lnSpc>
                <a:spcPct val="114399"/>
              </a:lnSpc>
              <a:spcBef>
                <a:spcPts val="114"/>
              </a:spcBef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Если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вас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устраивают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изменения,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внесённые </a:t>
            </a:r>
            <a:r>
              <a:rPr dirty="0" sz="900">
                <a:solidFill>
                  <a:srgbClr val="E83D8B"/>
                </a:solidFill>
                <a:latin typeface="Calibri"/>
                <a:cs typeface="Calibri"/>
              </a:rPr>
              <a:t>chezmoi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,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запустите:</a:t>
            </a:r>
            <a:r>
              <a:rPr dirty="0" sz="1050" spc="225">
                <a:solidFill>
                  <a:srgbClr val="202429"/>
                </a:solidFill>
                <a:latin typeface="Calibri"/>
                <a:cs typeface="Calibri"/>
              </a:rPr>
              <a:t> 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chezmoi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apply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-</a:t>
            </a:r>
            <a:r>
              <a:rPr dirty="0" sz="1000" spc="-50">
                <a:solidFill>
                  <a:srgbClr val="202429"/>
                </a:solidFill>
                <a:latin typeface="Calibri"/>
                <a:cs typeface="Calibri"/>
              </a:rPr>
              <a:t>v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39088" y="1149349"/>
            <a:ext cx="131445" cy="2059305"/>
            <a:chOff x="939088" y="1149349"/>
            <a:chExt cx="131445" cy="205930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1149349"/>
              <a:ext cx="128015" cy="153924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1333753"/>
              <a:ext cx="128015" cy="15392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1530349"/>
              <a:ext cx="128015" cy="15392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1714753"/>
              <a:ext cx="128015" cy="15392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1911349"/>
              <a:ext cx="128015" cy="15392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2095753"/>
              <a:ext cx="128015" cy="15392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2292349"/>
              <a:ext cx="128015" cy="15392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2476753"/>
              <a:ext cx="128015" cy="15392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2673349"/>
              <a:ext cx="128015" cy="15392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2857753"/>
              <a:ext cx="128015" cy="15392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9088" y="3054349"/>
              <a:ext cx="128015" cy="153924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939088" y="3420490"/>
            <a:ext cx="131445" cy="352425"/>
            <a:chOff x="939088" y="3420490"/>
            <a:chExt cx="131445" cy="352425"/>
          </a:xfrm>
        </p:grpSpPr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3420490"/>
              <a:ext cx="128015" cy="15392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9088" y="3618610"/>
              <a:ext cx="128015" cy="153924"/>
            </a:xfrm>
            <a:prstGeom prst="rect">
              <a:avLst/>
            </a:prstGeom>
          </p:spPr>
        </p:pic>
      </p:grpSp>
      <p:pic>
        <p:nvPicPr>
          <p:cNvPr id="17" name="object 1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136" y="3984370"/>
            <a:ext cx="128015" cy="153924"/>
          </a:xfrm>
          <a:prstGeom prst="rect">
            <a:avLst/>
          </a:prstGeom>
        </p:spPr>
      </p:pic>
      <p:grpSp>
        <p:nvGrpSpPr>
          <p:cNvPr id="18" name="object 18" descr=""/>
          <p:cNvGrpSpPr/>
          <p:nvPr/>
        </p:nvGrpSpPr>
        <p:grpSpPr>
          <a:xfrm>
            <a:off x="942136" y="4597018"/>
            <a:ext cx="128270" cy="716280"/>
            <a:chOff x="942136" y="4597018"/>
            <a:chExt cx="128270" cy="716280"/>
          </a:xfrm>
        </p:grpSpPr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4597018"/>
              <a:ext cx="128015" cy="153924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4779898"/>
              <a:ext cx="128015" cy="153924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4978018"/>
              <a:ext cx="128015" cy="153924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136" y="5159374"/>
              <a:ext cx="128015" cy="153924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697483" y="740155"/>
            <a:ext cx="6096000" cy="88214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0">
                <a:solidFill>
                  <a:srgbClr val="202429"/>
                </a:solidFill>
                <a:latin typeface="Calibri"/>
                <a:cs typeface="Calibri"/>
              </a:rPr>
              <a:t>Использование</a:t>
            </a:r>
            <a:r>
              <a:rPr dirty="0" sz="13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02429"/>
                </a:solidFill>
                <a:latin typeface="Calibri"/>
                <a:cs typeface="Calibri"/>
              </a:rPr>
              <a:t>chezmoi</a:t>
            </a:r>
            <a:r>
              <a:rPr dirty="0" sz="13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02429"/>
                </a:solidFill>
                <a:latin typeface="Calibri"/>
                <a:cs typeface="Calibri"/>
              </a:rPr>
              <a:t>на</a:t>
            </a:r>
            <a:r>
              <a:rPr dirty="0" sz="13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02429"/>
                </a:solidFill>
                <a:latin typeface="Calibri"/>
                <a:cs typeface="Calibri"/>
              </a:rPr>
              <a:t>нескольких</a:t>
            </a:r>
            <a:r>
              <a:rPr dirty="0" sz="13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02429"/>
                </a:solidFill>
                <a:latin typeface="Calibri"/>
                <a:cs typeface="Calibri"/>
              </a:rPr>
              <a:t>машинах</a:t>
            </a:r>
            <a:endParaRPr sz="1350">
              <a:latin typeface="Calibri"/>
              <a:cs typeface="Calibri"/>
            </a:endParaRPr>
          </a:p>
          <a:p>
            <a:pPr marL="814069">
              <a:lnSpc>
                <a:spcPct val="100000"/>
              </a:lnSpc>
              <a:spcBef>
                <a:spcPts val="1395"/>
              </a:spcBef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На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второй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машине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инициализируйте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83D8B"/>
                </a:solidFill>
                <a:latin typeface="Calibri"/>
                <a:cs typeface="Calibri"/>
              </a:rPr>
              <a:t>chezmoi</a:t>
            </a:r>
            <a:r>
              <a:rPr dirty="0" sz="900" spc="-15">
                <a:solidFill>
                  <a:srgbClr val="E83D8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с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вашим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репозиторием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alibri"/>
                <a:cs typeface="Calibri"/>
              </a:rPr>
              <a:t>dotfiles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:</a:t>
            </a:r>
            <a:endParaRPr sz="1050">
              <a:latin typeface="Calibri"/>
              <a:cs typeface="Calibri"/>
            </a:endParaRPr>
          </a:p>
          <a:p>
            <a:pPr marL="666750">
              <a:lnSpc>
                <a:spcPct val="100000"/>
              </a:lnSpc>
              <a:spcBef>
                <a:spcPts val="240"/>
              </a:spcBef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chezmoi</a:t>
            </a:r>
            <a:r>
              <a:rPr dirty="0" sz="100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init</a:t>
            </a:r>
            <a:r>
              <a:rPr dirty="0" sz="100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https://github.com/&lt;username&gt;/dotfiles.git</a:t>
            </a:r>
            <a:endParaRPr sz="1000">
              <a:latin typeface="Calibri"/>
              <a:cs typeface="Calibri"/>
            </a:endParaRPr>
          </a:p>
          <a:p>
            <a:pPr marL="547370">
              <a:lnSpc>
                <a:spcPct val="100000"/>
              </a:lnSpc>
              <a:spcBef>
                <a:spcPts val="300"/>
              </a:spcBef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Или</a:t>
            </a:r>
            <a:r>
              <a:rPr dirty="0" sz="105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через</a:t>
            </a:r>
            <a:r>
              <a:rPr dirty="0" sz="105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ssh:</a:t>
            </a:r>
            <a:endParaRPr sz="1050">
              <a:latin typeface="Calibri"/>
              <a:cs typeface="Calibri"/>
            </a:endParaRPr>
          </a:p>
          <a:p>
            <a:pPr marL="658495">
              <a:lnSpc>
                <a:spcPct val="100000"/>
              </a:lnSpc>
              <a:spcBef>
                <a:spcPts val="240"/>
              </a:spcBef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chezmoi</a:t>
            </a:r>
            <a:r>
              <a:rPr dirty="0" sz="100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init</a:t>
            </a:r>
            <a:r>
              <a:rPr dirty="0" sz="100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  <a:hlinkClick r:id="rId3"/>
              </a:rPr>
              <a:t>git@github.com: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&lt;username&gt;/dotfiles.git</a:t>
            </a:r>
            <a:endParaRPr sz="1000">
              <a:latin typeface="Calibri"/>
              <a:cs typeface="Calibri"/>
            </a:endParaRPr>
          </a:p>
          <a:p>
            <a:pPr marL="803910">
              <a:lnSpc>
                <a:spcPct val="100000"/>
              </a:lnSpc>
              <a:spcBef>
                <a:spcPts val="300"/>
              </a:spcBef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Проверьте,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какие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изменения</a:t>
            </a:r>
            <a:r>
              <a:rPr dirty="0" sz="10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внесёт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83D8B"/>
                </a:solidFill>
                <a:latin typeface="Calibri"/>
                <a:cs typeface="Calibri"/>
              </a:rPr>
              <a:t>chezmoi</a:t>
            </a:r>
            <a:r>
              <a:rPr dirty="0" sz="900" spc="-20">
                <a:solidFill>
                  <a:srgbClr val="E83D8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</a:t>
            </a:r>
            <a:r>
              <a:rPr dirty="0" sz="10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домашний</a:t>
            </a:r>
            <a:r>
              <a:rPr dirty="0" sz="10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каталог,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запустив:</a:t>
            </a:r>
            <a:endParaRPr sz="1050">
              <a:latin typeface="Calibri"/>
              <a:cs typeface="Calibri"/>
            </a:endParaRPr>
          </a:p>
          <a:p>
            <a:pPr marL="524510">
              <a:lnSpc>
                <a:spcPct val="100000"/>
              </a:lnSpc>
              <a:spcBef>
                <a:spcPts val="240"/>
              </a:spcBef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chezmoi</a:t>
            </a:r>
            <a:r>
              <a:rPr dirty="0" sz="1000" spc="-4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alibri"/>
                <a:cs typeface="Calibri"/>
              </a:rPr>
              <a:t>diff</a:t>
            </a:r>
            <a:endParaRPr sz="1000">
              <a:latin typeface="Calibri"/>
              <a:cs typeface="Calibri"/>
            </a:endParaRPr>
          </a:p>
          <a:p>
            <a:pPr marL="747395">
              <a:lnSpc>
                <a:spcPct val="100000"/>
              </a:lnSpc>
              <a:spcBef>
                <a:spcPts val="300"/>
              </a:spcBef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Если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вас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устраивают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изменения,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внесённые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83D8B"/>
                </a:solidFill>
                <a:latin typeface="Calibri"/>
                <a:cs typeface="Calibri"/>
              </a:rPr>
              <a:t>chezmoi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,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запустите:</a:t>
            </a:r>
            <a:endParaRPr sz="1050">
              <a:latin typeface="Calibri"/>
              <a:cs typeface="Calibri"/>
            </a:endParaRPr>
          </a:p>
          <a:p>
            <a:pPr marL="539750">
              <a:lnSpc>
                <a:spcPct val="100000"/>
              </a:lnSpc>
              <a:spcBef>
                <a:spcPts val="240"/>
              </a:spcBef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chezmoi</a:t>
            </a:r>
            <a:r>
              <a:rPr dirty="0" sz="100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apply</a:t>
            </a:r>
            <a:r>
              <a:rPr dirty="0" sz="100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-</a:t>
            </a:r>
            <a:r>
              <a:rPr dirty="0" sz="1000" spc="-50">
                <a:solidFill>
                  <a:srgbClr val="202429"/>
                </a:solidFill>
                <a:latin typeface="Calibri"/>
                <a:cs typeface="Calibri"/>
              </a:rPr>
              <a:t>v</a:t>
            </a:r>
            <a:endParaRPr sz="1000">
              <a:latin typeface="Calibri"/>
              <a:cs typeface="Calibri"/>
            </a:endParaRPr>
          </a:p>
          <a:p>
            <a:pPr marL="806450">
              <a:lnSpc>
                <a:spcPct val="100000"/>
              </a:lnSpc>
              <a:spcBef>
                <a:spcPts val="300"/>
              </a:spcBef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Если</a:t>
            </a:r>
            <a:r>
              <a:rPr dirty="0" sz="105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вас не</a:t>
            </a:r>
            <a:r>
              <a:rPr dirty="0" sz="1050" spc="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устраивают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изменения в</a:t>
            </a:r>
            <a:r>
              <a:rPr dirty="0" sz="1050" spc="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файле,</a:t>
            </a:r>
            <a:r>
              <a:rPr dirty="0" sz="1050" spc="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отредактируйте</a:t>
            </a:r>
            <a:r>
              <a:rPr dirty="0" sz="105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его</a:t>
            </a:r>
            <a:r>
              <a:rPr dirty="0" sz="1050" spc="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с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помощью:</a:t>
            </a:r>
            <a:endParaRPr sz="1050">
              <a:latin typeface="Calibri"/>
              <a:cs typeface="Calibri"/>
            </a:endParaRPr>
          </a:p>
          <a:p>
            <a:pPr marL="556895">
              <a:lnSpc>
                <a:spcPct val="100000"/>
              </a:lnSpc>
              <a:spcBef>
                <a:spcPts val="240"/>
              </a:spcBef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chezmoi</a:t>
            </a:r>
            <a:r>
              <a:rPr dirty="0" sz="1000" spc="-4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edit</a:t>
            </a:r>
            <a:r>
              <a:rPr dirty="0" sz="100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file_name</a:t>
            </a:r>
            <a:endParaRPr sz="1000">
              <a:latin typeface="Calibri"/>
              <a:cs typeface="Calibri"/>
            </a:endParaRPr>
          </a:p>
          <a:p>
            <a:pPr marL="469900" marR="449580">
              <a:lnSpc>
                <a:spcPct val="114300"/>
              </a:lnSpc>
              <a:spcBef>
                <a:spcPts val="120"/>
              </a:spcBef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Также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можно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вызвать</a:t>
            </a:r>
            <a:r>
              <a:rPr dirty="0" sz="1050" spc="-4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инструмент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слияния,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чтобы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объединить</a:t>
            </a:r>
            <a:r>
              <a:rPr dirty="0" sz="10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изменения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между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текущим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содержимым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файла,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файлом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вашей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рабочей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копии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измененным</a:t>
            </a:r>
            <a:r>
              <a:rPr dirty="0" sz="105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содержимым файла:</a:t>
            </a:r>
            <a:endParaRPr sz="1050">
              <a:latin typeface="Calibri"/>
              <a:cs typeface="Calibri"/>
            </a:endParaRPr>
          </a:p>
          <a:p>
            <a:pPr marL="568960">
              <a:lnSpc>
                <a:spcPct val="100000"/>
              </a:lnSpc>
              <a:spcBef>
                <a:spcPts val="229"/>
              </a:spcBef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chezmoi</a:t>
            </a:r>
            <a:r>
              <a:rPr dirty="0" sz="100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merge</a:t>
            </a:r>
            <a:r>
              <a:rPr dirty="0" sz="1000" spc="-4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file_name</a:t>
            </a:r>
            <a:endParaRPr sz="1000">
              <a:latin typeface="Calibri"/>
              <a:cs typeface="Calibri"/>
            </a:endParaRPr>
          </a:p>
          <a:p>
            <a:pPr marL="469900" marR="363220">
              <a:lnSpc>
                <a:spcPct val="114300"/>
              </a:lnSpc>
              <a:spcBef>
                <a:spcPts val="130"/>
              </a:spcBef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При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существующем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каталоге</a:t>
            </a:r>
            <a:r>
              <a:rPr dirty="0" sz="105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83D8B"/>
                </a:solidFill>
                <a:latin typeface="Calibri"/>
                <a:cs typeface="Calibri"/>
              </a:rPr>
              <a:t>chezmoi</a:t>
            </a:r>
            <a:r>
              <a:rPr dirty="0" sz="900" spc="-25">
                <a:solidFill>
                  <a:srgbClr val="E83D8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можно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получить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применить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последние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изменения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из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вашего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репозитория:</a:t>
            </a:r>
            <a:endParaRPr sz="1050">
              <a:latin typeface="Calibri"/>
              <a:cs typeface="Calibri"/>
            </a:endParaRPr>
          </a:p>
          <a:p>
            <a:pPr marL="546100">
              <a:lnSpc>
                <a:spcPct val="100000"/>
              </a:lnSpc>
              <a:spcBef>
                <a:spcPts val="229"/>
              </a:spcBef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chezmoi</a:t>
            </a:r>
            <a:r>
              <a:rPr dirty="0" sz="100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update</a:t>
            </a:r>
            <a:r>
              <a:rPr dirty="0" sz="100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-</a:t>
            </a:r>
            <a:r>
              <a:rPr dirty="0" sz="1000" spc="-50">
                <a:solidFill>
                  <a:srgbClr val="202429"/>
                </a:solidFill>
                <a:latin typeface="Calibri"/>
                <a:cs typeface="Calibri"/>
              </a:rPr>
              <a:t>v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1350">
                <a:solidFill>
                  <a:srgbClr val="202429"/>
                </a:solidFill>
                <a:latin typeface="Calibri"/>
                <a:cs typeface="Calibri"/>
              </a:rPr>
              <a:t>Настройка</a:t>
            </a:r>
            <a:r>
              <a:rPr dirty="0" sz="13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02429"/>
                </a:solidFill>
                <a:latin typeface="Calibri"/>
                <a:cs typeface="Calibri"/>
              </a:rPr>
              <a:t>новой</a:t>
            </a:r>
            <a:r>
              <a:rPr dirty="0" sz="13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02429"/>
                </a:solidFill>
                <a:latin typeface="Calibri"/>
                <a:cs typeface="Calibri"/>
              </a:rPr>
              <a:t>машины</a:t>
            </a:r>
            <a:r>
              <a:rPr dirty="0" sz="13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02429"/>
                </a:solidFill>
                <a:latin typeface="Calibri"/>
                <a:cs typeface="Calibri"/>
              </a:rPr>
              <a:t>с</a:t>
            </a:r>
            <a:r>
              <a:rPr dirty="0" sz="1350" spc="-4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02429"/>
                </a:solidFill>
                <a:latin typeface="Calibri"/>
                <a:cs typeface="Calibri"/>
              </a:rPr>
              <a:t>помощью</a:t>
            </a:r>
            <a:r>
              <a:rPr dirty="0" sz="1350" spc="-4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02429"/>
                </a:solidFill>
                <a:latin typeface="Calibri"/>
                <a:cs typeface="Calibri"/>
              </a:rPr>
              <a:t>одной</a:t>
            </a:r>
            <a:r>
              <a:rPr dirty="0" sz="13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350" spc="-10">
                <a:solidFill>
                  <a:srgbClr val="202429"/>
                </a:solidFill>
                <a:latin typeface="Calibri"/>
                <a:cs typeface="Calibri"/>
              </a:rPr>
              <a:t>команды</a:t>
            </a:r>
            <a:endParaRPr sz="1350">
              <a:latin typeface="Calibri"/>
              <a:cs typeface="Calibri"/>
            </a:endParaRPr>
          </a:p>
          <a:p>
            <a:pPr algn="ctr" marL="172085">
              <a:lnSpc>
                <a:spcPct val="100000"/>
              </a:lnSpc>
              <a:spcBef>
                <a:spcPts val="1405"/>
              </a:spcBef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Можно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установить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свои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alibri"/>
                <a:cs typeface="Calibri"/>
              </a:rPr>
              <a:t>dotfiles</a:t>
            </a:r>
            <a:r>
              <a:rPr dirty="0" sz="900" spc="-20">
                <a:solidFill>
                  <a:srgbClr val="E83D8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на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новый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компьютер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с</a:t>
            </a:r>
            <a:r>
              <a:rPr dirty="0" sz="1050" spc="-4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помощью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одной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команды:</a:t>
            </a:r>
            <a:endParaRPr sz="1050">
              <a:latin typeface="Calibri"/>
              <a:cs typeface="Calibri"/>
            </a:endParaRPr>
          </a:p>
          <a:p>
            <a:pPr algn="ctr" marR="1388745">
              <a:lnSpc>
                <a:spcPct val="100000"/>
              </a:lnSpc>
              <a:spcBef>
                <a:spcPts val="229"/>
              </a:spcBef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chezmoi</a:t>
            </a:r>
            <a:r>
              <a:rPr dirty="0" sz="100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init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-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-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apply</a:t>
            </a:r>
            <a:r>
              <a:rPr dirty="0" sz="100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https://github.com/&lt;username&gt;/dotfiles.git</a:t>
            </a:r>
            <a:endParaRPr sz="1000">
              <a:latin typeface="Calibri"/>
              <a:cs typeface="Calibri"/>
            </a:endParaRPr>
          </a:p>
          <a:p>
            <a:pPr algn="ctr" marR="4460240">
              <a:lnSpc>
                <a:spcPct val="100000"/>
              </a:lnSpc>
              <a:spcBef>
                <a:spcPts val="310"/>
              </a:spcBef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Через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ssh:</a:t>
            </a:r>
            <a:endParaRPr sz="1050">
              <a:latin typeface="Calibri"/>
              <a:cs typeface="Calibri"/>
            </a:endParaRPr>
          </a:p>
          <a:p>
            <a:pPr algn="ctr" marR="1575435">
              <a:lnSpc>
                <a:spcPct val="100000"/>
              </a:lnSpc>
              <a:spcBef>
                <a:spcPts val="219"/>
              </a:spcBef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chezmoi</a:t>
            </a:r>
            <a:r>
              <a:rPr dirty="0" sz="100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init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-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-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apply</a:t>
            </a:r>
            <a:r>
              <a:rPr dirty="0" sz="100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  <a:hlinkClick r:id="rId3"/>
              </a:rPr>
              <a:t>git@github.com: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&lt;username&gt;/dotfiles.git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1350">
                <a:solidFill>
                  <a:srgbClr val="202429"/>
                </a:solidFill>
                <a:latin typeface="Calibri"/>
                <a:cs typeface="Calibri"/>
              </a:rPr>
              <a:t>Ежедневные</a:t>
            </a:r>
            <a:r>
              <a:rPr dirty="0" sz="1350" spc="-4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02429"/>
                </a:solidFill>
                <a:latin typeface="Calibri"/>
                <a:cs typeface="Calibri"/>
              </a:rPr>
              <a:t>операции</a:t>
            </a:r>
            <a:r>
              <a:rPr dirty="0" sz="13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350">
                <a:solidFill>
                  <a:srgbClr val="202429"/>
                </a:solidFill>
                <a:latin typeface="Calibri"/>
                <a:cs typeface="Calibri"/>
              </a:rPr>
              <a:t>c</a:t>
            </a:r>
            <a:r>
              <a:rPr dirty="0" sz="13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450" spc="-10">
                <a:solidFill>
                  <a:srgbClr val="E83D8B"/>
                </a:solidFill>
                <a:latin typeface="Calibri"/>
                <a:cs typeface="Calibri"/>
              </a:rPr>
              <a:t>chezmoi</a:t>
            </a:r>
            <a:endParaRPr sz="1450">
              <a:latin typeface="Calibri"/>
              <a:cs typeface="Calibri"/>
            </a:endParaRPr>
          </a:p>
          <a:p>
            <a:pPr marL="468630" marR="794385" indent="-227329">
              <a:lnSpc>
                <a:spcPct val="116199"/>
              </a:lnSpc>
              <a:spcBef>
                <a:spcPts val="1205"/>
              </a:spcBef>
              <a:buAutoNum type="arabicPeriod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Извлеките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последние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изменения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из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репозитория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примените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их</a:t>
            </a:r>
            <a:r>
              <a:rPr dirty="0" sz="105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r>
              <a:rPr dirty="0" sz="1000" spc="-45">
                <a:solidFill>
                  <a:srgbClr val="202429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Можно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извлечь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	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изменения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из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репозитория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применить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их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одной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командой:</a:t>
            </a:r>
            <a:endParaRPr sz="1050">
              <a:latin typeface="Calibri"/>
              <a:cs typeface="Calibri"/>
            </a:endParaRPr>
          </a:p>
          <a:p>
            <a:pPr lvl="1" marL="935990" indent="-228600">
              <a:lnSpc>
                <a:spcPct val="100000"/>
              </a:lnSpc>
              <a:spcBef>
                <a:spcPts val="229"/>
              </a:spcBef>
              <a:buFont typeface="Courier New"/>
              <a:buChar char="o"/>
              <a:tabLst>
                <a:tab pos="935990" algn="l"/>
              </a:tabLst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chezmoi</a:t>
            </a:r>
            <a:r>
              <a:rPr dirty="0" sz="1000" spc="-4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update</a:t>
            </a:r>
            <a:endParaRPr sz="1000">
              <a:latin typeface="Calibri"/>
              <a:cs typeface="Calibri"/>
            </a:endParaRPr>
          </a:p>
          <a:p>
            <a:pPr lvl="1" marL="935990" indent="-228600">
              <a:lnSpc>
                <a:spcPct val="100000"/>
              </a:lnSpc>
              <a:spcBef>
                <a:spcPts val="310"/>
              </a:spcBef>
              <a:buSzPct val="95238"/>
              <a:buFont typeface="Courier New"/>
              <a:buChar char="o"/>
              <a:tabLst>
                <a:tab pos="935990" algn="l"/>
              </a:tabLst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Это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запускается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83D8B"/>
                </a:solidFill>
                <a:latin typeface="Calibri"/>
                <a:cs typeface="Calibri"/>
              </a:rPr>
              <a:t>git</a:t>
            </a:r>
            <a:r>
              <a:rPr dirty="0" sz="900" spc="-20">
                <a:solidFill>
                  <a:srgbClr val="E83D8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83D8B"/>
                </a:solidFill>
                <a:latin typeface="Calibri"/>
                <a:cs typeface="Calibri"/>
              </a:rPr>
              <a:t>pull</a:t>
            </a:r>
            <a:r>
              <a:rPr dirty="0" sz="900" spc="-25">
                <a:solidFill>
                  <a:srgbClr val="E83D8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83D8B"/>
                </a:solidFill>
                <a:latin typeface="Calibri"/>
                <a:cs typeface="Calibri"/>
              </a:rPr>
              <a:t>--autostash</a:t>
            </a:r>
            <a:r>
              <a:rPr dirty="0" sz="900" spc="-25">
                <a:solidFill>
                  <a:srgbClr val="E83D8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83D8B"/>
                </a:solidFill>
                <a:latin typeface="Calibri"/>
                <a:cs typeface="Calibri"/>
              </a:rPr>
              <a:t>--rebase</a:t>
            </a:r>
            <a:r>
              <a:rPr dirty="0" sz="900" spc="-25">
                <a:solidFill>
                  <a:srgbClr val="E83D8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вашем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исходном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каталоге,</a:t>
            </a:r>
            <a:r>
              <a:rPr dirty="0" sz="10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а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затем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83D8B"/>
                </a:solidFill>
                <a:latin typeface="Calibri"/>
                <a:cs typeface="Calibri"/>
              </a:rPr>
              <a:t>chezmoi</a:t>
            </a:r>
            <a:r>
              <a:rPr dirty="0" sz="900" spc="-25">
                <a:solidFill>
                  <a:srgbClr val="E83D8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alibri"/>
                <a:cs typeface="Calibri"/>
              </a:rPr>
              <a:t>apply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 marL="468630" marR="685165" indent="-227329">
              <a:lnSpc>
                <a:spcPct val="114300"/>
              </a:lnSpc>
              <a:spcBef>
                <a:spcPts val="155"/>
              </a:spcBef>
              <a:buAutoNum type="arabicPeriod"/>
              <a:tabLst>
                <a:tab pos="469900" algn="l"/>
              </a:tabLst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Извлеките</a:t>
            </a:r>
            <a:r>
              <a:rPr dirty="0" sz="10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последние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изменения</a:t>
            </a:r>
            <a:r>
              <a:rPr dirty="0" sz="10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из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своего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репозитория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</a:t>
            </a:r>
            <a:r>
              <a:rPr dirty="0" sz="10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посмотрите,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что</a:t>
            </a:r>
            <a:r>
              <a:rPr dirty="0" sz="10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изменится,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	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фактически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не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применяя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изменения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r>
              <a:rPr dirty="0" sz="1000" spc="-50">
                <a:solidFill>
                  <a:srgbClr val="202429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Выполните:</a:t>
            </a:r>
            <a:endParaRPr sz="1050">
              <a:latin typeface="Calibri"/>
              <a:cs typeface="Calibri"/>
            </a:endParaRPr>
          </a:p>
          <a:p>
            <a:pPr lvl="1" marL="935990" indent="-228600">
              <a:lnSpc>
                <a:spcPct val="100000"/>
              </a:lnSpc>
              <a:spcBef>
                <a:spcPts val="254"/>
              </a:spcBef>
              <a:buFont typeface="Courier New"/>
              <a:buChar char="o"/>
              <a:tabLst>
                <a:tab pos="935990" algn="l"/>
              </a:tabLst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chezmoi</a:t>
            </a:r>
            <a:r>
              <a:rPr dirty="0" sz="100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git</a:t>
            </a:r>
            <a:r>
              <a:rPr dirty="0" sz="100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pull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--</a:t>
            </a:r>
            <a:r>
              <a:rPr dirty="0" sz="100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-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-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autostash</a:t>
            </a:r>
            <a:r>
              <a:rPr dirty="0" sz="100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--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rebase</a:t>
            </a:r>
            <a:r>
              <a:rPr dirty="0" sz="100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&amp;&amp;</a:t>
            </a:r>
            <a:r>
              <a:rPr dirty="0" sz="100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chezmoi</a:t>
            </a:r>
            <a:r>
              <a:rPr dirty="0" sz="100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alibri"/>
                <a:cs typeface="Calibri"/>
              </a:rPr>
              <a:t>diff</a:t>
            </a:r>
            <a:endParaRPr sz="1000">
              <a:latin typeface="Calibri"/>
              <a:cs typeface="Calibri"/>
            </a:endParaRPr>
          </a:p>
          <a:p>
            <a:pPr lvl="1" marL="935990" marR="248920" indent="-228600">
              <a:lnSpc>
                <a:spcPct val="114599"/>
              </a:lnSpc>
              <a:spcBef>
                <a:spcPts val="114"/>
              </a:spcBef>
              <a:buSzPct val="95238"/>
              <a:buFont typeface="Courier New"/>
              <a:buChar char="o"/>
              <a:tabLst>
                <a:tab pos="935990" algn="l"/>
              </a:tabLst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Это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запускается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83D8B"/>
                </a:solidFill>
                <a:latin typeface="Calibri"/>
                <a:cs typeface="Calibri"/>
              </a:rPr>
              <a:t>git</a:t>
            </a:r>
            <a:r>
              <a:rPr dirty="0" sz="900" spc="-20">
                <a:solidFill>
                  <a:srgbClr val="E83D8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83D8B"/>
                </a:solidFill>
                <a:latin typeface="Calibri"/>
                <a:cs typeface="Calibri"/>
              </a:rPr>
              <a:t>pull</a:t>
            </a:r>
            <a:r>
              <a:rPr dirty="0" sz="900" spc="-25">
                <a:solidFill>
                  <a:srgbClr val="E83D8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83D8B"/>
                </a:solidFill>
                <a:latin typeface="Calibri"/>
                <a:cs typeface="Calibri"/>
              </a:rPr>
              <a:t>--autostash</a:t>
            </a:r>
            <a:r>
              <a:rPr dirty="0" sz="900" spc="-25">
                <a:solidFill>
                  <a:srgbClr val="E83D8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83D8B"/>
                </a:solidFill>
                <a:latin typeface="Calibri"/>
                <a:cs typeface="Calibri"/>
              </a:rPr>
              <a:t>--rebase</a:t>
            </a:r>
            <a:r>
              <a:rPr dirty="0" sz="900" spc="-25">
                <a:solidFill>
                  <a:srgbClr val="E83D8B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вашем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исходном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каталоге,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а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83D8B"/>
                </a:solidFill>
                <a:latin typeface="Calibri"/>
                <a:cs typeface="Calibri"/>
              </a:rPr>
              <a:t>chezmoi</a:t>
            </a:r>
            <a:r>
              <a:rPr dirty="0" sz="900" spc="-25">
                <a:solidFill>
                  <a:srgbClr val="E83D8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83D8B"/>
                </a:solidFill>
                <a:latin typeface="Calibri"/>
                <a:cs typeface="Calibri"/>
              </a:rPr>
              <a:t>diff</a:t>
            </a:r>
            <a:r>
              <a:rPr dirty="0" sz="900" spc="-35">
                <a:solidFill>
                  <a:srgbClr val="E83D8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затем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показывает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разницу</a:t>
            </a:r>
            <a:r>
              <a:rPr dirty="0" sz="105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между целевым</a:t>
            </a:r>
            <a:r>
              <a:rPr dirty="0" sz="1050" spc="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состоянием,</a:t>
            </a:r>
            <a:r>
              <a:rPr dirty="0" sz="1050" spc="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вычисленным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из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вашего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исходного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каталога,</a:t>
            </a:r>
            <a:r>
              <a:rPr dirty="0" sz="1050" spc="-4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фактическим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состоянием.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r>
              <a:rPr dirty="0" sz="1000" spc="-55">
                <a:solidFill>
                  <a:srgbClr val="202429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Если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вы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довольны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изменениями,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вы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можете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применить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их:</a:t>
            </a:r>
            <a:r>
              <a:rPr dirty="0" sz="1050" spc="-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r>
              <a:rPr dirty="0" sz="1000" spc="-25">
                <a:solidFill>
                  <a:srgbClr val="202429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chezmoi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alibri"/>
                <a:cs typeface="Calibri"/>
              </a:rPr>
              <a:t>apply</a:t>
            </a:r>
            <a:endParaRPr sz="1000">
              <a:latin typeface="Calibri"/>
              <a:cs typeface="Calibri"/>
            </a:endParaRPr>
          </a:p>
          <a:p>
            <a:pPr marL="468630" marR="544195" indent="-227329">
              <a:lnSpc>
                <a:spcPct val="116199"/>
              </a:lnSpc>
              <a:spcBef>
                <a:spcPts val="145"/>
              </a:spcBef>
              <a:buAutoNum type="arabicPeriod"/>
              <a:tabLst>
                <a:tab pos="469900" algn="l"/>
              </a:tabLst>
            </a:pP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Автоматически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 фиксируйте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</a:t>
            </a:r>
            <a:r>
              <a:rPr dirty="0" sz="1050" spc="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отправляйте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изменения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 репозиторий</a:t>
            </a:r>
            <a:r>
              <a:rPr dirty="0" sz="1050" spc="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r>
              <a:rPr dirty="0" sz="1000" spc="-10">
                <a:solidFill>
                  <a:srgbClr val="202429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Можно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	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автоматически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фиксировать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отправлять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изменения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исходный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каталог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репозиторий.</a:t>
            </a:r>
            <a:endParaRPr sz="1050">
              <a:latin typeface="Calibri"/>
              <a:cs typeface="Calibri"/>
            </a:endParaRPr>
          </a:p>
          <a:p>
            <a:pPr lvl="1" marL="935990" indent="-228600">
              <a:lnSpc>
                <a:spcPct val="100000"/>
              </a:lnSpc>
              <a:spcBef>
                <a:spcPts val="229"/>
              </a:spcBef>
              <a:buSzPct val="95238"/>
              <a:buFont typeface="Courier New"/>
              <a:buChar char="o"/>
              <a:tabLst>
                <a:tab pos="935990" algn="l"/>
              </a:tabLst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Эта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функция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отключена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по</a:t>
            </a:r>
            <a:r>
              <a:rPr dirty="0" sz="1050" spc="-3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умолчанию.</a:t>
            </a:r>
            <a:endParaRPr sz="1050">
              <a:latin typeface="Calibri"/>
              <a:cs typeface="Calibri"/>
            </a:endParaRPr>
          </a:p>
          <a:p>
            <a:pPr lvl="1" marL="935990" indent="-228600">
              <a:lnSpc>
                <a:spcPct val="100000"/>
              </a:lnSpc>
              <a:spcBef>
                <a:spcPts val="229"/>
              </a:spcBef>
              <a:buSzPct val="95238"/>
              <a:buFont typeface="Courier New"/>
              <a:buChar char="o"/>
              <a:tabLst>
                <a:tab pos="935990" algn="l"/>
              </a:tabLst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Чтобы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включить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её,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добавьте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файл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конфигурации </a:t>
            </a:r>
            <a:r>
              <a:rPr dirty="0" sz="900" spc="-10">
                <a:solidFill>
                  <a:srgbClr val="E83D8B"/>
                </a:solidFill>
                <a:latin typeface="Calibri"/>
                <a:cs typeface="Calibri"/>
              </a:rPr>
              <a:t>~/.config/chezmoi/chezmoi.toml</a:t>
            </a:r>
            <a:endParaRPr sz="900">
              <a:latin typeface="Calibri"/>
              <a:cs typeface="Calibri"/>
            </a:endParaRPr>
          </a:p>
          <a:p>
            <a:pPr marL="935990">
              <a:lnSpc>
                <a:spcPct val="100000"/>
              </a:lnSpc>
              <a:spcBef>
                <a:spcPts val="180"/>
              </a:spcBef>
            </a:pP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следующее:</a:t>
            </a:r>
            <a:endParaRPr sz="1050">
              <a:latin typeface="Calibri"/>
              <a:cs typeface="Calibri"/>
            </a:endParaRPr>
          </a:p>
          <a:p>
            <a:pPr lvl="1" marL="935990" indent="-228600">
              <a:lnSpc>
                <a:spcPct val="100000"/>
              </a:lnSpc>
              <a:spcBef>
                <a:spcPts val="215"/>
              </a:spcBef>
              <a:buFont typeface="Courier New"/>
              <a:buChar char="o"/>
              <a:tabLst>
                <a:tab pos="935990" algn="l"/>
                <a:tab pos="2719705" algn="l"/>
              </a:tabLst>
            </a:pP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[git]</a:t>
            </a:r>
            <a:r>
              <a:rPr dirty="0" sz="100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r>
              <a:rPr dirty="0" sz="1000" spc="295">
                <a:solidFill>
                  <a:srgbClr val="202429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autoCommit</a:t>
            </a:r>
            <a:r>
              <a:rPr dirty="0" sz="100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=</a:t>
            </a:r>
            <a:r>
              <a:rPr dirty="0" sz="100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true</a:t>
            </a:r>
            <a:r>
              <a:rPr dirty="0" sz="100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202429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429"/>
                </a:solidFill>
                <a:latin typeface="Courier New"/>
                <a:cs typeface="Courier New"/>
              </a:rPr>
              <a:t>	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autoPush</a:t>
            </a:r>
            <a:r>
              <a:rPr dirty="0" sz="100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429"/>
                </a:solidFill>
                <a:latin typeface="Calibri"/>
                <a:cs typeface="Calibri"/>
              </a:rPr>
              <a:t>=</a:t>
            </a:r>
            <a:r>
              <a:rPr dirty="0" sz="100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202429"/>
                </a:solidFill>
                <a:latin typeface="Calibri"/>
                <a:cs typeface="Calibri"/>
              </a:rPr>
              <a:t>true</a:t>
            </a:r>
            <a:endParaRPr sz="1000">
              <a:latin typeface="Calibri"/>
              <a:cs typeface="Calibri"/>
            </a:endParaRPr>
          </a:p>
          <a:p>
            <a:pPr lvl="1" marL="935990" marR="5080" indent="-228600">
              <a:lnSpc>
                <a:spcPct val="113799"/>
              </a:lnSpc>
              <a:spcBef>
                <a:spcPts val="185"/>
              </a:spcBef>
              <a:buSzPct val="95238"/>
              <a:buFont typeface="Courier New"/>
              <a:buChar char="o"/>
              <a:tabLst>
                <a:tab pos="935990" algn="l"/>
              </a:tabLst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Всякий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раз,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когда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исходный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каталог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вносятся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изменения,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83D8B"/>
                </a:solidFill>
                <a:latin typeface="Calibri"/>
                <a:cs typeface="Calibri"/>
              </a:rPr>
              <a:t>chezmoi</a:t>
            </a:r>
            <a:r>
              <a:rPr dirty="0" sz="900" spc="-5">
                <a:solidFill>
                  <a:srgbClr val="E83D8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фиксирует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изменения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50">
                <a:solidFill>
                  <a:srgbClr val="202429"/>
                </a:solidFill>
                <a:latin typeface="Calibri"/>
                <a:cs typeface="Calibri"/>
              </a:rPr>
              <a:t>с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 помощью</a:t>
            </a:r>
            <a:r>
              <a:rPr dirty="0" sz="1050" spc="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автоматически</a:t>
            </a:r>
            <a:r>
              <a:rPr dirty="0" sz="1050" spc="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сгенерированного</a:t>
            </a:r>
            <a:r>
              <a:rPr dirty="0" sz="1050" spc="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сообщения</a:t>
            </a:r>
            <a:r>
              <a:rPr dirty="0" sz="1050" spc="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фиксации</a:t>
            </a:r>
            <a:r>
              <a:rPr dirty="0" sz="1050" spc="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</a:t>
            </a:r>
            <a:r>
              <a:rPr dirty="0" sz="1050" spc="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отправляет</a:t>
            </a:r>
            <a:r>
              <a:rPr dirty="0" sz="1050" spc="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их</a:t>
            </a:r>
            <a:r>
              <a:rPr dirty="0" sz="1050" spc="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</a:t>
            </a:r>
            <a:r>
              <a:rPr dirty="0" sz="1050" spc="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ваш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репозиторий.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06627" y="721257"/>
            <a:ext cx="6042025" cy="1257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27100" marR="187960" indent="-228600">
              <a:lnSpc>
                <a:spcPct val="113900"/>
              </a:lnSpc>
              <a:spcBef>
                <a:spcPts val="100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Будьте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осторожны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при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использовании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83D8B"/>
                </a:solidFill>
                <a:latin typeface="Calibri"/>
                <a:cs typeface="Calibri"/>
              </a:rPr>
              <a:t>autoPush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.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Если</a:t>
            </a:r>
            <a:r>
              <a:rPr dirty="0" sz="1050" spc="-3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ваш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репозиторий</a:t>
            </a:r>
            <a:r>
              <a:rPr dirty="0" sz="1050" spc="-2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E83D8B"/>
                </a:solidFill>
                <a:latin typeface="Calibri"/>
                <a:cs typeface="Calibri"/>
              </a:rPr>
              <a:t>dotfiles</a:t>
            </a:r>
            <a:r>
              <a:rPr dirty="0" sz="900" spc="-20">
                <a:solidFill>
                  <a:srgbClr val="E83D8B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является общедоступным,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и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вы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случайно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добавили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секрет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</a:t>
            </a:r>
            <a:r>
              <a:rPr dirty="0" sz="1050" spc="-2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виде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обычного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текста,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этот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секрет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будет</a:t>
            </a:r>
            <a:r>
              <a:rPr dirty="0" sz="1050" spc="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отправлен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</a:t>
            </a:r>
            <a:r>
              <a:rPr dirty="0" sz="1050" spc="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429"/>
                </a:solidFill>
                <a:latin typeface="Calibri"/>
                <a:cs typeface="Calibri"/>
              </a:rPr>
              <a:t>ваш</a:t>
            </a:r>
            <a:r>
              <a:rPr dirty="0" sz="1050" spc="-15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общедоступный</a:t>
            </a:r>
            <a:r>
              <a:rPr dirty="0" sz="1050" spc="10">
                <a:solidFill>
                  <a:srgbClr val="202429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429"/>
                </a:solidFill>
                <a:latin typeface="Calibri"/>
                <a:cs typeface="Calibri"/>
              </a:rPr>
              <a:t>репозиторий.</a:t>
            </a:r>
            <a:endParaRPr sz="1050">
              <a:latin typeface="Calibri"/>
              <a:cs typeface="Calibri"/>
            </a:endParaRPr>
          </a:p>
          <a:p>
            <a:pPr marL="12700" marR="5080">
              <a:lnSpc>
                <a:spcPct val="142300"/>
              </a:lnSpc>
              <a:spcBef>
                <a:spcPts val="950"/>
              </a:spcBef>
            </a:pPr>
            <a:r>
              <a:rPr dirty="0" sz="1300">
                <a:latin typeface="Times New Roman"/>
                <a:cs typeface="Times New Roman"/>
              </a:rPr>
              <a:t>В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рамках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данной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работы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мы</a:t>
            </a:r>
            <a:r>
              <a:rPr dirty="0" sz="1300" spc="-4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приобрели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практические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навыки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работы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с</a:t>
            </a:r>
            <a:r>
              <a:rPr dirty="0" sz="1300" spc="-40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репозиторией github.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Милана Тимофеева</dc:creator>
  <dcterms:created xsi:type="dcterms:W3CDTF">2026-03-14T13:17:17Z</dcterms:created>
  <dcterms:modified xsi:type="dcterms:W3CDTF">2026-03-14T13:17:17Z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2026-03-14T00:00:00Z</vt:filetime>
  </property>
  <property fmtid="{D5CDD505-2E9C-101B-9397-08002B2CF9AE}" pid="3" name="Creator">
    <vt:lpwstr>Microsoft® Word LTSC</vt:lpwstr>
  </property>
  <property fmtid="{D5CDD505-2E9C-101B-9397-08002B2CF9AE}" pid="4" name="LastSaved">
    <vt:filetime>2026-03-14T00:00:00Z</vt:filetime>
  </property>
  <property fmtid="{D5CDD505-2E9C-101B-9397-08002B2CF9AE}" pid="5" name="Producer">
    <vt:lpwstr>Microsoft® Word LTSC</vt:lpwstr>
  </property>
</Properties>
</file>
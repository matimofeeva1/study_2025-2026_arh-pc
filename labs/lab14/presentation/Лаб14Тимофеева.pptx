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9185" y="567833"/>
            <a:ext cx="5219065" cy="1044575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2105" indent="91440">
              <a:lnSpc>
                <a:spcPts val="2620"/>
              </a:lnSpc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20945" y="2982486"/>
            <a:ext cx="3815715" cy="137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  <a:spcBef>
                <a:spcPts val="1500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14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447165" algn="l"/>
              </a:tabLst>
            </a:pP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600" spc="500" i="1">
                <a:latin typeface="Times New Roman"/>
                <a:cs typeface="Times New Roman"/>
              </a:rPr>
              <a:t> 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sz="1600" spc="-45" i="1"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70693" y="6552590"/>
            <a:ext cx="31877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09717" y="7329995"/>
            <a:ext cx="15640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sz="1300" spc="-60"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95954" y="9268876"/>
            <a:ext cx="777875" cy="54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930"/>
              </a:spcBef>
            </a:pPr>
            <a:r>
              <a:rPr dirty="0" sz="1300">
                <a:latin typeface="Times New Roman"/>
                <a:cs typeface="Times New Roman"/>
              </a:rPr>
              <a:t>2026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31918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7367" y="766996"/>
            <a:ext cx="4082415" cy="56559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6510" marR="24892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12.</a:t>
            </a:r>
            <a:r>
              <a:rPr dirty="0" sz="950" spc="285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Программирование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командном </a:t>
            </a:r>
            <a:r>
              <a:rPr dirty="0" sz="950" b="1">
                <a:latin typeface="Book Antiqua"/>
                <a:cs typeface="Book Antiqua"/>
              </a:rPr>
              <a:t>процессоре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spc="-90" b="1">
                <a:latin typeface="Book Antiqua"/>
                <a:cs typeface="Book Antiqua"/>
              </a:rPr>
              <a:t>ОС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UNIX.</a:t>
            </a:r>
            <a:r>
              <a:rPr dirty="0" sz="950" spc="4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Расширенное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программирование</a:t>
            </a:r>
            <a:endParaRPr sz="9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7020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6510" marR="2540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Изучить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основы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оболочке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UNIX.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Научиться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писать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более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сложные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логических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управляющих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циклов.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buAutoNum type="arabicPeriod" startAt="2"/>
              <a:tabLst>
                <a:tab pos="370205" algn="l"/>
              </a:tabLst>
            </a:pP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3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Написать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командный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реализующий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упрощённый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механизм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семафоров.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Ко-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файл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должен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течение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некоторого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времени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t1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дожидаться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освобождения</a:t>
            </a:r>
            <a:r>
              <a:rPr dirty="0" sz="750" spc="5">
                <a:latin typeface="Book Antiqua"/>
                <a:cs typeface="Book Antiqua"/>
              </a:rPr>
              <a:t> 	ресурса,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выдавая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этом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сообщение,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дождавшись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освобождения,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его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течение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некоторого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времени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t2&lt;&gt;t1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также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выдавая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информацию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том,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	ресурс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используется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соответствующим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командным</a:t>
            </a:r>
            <a:r>
              <a:rPr dirty="0" sz="750">
                <a:latin typeface="Book Antiqua"/>
                <a:cs typeface="Book Antiqua"/>
              </a:rPr>
              <a:t> файлом </a:t>
            </a:r>
            <a:r>
              <a:rPr dirty="0" sz="750" spc="15">
                <a:latin typeface="Book Antiqua"/>
                <a:cs typeface="Book Antiqua"/>
              </a:rPr>
              <a:t>(процессом).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Запустить 	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одном</a:t>
            </a:r>
            <a:r>
              <a:rPr dirty="0" sz="750">
                <a:latin typeface="Book Antiqua"/>
                <a:cs typeface="Book Antiqua"/>
              </a:rPr>
              <a:t> виртуальном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фоновом </a:t>
            </a:r>
            <a:r>
              <a:rPr dirty="0" sz="750" spc="5">
                <a:latin typeface="Book Antiqua"/>
                <a:cs typeface="Book Antiqua"/>
              </a:rPr>
              <a:t>режиме,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перенаправив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его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вывод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00" spc="10">
                <a:latin typeface="Courier New"/>
                <a:cs typeface="Courier New"/>
              </a:rPr>
              <a:t>&gt; </a:t>
            </a:r>
            <a:r>
              <a:rPr dirty="0" sz="700" spc="5">
                <a:latin typeface="Courier New"/>
                <a:cs typeface="Courier New"/>
              </a:rPr>
              <a:t>/dev/tty#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где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#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номер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терминала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куда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перенаправляется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вывод),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котором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также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запущен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фоновом,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привилегированном</a:t>
            </a:r>
            <a:r>
              <a:rPr dirty="0" sz="750">
                <a:latin typeface="Book Antiqua"/>
                <a:cs typeface="Book Antiqua"/>
              </a:rPr>
              <a:t> 	режиме.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Доработать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программу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имелась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возможность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взаимодействия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трёх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более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процессов.</a:t>
            </a:r>
            <a:endParaRPr sz="750">
              <a:latin typeface="Book Antiqua"/>
              <a:cs typeface="Book Antiqua"/>
            </a:endParaRPr>
          </a:p>
          <a:p>
            <a:pPr algn="just" marL="148590" indent="-135890">
              <a:lnSpc>
                <a:spcPts val="844"/>
              </a:lnSpc>
              <a:buAutoNum type="arabicPeriod"/>
              <a:tabLst>
                <a:tab pos="148590" algn="l"/>
              </a:tabLst>
            </a:pPr>
            <a:r>
              <a:rPr dirty="0" sz="750" spc="10">
                <a:latin typeface="Book Antiqua"/>
                <a:cs typeface="Book Antiqua"/>
              </a:rPr>
              <a:t>Реализовать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помощью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Изучите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содержимое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ката-</a:t>
            </a:r>
            <a:endParaRPr sz="750">
              <a:latin typeface="Book Antiqua"/>
              <a:cs typeface="Book Antiqua"/>
            </a:endParaRPr>
          </a:p>
          <a:p>
            <a:pPr algn="just" marL="149225" marR="12065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лога </a:t>
            </a:r>
            <a:r>
              <a:rPr dirty="0" sz="700" spc="5">
                <a:latin typeface="Courier New"/>
                <a:cs typeface="Courier New"/>
              </a:rPr>
              <a:t>/usr/share/man/man1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находятся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архивы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текстовых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 справку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большинству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установленных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системе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Каждый</a:t>
            </a:r>
            <a:r>
              <a:rPr dirty="0" sz="750" spc="-5">
                <a:latin typeface="Book Antiqua"/>
                <a:cs typeface="Book Antiqua"/>
              </a:rPr>
              <a:t> архив</a:t>
            </a:r>
            <a:r>
              <a:rPr dirty="0" sz="750">
                <a:latin typeface="Book Antiqua"/>
                <a:cs typeface="Book Antiqua"/>
              </a:rPr>
              <a:t> можно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открыть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less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сразу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просмотрев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содержимое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справки.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файл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должен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получать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виде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командной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название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команды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виде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результата </a:t>
            </a:r>
            <a:r>
              <a:rPr dirty="0" sz="750" spc="15">
                <a:latin typeface="Book Antiqua"/>
                <a:cs typeface="Book Antiqua"/>
              </a:rPr>
              <a:t>выдавать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справку об этой </a:t>
            </a:r>
            <a:r>
              <a:rPr dirty="0" sz="750" spc="5">
                <a:latin typeface="Book Antiqua"/>
                <a:cs typeface="Book Antiqua"/>
              </a:rPr>
              <a:t>команде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сообщение об отсутствии </a:t>
            </a:r>
            <a:r>
              <a:rPr dirty="0" sz="750" spc="5">
                <a:latin typeface="Book Antiqua"/>
                <a:cs typeface="Book Antiqua"/>
              </a:rPr>
              <a:t>справки,</a:t>
            </a:r>
            <a:r>
              <a:rPr dirty="0" sz="750">
                <a:latin typeface="Book Antiqua"/>
                <a:cs typeface="Book Antiqua"/>
              </a:rPr>
              <a:t> если </a:t>
            </a:r>
            <a:r>
              <a:rPr dirty="0" sz="750" spc="10">
                <a:latin typeface="Book Antiqua"/>
                <a:cs typeface="Book Antiqua"/>
              </a:rPr>
              <a:t>соответствующего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man1</a:t>
            </a:r>
            <a:r>
              <a:rPr dirty="0" sz="750" spc="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25"/>
              </a:spcBef>
              <a:buAutoNum type="arabicPeriod" startAt="3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Используя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встроенную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$RANDOM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напишите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генерирую-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щий </a:t>
            </a:r>
            <a:r>
              <a:rPr dirty="0" sz="750">
                <a:latin typeface="Book Antiqua"/>
                <a:cs typeface="Book Antiqua"/>
              </a:rPr>
              <a:t>случайную</a:t>
            </a:r>
            <a:r>
              <a:rPr dirty="0" sz="750" spc="10">
                <a:latin typeface="Book Antiqua"/>
                <a:cs typeface="Book Antiqua"/>
              </a:rPr>
              <a:t> последовательность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букв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латинского </a:t>
            </a:r>
            <a:r>
              <a:rPr dirty="0" sz="750">
                <a:latin typeface="Book Antiqua"/>
                <a:cs typeface="Book Antiqua"/>
              </a:rPr>
              <a:t>алфавита.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Учтите,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что </a:t>
            </a:r>
            <a:r>
              <a:rPr dirty="0" sz="700" spc="-10">
                <a:latin typeface="Courier New"/>
                <a:cs typeface="Courier New"/>
              </a:rPr>
              <a:t>$RANDOM </a:t>
            </a:r>
            <a:r>
              <a:rPr dirty="0" sz="700" spc="-10">
                <a:latin typeface="Courier New"/>
                <a:cs typeface="Courier New"/>
              </a:rPr>
              <a:t>	</a:t>
            </a:r>
            <a:r>
              <a:rPr dirty="0" sz="750">
                <a:latin typeface="Book Antiqua"/>
                <a:cs typeface="Book Antiqua"/>
              </a:rPr>
              <a:t>выдаёт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псевдослучайные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диапазоне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0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32767.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12.3.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6034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12.4.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Найдите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синтаксическую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ошибку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следующей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строке: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4795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100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77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12.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</a:t>
            </a:r>
            <a:r>
              <a:rPr dirty="0" sz="600" spc="-35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33120" y="73858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6719" y="688327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$1</a:t>
            </a:r>
            <a:r>
              <a:rPr dirty="0" sz="700" spc="25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!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"exit"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7367" y="956526"/>
            <a:ext cx="406146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8590" indent="-135890">
              <a:lnSpc>
                <a:spcPts val="894"/>
              </a:lnSpc>
              <a:spcBef>
                <a:spcPts val="120"/>
              </a:spcBef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объединить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(конкатенация)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одну?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35"/>
              </a:spcBef>
              <a:buAutoNum type="arabicPeriod" startAt="2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Найдите </a:t>
            </a:r>
            <a:r>
              <a:rPr dirty="0" sz="750" spc="-10">
                <a:latin typeface="Book Antiqua"/>
                <a:cs typeface="Book Antiqua"/>
              </a:rPr>
              <a:t>информацию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 утилите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seq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Какими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иными способами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реализовать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функционал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даст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вычисление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$((10/3))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Укажите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отличия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zsh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Проверьте, верен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конструкции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3120" y="179927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6719" y="174903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((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a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>
                <a:latin typeface="Courier New"/>
                <a:cs typeface="Courier New"/>
              </a:rPr>
              <a:t>;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&lt;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LIMIT;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a++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))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7184" y="2017217"/>
            <a:ext cx="405193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7.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Сравните</a:t>
            </a:r>
            <a:r>
              <a:rPr dirty="0" sz="750">
                <a:latin typeface="Book Antiqua"/>
                <a:cs typeface="Book Antiqua"/>
              </a:rPr>
              <a:t> язык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 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какими-</a:t>
            </a:r>
            <a:r>
              <a:rPr dirty="0" sz="750" spc="-10">
                <a:latin typeface="Book Antiqua"/>
                <a:cs typeface="Book Antiqua"/>
              </a:rPr>
              <a:t>либо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языками программирования.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Какие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преимущества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bash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сравнению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ними?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недостатки?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2026-03-20T17:47:14Z</dcterms:created>
  <dcterms:modified xsi:type="dcterms:W3CDTF">2026-03-20T17:47:14Z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